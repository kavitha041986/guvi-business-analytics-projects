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C3E0C"/>
    <a:srgbClr val="C88800"/>
    <a:srgbClr val="969696"/>
    <a:srgbClr val="232F3E"/>
    <a:srgbClr val="FF9900"/>
    <a:srgbClr val="2205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2" autoAdjust="0"/>
    <p:restoredTop sz="94660"/>
  </p:normalViewPr>
  <p:slideViewPr>
    <p:cSldViewPr snapToGrid="0">
      <p:cViewPr varScale="1">
        <p:scale>
          <a:sx n="81" d="100"/>
          <a:sy n="81" d="100"/>
        </p:scale>
        <p:origin x="52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6A333-0517-4C01-5E1D-B2589D3F7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8A2275-E52A-7E18-498D-1BED7D94D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21716-5520-C317-0C5E-5AAB33C7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EAC-8B9D-4C64-B7FD-D88C5663F0B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2E095-49E7-34E2-54D8-0D9113637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01D31-5855-DE81-878F-775ACF3F9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45C0-4B83-42B1-9C10-1AFDFE2C0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64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ECF45-1AE2-5E19-1B43-B959A148B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89E98-72C9-177E-DCAD-B6FB42F86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DB3D4-4A3C-6B3D-613B-9C9299FF4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EAC-8B9D-4C64-B7FD-D88C5663F0B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2D0D1-6405-F0BB-FAB7-29A489A6B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5D7D7-9FAB-2683-4A1D-C2091470E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45C0-4B83-42B1-9C10-1AFDFE2C0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370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B7DC0-2813-DEC3-5E85-A3512C538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BCC88-5902-9B81-092A-F8E47BD40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97BBB-B55C-653B-9CB6-A17E43F94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EAC-8B9D-4C64-B7FD-D88C5663F0B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63E2B-0E63-55B3-7D73-E25D2F7DA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74A0C-9EC5-35A0-7898-667B1481E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45C0-4B83-42B1-9C10-1AFDFE2C0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117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BC125-7B68-1D63-BE6E-4C5E3E8E5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6BFE4-73EB-F77B-EF80-5D1A530E5A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EA71EF-F054-FC50-C0AB-E157C24E6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BBE47-3C8A-DA23-A848-371708FD0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EAC-8B9D-4C64-B7FD-D88C5663F0B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C99F9-73FA-BE72-67C6-36D66A5A2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113AF-CA44-CBA6-F009-29564884C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45C0-4B83-42B1-9C10-1AFDFE2C0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991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FCB67-E006-E362-98E6-58FCD5386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55D8D-BD9E-1AA7-E831-2316D74C0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84343-3B75-950F-6252-D5E4C5D40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5E7D1B-1DC1-561E-546A-A79A18D19A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B25968-FCD5-83FA-07C8-80429F3C5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9A3DC-F3AE-7A8F-4C8D-375D70467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EAC-8B9D-4C64-B7FD-D88C5663F0B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A25DD0-75BC-5C04-8C9D-D2D4569F2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314AD6-4A14-7EC8-D9A2-56E83D39C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45C0-4B83-42B1-9C10-1AFDFE2C0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329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5B369-0D14-5581-DA73-18C62E1A0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D7361E-ABDF-808B-63DA-8ED400D2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EAC-8B9D-4C64-B7FD-D88C5663F0B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6CE09-9B87-DC35-33FD-0BA7A5B03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FE7D6-FDAF-1389-B5FF-292D736A9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45C0-4B83-42B1-9C10-1AFDFE2C0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868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AA325A-2321-8447-C50D-62139E106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EAC-8B9D-4C64-B7FD-D88C5663F0B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87CC74-8356-BE54-FD96-E6347CE70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52DF4-5A90-476B-E6ED-17A3BAAB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45C0-4B83-42B1-9C10-1AFDFE2C0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485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75E58-AE90-085C-B801-1FA26A8A3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8355E-19DA-D7D5-C71E-4CBB9AC98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4D177C-1FB3-BB07-2122-695727948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4491C-BA74-62CC-9AC4-35ECD92D6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EAC-8B9D-4C64-B7FD-D88C5663F0B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4C00CB-70D7-3670-1105-FF3A2D2F7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5A1FED-721D-CEB6-9AE6-5F44FA826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45C0-4B83-42B1-9C10-1AFDFE2C0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127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AD11D-38E0-90B8-0B94-A777D1021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3511FF-A7EA-076C-5646-D0A1681053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AF56CA-FBB3-9E8E-DB15-88C83DABC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3B04AE-747A-69C8-1A16-00E99AB90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EAC-8B9D-4C64-B7FD-D88C5663F0B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6C22A-411A-D948-BD77-7593A0D48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F673E4-CDEA-C928-9178-27F08383E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45C0-4B83-42B1-9C10-1AFDFE2C0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875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E8FCC-7799-ECCE-8CF6-773E31F46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E0B65E-FEB0-9A14-E8DD-1D3106CD2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0E958-8323-BD2B-B29F-3428E2588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EAC-8B9D-4C64-B7FD-D88C5663F0B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02C94-F8F2-CF2B-D599-A8C18B683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E37F4-573F-1530-360B-2F281CF15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45C0-4B83-42B1-9C10-1AFDFE2C0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70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A4FD4A-BD6E-6D8E-2F4E-BFCF51AEBC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6A939-3EF6-A420-DFC7-A88EA7229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33F27-9475-F62D-A115-15D47DCB2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0EAC-8B9D-4C64-B7FD-D88C5663F0B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95592-A4B9-FA2F-78E1-17B580A5D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3154A-658D-FF24-A870-F51B53BF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45C0-4B83-42B1-9C10-1AFDFE2C0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8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8B5EB8-41BF-4A4F-AFCE-F58C2894B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B112D-2AAF-9730-3E41-489D3907E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51D9A-A7FC-715A-F93A-89816900D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A0EAC-8B9D-4C64-B7FD-D88C5663F0B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F0DFF-F226-6696-77B9-5DEEE414A0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1EB28-293D-75B9-A888-F9B767F41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ED45C0-4B83-42B1-9C10-1AFDFE2C0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368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D38DAB-4D0B-54DB-C905-FC580DE6B49E}"/>
              </a:ext>
            </a:extLst>
          </p:cNvPr>
          <p:cNvSpPr/>
          <p:nvPr/>
        </p:nvSpPr>
        <p:spPr>
          <a:xfrm>
            <a:off x="322729" y="414169"/>
            <a:ext cx="11546541" cy="127122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rgbClr val="FF9900"/>
                </a:solidFill>
                <a:latin typeface="Bookman Old Style" panose="02050604050505020204" pitchFamily="18" charset="0"/>
              </a:rPr>
              <a:t>AMAZON FRESH </a:t>
            </a:r>
            <a:r>
              <a:rPr lang="en-IN" sz="3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ANALYTICS</a:t>
            </a:r>
          </a:p>
          <a:p>
            <a:pPr algn="ctr"/>
            <a:r>
              <a:rPr lang="en-IN" sz="3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using MySQL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23910C-709E-1F5E-C722-49B8B9EAE219}"/>
              </a:ext>
            </a:extLst>
          </p:cNvPr>
          <p:cNvSpPr txBox="1"/>
          <p:nvPr/>
        </p:nvSpPr>
        <p:spPr>
          <a:xfrm>
            <a:off x="2527299" y="2353772"/>
            <a:ext cx="6596529" cy="40011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GUVI Capstone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330BA4-8BDF-BA6A-AB94-D702F4B580EB}"/>
              </a:ext>
            </a:extLst>
          </p:cNvPr>
          <p:cNvSpPr txBox="1"/>
          <p:nvPr/>
        </p:nvSpPr>
        <p:spPr>
          <a:xfrm>
            <a:off x="2536726" y="3659831"/>
            <a:ext cx="6365689" cy="1785104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Submitted by</a:t>
            </a:r>
          </a:p>
          <a:p>
            <a:pPr algn="ctr"/>
            <a:r>
              <a:rPr lang="en-US" sz="2200" b="1" dirty="0"/>
              <a:t> </a:t>
            </a:r>
          </a:p>
          <a:p>
            <a:pPr algn="ctr"/>
            <a:r>
              <a:rPr lang="en-US" sz="2200" b="1" dirty="0">
                <a:solidFill>
                  <a:srgbClr val="BC3E0C"/>
                </a:solidFill>
              </a:rPr>
              <a:t>Kavitha Jayendran </a:t>
            </a:r>
          </a:p>
          <a:p>
            <a:pPr algn="ctr"/>
            <a:endParaRPr lang="en-US" sz="2200" b="1" dirty="0">
              <a:solidFill>
                <a:srgbClr val="BC3E0C"/>
              </a:solidFill>
            </a:endParaRPr>
          </a:p>
          <a:p>
            <a:pPr algn="ctr"/>
            <a:r>
              <a:rPr lang="en-US" sz="2200" b="1" dirty="0"/>
              <a:t>Business Analytics &amp; Digital Marketing</a:t>
            </a:r>
            <a:endParaRPr lang="en-IN" sz="2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E96A32-EE3F-2C45-9C86-DC42524B216D}"/>
              </a:ext>
            </a:extLst>
          </p:cNvPr>
          <p:cNvSpPr txBox="1"/>
          <p:nvPr/>
        </p:nvSpPr>
        <p:spPr>
          <a:xfrm>
            <a:off x="7029169" y="5928649"/>
            <a:ext cx="4000500" cy="307777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MySQL Workbench 8.0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1D6E27-ABAA-0E9E-50F9-FA62244F0E4E}"/>
              </a:ext>
            </a:extLst>
          </p:cNvPr>
          <p:cNvCxnSpPr>
            <a:cxnSpLocks/>
          </p:cNvCxnSpPr>
          <p:nvPr/>
        </p:nvCxnSpPr>
        <p:spPr>
          <a:xfrm>
            <a:off x="7962338" y="6246875"/>
            <a:ext cx="213416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2" name="Graphic 21" descr="Database">
            <a:extLst>
              <a:ext uri="{FF2B5EF4-FFF2-40B4-BE49-F238E27FC236}">
                <a16:creationId xmlns:a16="http://schemas.microsoft.com/office/drawing/2014/main" id="{C10678F3-35F9-51D5-4AB8-699B551B4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79173" y="59258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721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C52A8-2A86-7B72-B098-5874DC5E5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7D0B5A-6794-07BE-1D16-A875F8A314B2}"/>
              </a:ext>
            </a:extLst>
          </p:cNvPr>
          <p:cNvSpPr/>
          <p:nvPr/>
        </p:nvSpPr>
        <p:spPr>
          <a:xfrm>
            <a:off x="322729" y="414169"/>
            <a:ext cx="11546541" cy="127122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latin typeface="Bookman Old Style" panose="02050604050505020204" pitchFamily="18" charset="0"/>
              </a:rPr>
              <a:t>PROJECT OVERVIEW &amp; OBJECTIVES</a:t>
            </a:r>
            <a:endParaRPr lang="en-IN" sz="36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E450C9-0AAB-E239-73C7-162C99899A27}"/>
              </a:ext>
            </a:extLst>
          </p:cNvPr>
          <p:cNvSpPr txBox="1"/>
          <p:nvPr/>
        </p:nvSpPr>
        <p:spPr>
          <a:xfrm>
            <a:off x="322728" y="1954500"/>
            <a:ext cx="4814880" cy="2445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 </a:t>
            </a:r>
            <a:r>
              <a:rPr lang="en-IN" b="1" dirty="0">
                <a:solidFill>
                  <a:srgbClr val="0070C0"/>
                </a:solidFill>
              </a:rPr>
              <a:t>📌 </a:t>
            </a:r>
            <a:r>
              <a:rPr lang="en-IN" sz="2400" b="1" dirty="0">
                <a:solidFill>
                  <a:srgbClr val="0070C0"/>
                </a:solidFill>
              </a:rPr>
              <a:t>Project Overview</a:t>
            </a:r>
            <a:endParaRPr lang="en-US" sz="2400" b="1" dirty="0">
              <a:solidFill>
                <a:srgbClr val="0070C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000" dirty="0"/>
              <a:t>Amazon Fresh Analytics is a SQL-based project that analyzes customer, product, and order data to generate business insights.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B32E4A-3CE0-ED07-3798-90137EA55904}"/>
              </a:ext>
            </a:extLst>
          </p:cNvPr>
          <p:cNvSpPr txBox="1"/>
          <p:nvPr/>
        </p:nvSpPr>
        <p:spPr>
          <a:xfrm>
            <a:off x="5601879" y="2054573"/>
            <a:ext cx="5719713" cy="3453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</a:t>
            </a:r>
            <a:r>
              <a:rPr lang="en-IN" sz="2400" b="1" dirty="0">
                <a:solidFill>
                  <a:srgbClr val="0070C0"/>
                </a:solidFill>
              </a:rPr>
              <a:t>🎯 Objectives</a:t>
            </a:r>
            <a:endParaRPr lang="en-US" sz="2400" b="1" dirty="0">
              <a:solidFill>
                <a:srgbClr val="0070C0"/>
              </a:solidFill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Design a relational database.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Perform SQL data analysis.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Apply DDL, DML &amp; Constraints.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Analyze customer and product performance.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Generate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525957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EAD57-6390-EC19-99E0-0EC0BB3DB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1F3334-E62D-E784-CAD5-7FA4DD6FF55C}"/>
              </a:ext>
            </a:extLst>
          </p:cNvPr>
          <p:cNvSpPr/>
          <p:nvPr/>
        </p:nvSpPr>
        <p:spPr>
          <a:xfrm>
            <a:off x="169682" y="159343"/>
            <a:ext cx="11546541" cy="92456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latin typeface="Bookman Old Style" panose="02050604050505020204" pitchFamily="18" charset="0"/>
              </a:rPr>
              <a:t>DATABASE DESIGN</a:t>
            </a:r>
            <a:endParaRPr lang="en-IN" sz="30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Wave 7">
            <a:extLst>
              <a:ext uri="{FF2B5EF4-FFF2-40B4-BE49-F238E27FC236}">
                <a16:creationId xmlns:a16="http://schemas.microsoft.com/office/drawing/2014/main" id="{68679C0F-9026-23E5-ED91-7C2186EE1717}"/>
              </a:ext>
            </a:extLst>
          </p:cNvPr>
          <p:cNvSpPr/>
          <p:nvPr/>
        </p:nvSpPr>
        <p:spPr>
          <a:xfrm>
            <a:off x="322730" y="1130865"/>
            <a:ext cx="3796784" cy="1376665"/>
          </a:xfrm>
          <a:prstGeom prst="wave">
            <a:avLst>
              <a:gd name="adj1" fmla="val 12500"/>
              <a:gd name="adj2" fmla="val -110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DATABASE STRUCTURE</a:t>
            </a:r>
          </a:p>
          <a:p>
            <a:pPr>
              <a:buNone/>
            </a:pPr>
            <a:r>
              <a:rPr lang="en-US" sz="1400" b="1" dirty="0"/>
              <a:t>6 interconnected tables designed for efficient data storage and analysis</a:t>
            </a:r>
            <a:r>
              <a:rPr lang="en-US" sz="1400" dirty="0"/>
              <a:t>.</a:t>
            </a:r>
            <a:endParaRPr lang="en-IN" sz="1400" b="1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EE5561D-0A13-E8E9-BE07-F760D3B16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089125"/>
              </p:ext>
            </p:extLst>
          </p:nvPr>
        </p:nvGraphicFramePr>
        <p:xfrm>
          <a:off x="169682" y="2601447"/>
          <a:ext cx="4826524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262">
                  <a:extLst>
                    <a:ext uri="{9D8B030D-6E8A-4147-A177-3AD203B41FA5}">
                      <a16:colId xmlns:a16="http://schemas.microsoft.com/office/drawing/2014/main" val="3449899566"/>
                    </a:ext>
                  </a:extLst>
                </a:gridCol>
                <a:gridCol w="2413262">
                  <a:extLst>
                    <a:ext uri="{9D8B030D-6E8A-4147-A177-3AD203B41FA5}">
                      <a16:colId xmlns:a16="http://schemas.microsoft.com/office/drawing/2014/main" val="3117953137"/>
                    </a:ext>
                  </a:extLst>
                </a:gridCol>
              </a:tblGrid>
              <a:tr h="280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2871229"/>
                  </a:ext>
                </a:extLst>
              </a:tr>
              <a:tr h="280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 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Customer Data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172619"/>
                  </a:ext>
                </a:extLst>
              </a:tr>
              <a:tr h="280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 Products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 Product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5905417"/>
                  </a:ext>
                </a:extLst>
              </a:tr>
              <a:tr h="280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 Suppliers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 Supplier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3046418"/>
                  </a:ext>
                </a:extLst>
              </a:tr>
              <a:tr h="280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 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Order Records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7908027"/>
                  </a:ext>
                </a:extLst>
              </a:tr>
              <a:tr h="280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 Order 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 Order Items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706058"/>
                  </a:ext>
                </a:extLst>
              </a:tr>
              <a:tr h="280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 Reviews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Customer Reviews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6253694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680D1E5-AA18-7AD2-012D-7939EB4649C7}"/>
              </a:ext>
            </a:extLst>
          </p:cNvPr>
          <p:cNvSpPr/>
          <p:nvPr/>
        </p:nvSpPr>
        <p:spPr>
          <a:xfrm>
            <a:off x="169683" y="4887798"/>
            <a:ext cx="4826524" cy="18578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tx1"/>
                </a:solidFill>
              </a:rPr>
              <a:t>RELATIONSHIP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/>
              <a:t>Customers → Orders</a:t>
            </a:r>
            <a:r>
              <a:rPr lang="en-US" sz="1200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/>
              <a:t>Orders → Order Details</a:t>
            </a:r>
            <a:r>
              <a:rPr lang="en-US" sz="1200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/>
              <a:t>Products → Order Details</a:t>
            </a:r>
            <a:r>
              <a:rPr lang="en-US" sz="1200" dirty="0"/>
              <a:t> 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/>
              <a:t>Products → Reviews</a:t>
            </a:r>
            <a:r>
              <a:rPr lang="en-US" sz="1200" dirty="0"/>
              <a:t> </a:t>
            </a:r>
            <a:r>
              <a:rPr lang="en-US" sz="1200" i="1" dirty="0"/>
              <a:t> </a:t>
            </a:r>
            <a:endParaRPr lang="en-US" sz="12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/>
              <a:t>Suppliers → Products</a:t>
            </a:r>
            <a:r>
              <a:rPr lang="en-US" sz="1200" dirty="0"/>
              <a:t>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4724E4A-71A8-8106-AD27-2FEC80614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928" y="1241767"/>
            <a:ext cx="6423296" cy="540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552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C5F8C-8885-1DDE-533B-C1D4CAA3A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2E0337-A954-AEB5-4F5A-9A69A3518823}"/>
              </a:ext>
            </a:extLst>
          </p:cNvPr>
          <p:cNvSpPr/>
          <p:nvPr/>
        </p:nvSpPr>
        <p:spPr>
          <a:xfrm>
            <a:off x="322729" y="150219"/>
            <a:ext cx="11546541" cy="127122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latin typeface="Bookman Old Style" panose="02050604050505020204" pitchFamily="18" charset="0"/>
              </a:rPr>
              <a:t>DATA IMPORT &amp; DATA CLEANING</a:t>
            </a:r>
            <a:endParaRPr lang="en-IN" sz="30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07FA42-217B-1717-AD07-96F9BEDEB60E}"/>
              </a:ext>
            </a:extLst>
          </p:cNvPr>
          <p:cNvSpPr txBox="1"/>
          <p:nvPr/>
        </p:nvSpPr>
        <p:spPr>
          <a:xfrm>
            <a:off x="443058" y="1517719"/>
            <a:ext cx="6429081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00B0F0"/>
                </a:solidFill>
              </a:rPr>
              <a:t>DATA SOURCE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Imported Amazon Fresh datasets into </a:t>
            </a:r>
            <a:r>
              <a:rPr lang="en-US" b="1" dirty="0"/>
              <a:t>MySQL Workbench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Connected MySQL database with </a:t>
            </a:r>
            <a:r>
              <a:rPr lang="en-IN" b="1" dirty="0"/>
              <a:t>Power BI</a:t>
            </a:r>
            <a:r>
              <a:rPr lang="en-IN" dirty="0"/>
              <a:t> </a:t>
            </a:r>
          </a:p>
          <a:p>
            <a:pPr lvl="1">
              <a:lnSpc>
                <a:spcPct val="150000"/>
              </a:lnSpc>
            </a:pPr>
            <a:endParaRPr lang="en-IN" dirty="0"/>
          </a:p>
          <a:p>
            <a:pPr>
              <a:buNone/>
            </a:pPr>
            <a:r>
              <a:rPr lang="en-IN" b="1" dirty="0">
                <a:solidFill>
                  <a:srgbClr val="00B0F0"/>
                </a:solidFill>
              </a:rPr>
              <a:t>DATA CLEANING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Checked for </a:t>
            </a:r>
            <a:r>
              <a:rPr lang="en-IN" b="1" dirty="0"/>
              <a:t>NULL values</a:t>
            </a:r>
            <a:r>
              <a:rPr lang="en-IN" dirty="0"/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Removed </a:t>
            </a:r>
            <a:r>
              <a:rPr lang="en-IN" b="1" dirty="0"/>
              <a:t>duplicate records</a:t>
            </a:r>
            <a:r>
              <a:rPr lang="en-IN" dirty="0"/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Verified </a:t>
            </a:r>
            <a:r>
              <a:rPr lang="en-IN" b="1" dirty="0"/>
              <a:t>data types</a:t>
            </a:r>
            <a:r>
              <a:rPr lang="en-IN" dirty="0"/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Validated </a:t>
            </a:r>
            <a:r>
              <a:rPr lang="en-IN" b="1" dirty="0"/>
              <a:t>relationships</a:t>
            </a:r>
            <a:r>
              <a:rPr lang="en-IN" dirty="0"/>
              <a:t> between tables </a:t>
            </a:r>
          </a:p>
          <a:p>
            <a:pPr lvl="1">
              <a:lnSpc>
                <a:spcPct val="150000"/>
              </a:lnSpc>
            </a:pPr>
            <a:endParaRPr lang="en-IN" dirty="0"/>
          </a:p>
          <a:p>
            <a:pPr>
              <a:buNone/>
            </a:pPr>
            <a:r>
              <a:rPr lang="en-IN" b="1" dirty="0">
                <a:solidFill>
                  <a:srgbClr val="00B0F0"/>
                </a:solidFill>
              </a:rPr>
              <a:t>OUTCOME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 Clean and reliable dataset ready for SQL analysis and dashboard creation.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2FB2D7-F33A-C07E-03D9-313F0857D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139" y="1959744"/>
            <a:ext cx="4807671" cy="366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322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B7B95-AAB2-5F55-6821-B7272B82D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6C8759-52CB-311A-445B-B71B939F193A}"/>
              </a:ext>
            </a:extLst>
          </p:cNvPr>
          <p:cNvSpPr/>
          <p:nvPr/>
        </p:nvSpPr>
        <p:spPr>
          <a:xfrm>
            <a:off x="219033" y="103084"/>
            <a:ext cx="11546541" cy="735901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latin typeface="Bookman Old Style" panose="02050604050505020204" pitchFamily="18" charset="0"/>
              </a:rPr>
              <a:t>SQL QUERIES &amp; ANALYSIS</a:t>
            </a:r>
            <a:endParaRPr lang="en-IN" sz="30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17715-9FE3-9F76-F6E8-0817A06156CF}"/>
              </a:ext>
            </a:extLst>
          </p:cNvPr>
          <p:cNvSpPr txBox="1"/>
          <p:nvPr/>
        </p:nvSpPr>
        <p:spPr>
          <a:xfrm>
            <a:off x="473557" y="1367099"/>
            <a:ext cx="6615400" cy="460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00B0F0"/>
                </a:solidFill>
              </a:rPr>
              <a:t>KEY SQL ANALYSIS PERFORMED</a:t>
            </a:r>
          </a:p>
          <a:p>
            <a:pPr>
              <a:buNone/>
            </a:pPr>
            <a:r>
              <a:rPr lang="en-US" b="1" dirty="0"/>
              <a:t>📊 </a:t>
            </a:r>
            <a:r>
              <a:rPr lang="en-US" b="1" dirty="0">
                <a:solidFill>
                  <a:srgbClr val="00B0F0"/>
                </a:solidFill>
              </a:rPr>
              <a:t>Data Analysis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Total Sales Revenue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Total Orders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Average Order Value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Top Selling Products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Customer Purchase Analysis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Product Category Performance </a:t>
            </a:r>
          </a:p>
          <a:p>
            <a:pPr lvl="1">
              <a:lnSpc>
                <a:spcPct val="150000"/>
              </a:lnSpc>
            </a:pPr>
            <a:endParaRPr lang="en-US" sz="1400" dirty="0"/>
          </a:p>
          <a:p>
            <a:pPr>
              <a:buNone/>
            </a:pPr>
            <a:r>
              <a:rPr lang="en-US" b="1" dirty="0">
                <a:solidFill>
                  <a:srgbClr val="00B0F0"/>
                </a:solidFill>
              </a:rPr>
              <a:t>⚙️ SQL Concepts Used</a:t>
            </a:r>
          </a:p>
          <a:p>
            <a:pPr>
              <a:buNone/>
            </a:pPr>
            <a:br>
              <a:rPr lang="en-US" sz="1400" dirty="0"/>
            </a:br>
            <a:r>
              <a:rPr lang="en-US" sz="1400" dirty="0"/>
              <a:t>	SELECT, WHERE , GROUP BY, ORDER BY, JOIN, SUM(), COUNT(), AVG()</a:t>
            </a:r>
          </a:p>
          <a:p>
            <a:pPr>
              <a:buNone/>
            </a:pPr>
            <a:endParaRPr lang="en-US" sz="1400" b="1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B0F0"/>
                </a:solidFill>
              </a:rPr>
              <a:t>Outcome</a:t>
            </a:r>
            <a:endParaRPr lang="en-US" sz="1600" b="1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600" dirty="0"/>
              <a:t>       Prepared data for Power BI dashboard development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5AAD5B-1963-1E0E-A30D-10D04CB56E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52"/>
          <a:stretch>
            <a:fillRect/>
          </a:stretch>
        </p:blipFill>
        <p:spPr>
          <a:xfrm>
            <a:off x="6768445" y="1621410"/>
            <a:ext cx="4421171" cy="260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389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F6411-E94F-5969-F36A-28D534B69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03C2322-82B7-E72F-A117-7E95976C2016}"/>
              </a:ext>
            </a:extLst>
          </p:cNvPr>
          <p:cNvSpPr/>
          <p:nvPr/>
        </p:nvSpPr>
        <p:spPr>
          <a:xfrm>
            <a:off x="322729" y="169073"/>
            <a:ext cx="11546541" cy="745327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latin typeface="Bookman Old Style" panose="02050604050505020204" pitchFamily="18" charset="0"/>
              </a:rPr>
              <a:t>ADVANCED SQL OPERATIONS</a:t>
            </a:r>
            <a:endParaRPr lang="en-IN" sz="30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085454-A852-D87E-5A5E-4378170DCDF9}"/>
              </a:ext>
            </a:extLst>
          </p:cNvPr>
          <p:cNvSpPr txBox="1"/>
          <p:nvPr/>
        </p:nvSpPr>
        <p:spPr>
          <a:xfrm>
            <a:off x="407571" y="1416859"/>
            <a:ext cx="3457419" cy="254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0B0F0"/>
                </a:solidFill>
              </a:rPr>
              <a:t>Include: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UPDATE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ALTER TABLE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DELETE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Normalization (3NF)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Subqueries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Foreign Keys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4E0041-AEBB-12F3-3285-DE6FD572D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117" y="1290446"/>
            <a:ext cx="6372074" cy="13999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976651-056B-3B89-28CD-5EDB5836A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557" y="3142898"/>
            <a:ext cx="6259706" cy="262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938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37AFA-7DC5-4B53-44CE-B4240AE13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753338C-F4C9-B0E0-7819-0B6B06109474}"/>
              </a:ext>
            </a:extLst>
          </p:cNvPr>
          <p:cNvSpPr/>
          <p:nvPr/>
        </p:nvSpPr>
        <p:spPr>
          <a:xfrm>
            <a:off x="322729" y="414169"/>
            <a:ext cx="11546541" cy="102813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latin typeface="Bookman Old Style" panose="02050604050505020204" pitchFamily="18" charset="0"/>
              </a:rPr>
              <a:t>BUSINESS INSIGHTS</a:t>
            </a:r>
            <a:endParaRPr lang="en-IN" sz="30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8D37F5-C995-FACE-7036-14139A7979E1}"/>
              </a:ext>
            </a:extLst>
          </p:cNvPr>
          <p:cNvSpPr txBox="1"/>
          <p:nvPr/>
        </p:nvSpPr>
        <p:spPr>
          <a:xfrm>
            <a:off x="709367" y="1718111"/>
            <a:ext cx="7039465" cy="3974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  <a:p>
            <a:pPr>
              <a:lnSpc>
                <a:spcPct val="200000"/>
              </a:lnSpc>
            </a:pPr>
            <a:r>
              <a:rPr lang="en-IN" sz="2000" dirty="0"/>
              <a:t>💰 Sales revenue calculated using SQL queries. 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📦 Product category performance identified. 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🛒 Customer purchasing trends analysed. 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⭐ Frequently ordered products recognized. 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👥 Prime member distribution analysed. 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📊 SQL insights prepared for Power BI visualization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4810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6FFAE-EAE8-6A8D-318B-A5B0FB6C4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D3524B-251C-AA26-470D-6D321E495507}"/>
              </a:ext>
            </a:extLst>
          </p:cNvPr>
          <p:cNvSpPr/>
          <p:nvPr/>
        </p:nvSpPr>
        <p:spPr>
          <a:xfrm>
            <a:off x="322729" y="414169"/>
            <a:ext cx="11546541" cy="127122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latin typeface="Bookman Old Style" panose="02050604050505020204" pitchFamily="18" charset="0"/>
              </a:rPr>
              <a:t>RECOMMENDATIONS</a:t>
            </a:r>
            <a:endParaRPr lang="en-IN" sz="30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5C983A-2A28-604B-4FFB-CB73DCC83936}"/>
              </a:ext>
            </a:extLst>
          </p:cNvPr>
          <p:cNvSpPr txBox="1"/>
          <p:nvPr/>
        </p:nvSpPr>
        <p:spPr>
          <a:xfrm>
            <a:off x="2839824" y="2315620"/>
            <a:ext cx="6869783" cy="3074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Improve inventory for high-selling products.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Focus promotions on top-performing categories.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Reward loyal and Prime customers.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Monitor sales trends regularly.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Use SQL reports for data-driven decisions. </a:t>
            </a:r>
          </a:p>
        </p:txBody>
      </p:sp>
    </p:spTree>
    <p:extLst>
      <p:ext uri="{BB962C8B-B14F-4D97-AF65-F5344CB8AC3E}">
        <p14:creationId xmlns:p14="http://schemas.microsoft.com/office/powerpoint/2010/main" val="586937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F8799-F41E-DC7F-C00C-F7A0832DE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74D3E9-7BDF-4974-DA9C-91C02D526F58}"/>
              </a:ext>
            </a:extLst>
          </p:cNvPr>
          <p:cNvSpPr/>
          <p:nvPr/>
        </p:nvSpPr>
        <p:spPr>
          <a:xfrm>
            <a:off x="322729" y="414169"/>
            <a:ext cx="11546541" cy="127122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latin typeface="Bookman Old Style" panose="02050604050505020204" pitchFamily="18" charset="0"/>
              </a:rPr>
              <a:t>CONCLUSION</a:t>
            </a:r>
            <a:endParaRPr lang="en-IN" sz="30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993B34-35A6-A6A2-526F-9E3F99EC5D6E}"/>
              </a:ext>
            </a:extLst>
          </p:cNvPr>
          <p:cNvSpPr txBox="1"/>
          <p:nvPr/>
        </p:nvSpPr>
        <p:spPr>
          <a:xfrm>
            <a:off x="3047214" y="2831192"/>
            <a:ext cx="7199721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B0F0"/>
                </a:solidFill>
              </a:rPr>
              <a:t>Successfully designed a relational database using MySQL, performed SQL analysis, applied normalization and subqueries, and generated meaningful business insights for decision-making.</a:t>
            </a:r>
            <a:endParaRPr lang="en-IN" sz="20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524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370</Words>
  <Application>Microsoft Office PowerPoint</Application>
  <PresentationFormat>Widescreen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Bookman Old Style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Jayendran SUBRAMANIAN</dc:creator>
  <cp:lastModifiedBy>Jayendran SUBRAMANIAN</cp:lastModifiedBy>
  <cp:revision>4</cp:revision>
  <dcterms:created xsi:type="dcterms:W3CDTF">2026-07-11T18:09:35Z</dcterms:created>
  <dcterms:modified xsi:type="dcterms:W3CDTF">2026-07-16T20:27:56Z</dcterms:modified>
</cp:coreProperties>
</file>