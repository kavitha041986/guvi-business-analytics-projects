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C58DF-5ADB-4598-9D90-04AB09EECF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A4E4ED-4078-4864-B5C8-642E2931F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33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273" y="0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0628" y="1798599"/>
            <a:ext cx="3039884" cy="1210816"/>
          </a:xfrm>
        </p:spPr>
        <p:txBody>
          <a:bodyPr anchor="b">
            <a:normAutofit/>
          </a:bodyPr>
          <a:lstStyle/>
          <a:p>
            <a:pPr algn="ctr"/>
            <a:r>
              <a:rPr lang="en-IN" sz="2000" b="1" dirty="0"/>
              <a:t>Instagram Performance Analytics for Sugar Cosmetics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18EFC-2792-AA79-D0A6-45A1CA35EF89}"/>
              </a:ext>
            </a:extLst>
          </p:cNvPr>
          <p:cNvSpPr txBox="1"/>
          <p:nvPr/>
        </p:nvSpPr>
        <p:spPr>
          <a:xfrm>
            <a:off x="9170313" y="3412718"/>
            <a:ext cx="946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Tool: </a:t>
            </a:r>
          </a:p>
          <a:p>
            <a:pPr algn="ctr"/>
            <a:r>
              <a:rPr lang="en-IN" sz="1200" b="1" dirty="0">
                <a:latin typeface="+mj-lt"/>
              </a:rPr>
              <a:t>TABLEAU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C8AA83-C4E6-52B7-4D16-542DB54DB945}"/>
              </a:ext>
            </a:extLst>
          </p:cNvPr>
          <p:cNvSpPr txBox="1"/>
          <p:nvPr/>
        </p:nvSpPr>
        <p:spPr>
          <a:xfrm>
            <a:off x="9017073" y="4607601"/>
            <a:ext cx="14269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100" dirty="0"/>
              <a:t>By</a:t>
            </a:r>
          </a:p>
          <a:p>
            <a:pPr algn="ctr"/>
            <a:r>
              <a:rPr lang="en-IN" sz="1100" dirty="0"/>
              <a:t>T. Kavitha Jayendran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6911B-06EE-7877-1585-78B0995A9377}"/>
              </a:ext>
            </a:extLst>
          </p:cNvPr>
          <p:cNvSpPr txBox="1"/>
          <p:nvPr/>
        </p:nvSpPr>
        <p:spPr>
          <a:xfrm>
            <a:off x="8297208" y="6444734"/>
            <a:ext cx="3411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+mj-lt"/>
              </a:rPr>
              <a:t>GUVI Capstone Project 2026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52425"/>
            <a:ext cx="10153650" cy="9429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E672BF-1681-2E37-7749-C577FB25CBE4}"/>
              </a:ext>
            </a:extLst>
          </p:cNvPr>
          <p:cNvSpPr txBox="1"/>
          <p:nvPr/>
        </p:nvSpPr>
        <p:spPr>
          <a:xfrm>
            <a:off x="2409825" y="35242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1"/>
                </a:solidFill>
                <a:latin typeface="+mj-lt"/>
              </a:rPr>
              <a:t>Project &amp; Dataset Overview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295E570-AF8C-8FBC-7DB5-0FC976E1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1533495"/>
            <a:ext cx="4591050" cy="400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PROJECT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Business Problem 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Dataset Overview 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Tools Used:</a:t>
            </a:r>
            <a:endParaRPr lang="en-US" altLang="en-US" sz="2000" dirty="0">
              <a:latin typeface="+mj-lt"/>
            </a:endParaRPr>
          </a:p>
          <a:p>
            <a:pPr marL="1714500" lvl="3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Tableau</a:t>
            </a:r>
          </a:p>
          <a:p>
            <a:pPr marL="1714500" lvl="3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EXC</a:t>
            </a:r>
            <a:r>
              <a:rPr lang="en-US" altLang="en-US" sz="2000" dirty="0">
                <a:latin typeface="+mj-lt"/>
              </a:rPr>
              <a:t>EL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Project Objective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DA1846-5D51-2A98-F832-8C6BBE973B87}"/>
              </a:ext>
            </a:extLst>
          </p:cNvPr>
          <p:cNvSpPr txBox="1"/>
          <p:nvPr/>
        </p:nvSpPr>
        <p:spPr>
          <a:xfrm>
            <a:off x="6524625" y="1533495"/>
            <a:ext cx="4362450" cy="2771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Dataset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Number of Records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Fields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Metrics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Dimensions</a:t>
            </a: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AE9004-20FD-50D8-CA62-F86EE3BF3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460" y="1196519"/>
            <a:ext cx="4413414" cy="41379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958CA-4554-2E38-8DD9-63EF65F3E65E}"/>
              </a:ext>
            </a:extLst>
          </p:cNvPr>
          <p:cNvSpPr txBox="1"/>
          <p:nvPr/>
        </p:nvSpPr>
        <p:spPr>
          <a:xfrm>
            <a:off x="571500" y="1196519"/>
            <a:ext cx="6419850" cy="2838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+mj-lt"/>
              </a:rPr>
              <a:t>Key Insights</a:t>
            </a:r>
          </a:p>
          <a:p>
            <a:pPr>
              <a:buNone/>
            </a:pPr>
            <a:endParaRPr lang="en-US" sz="2000" dirty="0">
              <a:solidFill>
                <a:schemeClr val="accent2"/>
              </a:solidFill>
              <a:latin typeface="+mj-lt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Analyzed </a:t>
            </a:r>
            <a:r>
              <a:rPr lang="en-US" b="1" dirty="0">
                <a:latin typeface="+mj-lt"/>
              </a:rPr>
              <a:t>50,000 Instagram posts</a:t>
            </a:r>
            <a:r>
              <a:rPr lang="en-US" dirty="0">
                <a:latin typeface="+mj-lt"/>
              </a:rPr>
              <a:t>.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Average Engagement Rate: </a:t>
            </a:r>
            <a:r>
              <a:rPr lang="en-US" b="1" dirty="0">
                <a:latin typeface="+mj-lt"/>
              </a:rPr>
              <a:t>18.54%</a:t>
            </a:r>
            <a:r>
              <a:rPr lang="en-US" dirty="0">
                <a:latin typeface="+mj-lt"/>
              </a:rPr>
              <a:t>.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Generated strong reach and impressions, indicating high brand visibility.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9C241-1973-A4C2-E523-236C80FF4263}"/>
              </a:ext>
            </a:extLst>
          </p:cNvPr>
          <p:cNvSpPr txBox="1"/>
          <p:nvPr/>
        </p:nvSpPr>
        <p:spPr>
          <a:xfrm>
            <a:off x="2419350" y="30694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>
                <a:solidFill>
                  <a:schemeClr val="accent2"/>
                </a:solidFill>
                <a:latin typeface="+mj-lt"/>
              </a:rPr>
              <a:t>KPI Overview</a:t>
            </a:r>
          </a:p>
        </p:txBody>
      </p:sp>
    </p:spTree>
    <p:extLst>
      <p:ext uri="{BB962C8B-B14F-4D97-AF65-F5344CB8AC3E}">
        <p14:creationId xmlns:p14="http://schemas.microsoft.com/office/powerpoint/2010/main" val="3327572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D5948E-753F-CAB1-CC71-7FE6803DE69E}"/>
              </a:ext>
            </a:extLst>
          </p:cNvPr>
          <p:cNvSpPr txBox="1"/>
          <p:nvPr/>
        </p:nvSpPr>
        <p:spPr>
          <a:xfrm>
            <a:off x="2286000" y="2439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2"/>
                </a:solidFill>
                <a:latin typeface="+mj-lt"/>
              </a:rPr>
              <a:t>MONTHLY POSTING TREND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6494E-0D8F-163A-7327-417C7A0EB7A5}"/>
              </a:ext>
            </a:extLst>
          </p:cNvPr>
          <p:cNvSpPr txBox="1"/>
          <p:nvPr/>
        </p:nvSpPr>
        <p:spPr>
          <a:xfrm>
            <a:off x="457200" y="1219111"/>
            <a:ext cx="5848350" cy="363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+mj-lt"/>
              </a:rPr>
              <a:t>Key Insights</a:t>
            </a:r>
            <a:endParaRPr lang="en-US" sz="2000" dirty="0">
              <a:solidFill>
                <a:schemeClr val="accent2"/>
              </a:solidFill>
              <a:latin typeface="+mj-lt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Posting frequency remained consistent throughout the year.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Minor fluctuations indicate a well-planned content calendar.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Consistent posting helps maintain audience engagement.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6A373E-2849-1BAD-E982-80BCA9F4B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412" y="1219111"/>
            <a:ext cx="5804138" cy="46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67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AF5CC-FB8C-2B89-848D-3005CF106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182" y="933449"/>
            <a:ext cx="6929285" cy="2495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A77146-CAEB-E7AE-9520-3C9DB8571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825" y="3581400"/>
            <a:ext cx="6858000" cy="28122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C441DF-37C3-0E49-E3FE-A5DEF92B8642}"/>
              </a:ext>
            </a:extLst>
          </p:cNvPr>
          <p:cNvSpPr txBox="1"/>
          <p:nvPr/>
        </p:nvSpPr>
        <p:spPr>
          <a:xfrm>
            <a:off x="257174" y="1304836"/>
            <a:ext cx="4448175" cy="308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+mj-lt"/>
              </a:rPr>
              <a:t>Key Insights</a:t>
            </a:r>
            <a:endParaRPr lang="en-US" sz="2000" dirty="0">
              <a:solidFill>
                <a:schemeClr val="accent2"/>
              </a:solidFill>
              <a:latin typeface="+mj-lt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Certain hashtag combinations consistently achieved higher engagement.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High engagement is driven by quality content, not just reach.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5F2F2-C7FA-000D-450A-0A95344B778D}"/>
              </a:ext>
            </a:extLst>
          </p:cNvPr>
          <p:cNvSpPr txBox="1"/>
          <p:nvPr/>
        </p:nvSpPr>
        <p:spPr>
          <a:xfrm>
            <a:off x="2333625" y="27968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2"/>
                </a:solidFill>
                <a:latin typeface="+mj-lt"/>
              </a:rPr>
              <a:t>TOP PERFORMING POSTS</a:t>
            </a:r>
          </a:p>
        </p:txBody>
      </p:sp>
    </p:spTree>
    <p:extLst>
      <p:ext uri="{BB962C8B-B14F-4D97-AF65-F5344CB8AC3E}">
        <p14:creationId xmlns:p14="http://schemas.microsoft.com/office/powerpoint/2010/main" val="338020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F4E09B-BD06-0119-D9EF-C81AAFDC0BEC}"/>
              </a:ext>
            </a:extLst>
          </p:cNvPr>
          <p:cNvSpPr txBox="1"/>
          <p:nvPr/>
        </p:nvSpPr>
        <p:spPr>
          <a:xfrm>
            <a:off x="2562225" y="13918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2"/>
                </a:solidFill>
                <a:latin typeface="+mj-lt"/>
              </a:rPr>
              <a:t>CONTENT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81B3F-FFA0-F365-B113-95A6FCF1686A}"/>
              </a:ext>
            </a:extLst>
          </p:cNvPr>
          <p:cNvSpPr txBox="1"/>
          <p:nvPr/>
        </p:nvSpPr>
        <p:spPr>
          <a:xfrm>
            <a:off x="66675" y="930059"/>
            <a:ext cx="4552950" cy="4614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+mj-lt"/>
              </a:rPr>
              <a:t>Key Insights</a:t>
            </a:r>
            <a:endParaRPr lang="en-US" sz="2000" dirty="0">
              <a:solidFill>
                <a:schemeClr val="accent2"/>
              </a:solidFill>
              <a:latin typeface="+mj-lt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Image and Reel content performed well across engagement metrics.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Audience engagement remained relatively stable across weekdays.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Content quality is more influential than posting day.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55BA5E-DECA-C164-73C9-5F8054179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6" y="764203"/>
            <a:ext cx="3657599" cy="5360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A77C3D-3C5D-F02F-0CB5-8CFD2BAF3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992" y="789387"/>
            <a:ext cx="3657599" cy="53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38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3E162A-C61A-4245-AE4B-DCC2AC13E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75" y="945566"/>
            <a:ext cx="6677025" cy="2292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D0A1E8-2F01-E6C3-70BF-96DE76187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75" y="3429000"/>
            <a:ext cx="6677026" cy="2381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1E845-E493-8379-7107-F724D59156FD}"/>
              </a:ext>
            </a:extLst>
          </p:cNvPr>
          <p:cNvSpPr txBox="1"/>
          <p:nvPr/>
        </p:nvSpPr>
        <p:spPr>
          <a:xfrm>
            <a:off x="3162300" y="17728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2"/>
                </a:solidFill>
                <a:latin typeface="+mj-lt"/>
              </a:rPr>
              <a:t>ENGAGEMENT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DA660-C819-43E0-DAB9-EB8103A90C7A}"/>
              </a:ext>
            </a:extLst>
          </p:cNvPr>
          <p:cNvSpPr txBox="1"/>
          <p:nvPr/>
        </p:nvSpPr>
        <p:spPr>
          <a:xfrm>
            <a:off x="371475" y="952559"/>
            <a:ext cx="5057775" cy="5233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+mj-lt"/>
              </a:rPr>
              <a:t>Key Insights</a:t>
            </a:r>
            <a:endParaRPr lang="en-US" sz="2000" dirty="0">
              <a:solidFill>
                <a:schemeClr val="accent2"/>
              </a:solidFill>
              <a:latin typeface="+mj-lt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A noticeable drop occurs from Reach to Saves and Shares.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High-performing hashtags improve discoverability and engagement.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Stronger Calls-to-Action (CTAs) can encourage deeper audience interaction.</a:t>
            </a:r>
          </a:p>
        </p:txBody>
      </p:sp>
    </p:spTree>
    <p:extLst>
      <p:ext uri="{BB962C8B-B14F-4D97-AF65-F5344CB8AC3E}">
        <p14:creationId xmlns:p14="http://schemas.microsoft.com/office/powerpoint/2010/main" val="1086303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C414FE-6015-FE13-12D2-13F17FF78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898" y="923924"/>
            <a:ext cx="6984273" cy="5191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7C1C62-4875-F35C-4884-8FEEB0EC5101}"/>
              </a:ext>
            </a:extLst>
          </p:cNvPr>
          <p:cNvSpPr txBox="1"/>
          <p:nvPr/>
        </p:nvSpPr>
        <p:spPr>
          <a:xfrm>
            <a:off x="2505075" y="2058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2"/>
                </a:solidFill>
                <a:latin typeface="+mj-lt"/>
              </a:rPr>
              <a:t>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A04EA-586F-CAF0-5259-C853EE946F52}"/>
              </a:ext>
            </a:extLst>
          </p:cNvPr>
          <p:cNvSpPr txBox="1"/>
          <p:nvPr/>
        </p:nvSpPr>
        <p:spPr>
          <a:xfrm>
            <a:off x="257175" y="914458"/>
            <a:ext cx="4638675" cy="4750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+mj-lt"/>
              </a:rPr>
              <a:t>Business Value</a:t>
            </a:r>
            <a:endParaRPr lang="en-US" sz="2000" dirty="0">
              <a:solidFill>
                <a:schemeClr val="accent2"/>
              </a:solidFill>
              <a:latin typeface="+mj-lt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Interactive dashboard consolidates all Instagram performance metrics.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Enables marketers to monitor KPIs and identify trends efficiently.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Supports data-driven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1109997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56CD0A-2E5F-489D-46BC-7B933EEFB8FB}"/>
              </a:ext>
            </a:extLst>
          </p:cNvPr>
          <p:cNvSpPr txBox="1"/>
          <p:nvPr/>
        </p:nvSpPr>
        <p:spPr>
          <a:xfrm>
            <a:off x="2571749" y="348734"/>
            <a:ext cx="690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2"/>
                </a:solidFill>
                <a:latin typeface="+mj-lt"/>
              </a:rPr>
              <a:t>Strategic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4D97-9FC9-AA12-7DE5-09D203452B30}"/>
              </a:ext>
            </a:extLst>
          </p:cNvPr>
          <p:cNvSpPr txBox="1"/>
          <p:nvPr/>
        </p:nvSpPr>
        <p:spPr>
          <a:xfrm>
            <a:off x="1123949" y="1169938"/>
            <a:ext cx="9629775" cy="461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+mj-lt"/>
              </a:rPr>
              <a:t>Recommended Strategies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latin typeface="+mj-lt"/>
              </a:rPr>
              <a:t>Increase the use of high-performing hashtags.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latin typeface="+mj-lt"/>
              </a:rPr>
              <a:t>Continue creating engaging Image and Reel content.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latin typeface="+mj-lt"/>
              </a:rPr>
              <a:t>Encourage Saves and Shares through stronger CTAs.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latin typeface="+mj-lt"/>
              </a:rPr>
              <a:t>Maintain a consistent posting schedule.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latin typeface="+mj-lt"/>
              </a:rPr>
              <a:t>Strengthen influencer and collaboration campaigns. </a:t>
            </a:r>
          </a:p>
          <a:p>
            <a:pPr marL="800100" lvl="1" indent="-342900">
              <a:lnSpc>
                <a:spcPct val="20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000" dirty="0">
                <a:latin typeface="+mj-lt"/>
              </a:rPr>
              <a:t>Continuously monitor engagement metrics to optimize future campaigns.</a:t>
            </a:r>
          </a:p>
        </p:txBody>
      </p:sp>
    </p:spTree>
    <p:extLst>
      <p:ext uri="{BB962C8B-B14F-4D97-AF65-F5344CB8AC3E}">
        <p14:creationId xmlns:p14="http://schemas.microsoft.com/office/powerpoint/2010/main" val="2467796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D661EB-4B45-075E-7208-E2E988AAADDC}"/>
              </a:ext>
            </a:extLst>
          </p:cNvPr>
          <p:cNvSpPr txBox="1"/>
          <p:nvPr/>
        </p:nvSpPr>
        <p:spPr>
          <a:xfrm>
            <a:off x="2533650" y="45350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2"/>
                </a:solidFill>
                <a:latin typeface="+mj-lt"/>
              </a:rPr>
              <a:t>CONCLUSION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7743CA7-B1C0-5274-E4CA-239728147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175" y="1281953"/>
            <a:ext cx="8277722" cy="457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altLang="en-US" sz="2000" dirty="0">
                <a:latin typeface="+mj-lt"/>
              </a:rPr>
              <a:t>Successfully analyzed Instagram performance using Tableau.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Developed interactive dashboards to evaluate engagement trends and content effectiveness.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Identified actionable insights to improve social media strategy.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Demonstrated how business intelligence tools support data-driven marketing decisions. </a:t>
            </a:r>
          </a:p>
        </p:txBody>
      </p:sp>
    </p:spTree>
    <p:extLst>
      <p:ext uri="{BB962C8B-B14F-4D97-AF65-F5344CB8AC3E}">
        <p14:creationId xmlns:p14="http://schemas.microsoft.com/office/powerpoint/2010/main" val="192332909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{44952811-EC5A-4634-9278-3E53C89177C0}TFb63a7776-4452-49b2-8055-21efce632b726e3c8758_win32-7d1db0309ca7</Template>
  <TotalTime>66</TotalTime>
  <Words>297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Bookman Old Style</vt:lpstr>
      <vt:lpstr>Calibri</vt:lpstr>
      <vt:lpstr>Courier New</vt:lpstr>
      <vt:lpstr>Franklin Gothic Book</vt:lpstr>
      <vt:lpstr>Wingdings</vt:lpstr>
      <vt:lpstr>Custom</vt:lpstr>
      <vt:lpstr>Instagram Performance Analytics for Sugar Cosmetics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Jayendran SUBRAMANIAN</dc:creator>
  <cp:lastModifiedBy>Jayendran SUBRAMANIAN</cp:lastModifiedBy>
  <cp:revision>1</cp:revision>
  <dcterms:created xsi:type="dcterms:W3CDTF">2026-07-17T04:37:08Z</dcterms:created>
  <dcterms:modified xsi:type="dcterms:W3CDTF">2026-07-17T05:43:11Z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