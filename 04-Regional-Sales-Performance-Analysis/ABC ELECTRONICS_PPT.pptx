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C49E6-313B-B9B8-2AE3-D2F4D6409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4F5A3-11A9-AAFE-DC65-56BD48ED5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242EC-B1A9-180D-647D-7E67B579B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7C02-7985-455F-8809-D6CBD317C648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6671A-1147-EBF0-E864-A2AA3BA5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02BCD-98B8-9517-8BDF-07FA6700E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21B2-D51D-48A6-B985-DAADF19F2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951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1477A-DBC3-2ADB-DABB-14DB26AC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289B-7089-A482-767D-8A74C4AE1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4536D-5CB5-71C2-CF9F-01939F6C7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7C02-7985-455F-8809-D6CBD317C648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B336A-5E07-50C9-A706-40FE1F368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1024A-83A8-EF53-B8AF-D6F720CF2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21B2-D51D-48A6-B985-DAADF19F2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09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D6B53-9358-3B45-AF13-4FEFF6B40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EFFDE-EBD5-7D51-BBAE-DA28955DF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49D75-FCFB-E1BA-4B44-738174021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7C02-7985-455F-8809-D6CBD317C648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78D6B-8D77-4664-9B39-CC94B998C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E7EA2-A5F3-2C9A-D024-95F1DE9EE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21B2-D51D-48A6-B985-DAADF19F2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81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E7582-7CC7-94BF-6378-7E0D74B3E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727A8-8340-DD2D-6CCF-D86B06AB22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8BE5B6-E4EA-77DA-6A1B-2001121B4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13A18-AA34-6F99-ACFA-BED48545F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7C02-7985-455F-8809-D6CBD317C648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CD78B-3466-1193-BE66-DE33FBD23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8156D-E35C-C5D4-C8C8-E345A718F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21B2-D51D-48A6-B985-DAADF19F2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500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84E6E-A8AA-5C71-CAE4-ED7712405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828EC-DD6E-B4F4-00A8-9B36C5009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C229D-14F3-9EDA-3A8C-BBE6F25AA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D922DB-5A8B-E985-122A-FCB9683BA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4E7274-1BE0-4650-0127-8B0B7CC420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C9BB33-0F76-300A-FFCA-BAA9249F9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7C02-7985-455F-8809-D6CBD317C648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5ADFC2-85FF-D5F5-0B19-436D70218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973C4-D5E0-97F7-255D-36BFB91D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21B2-D51D-48A6-B985-DAADF19F2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331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BA6DD-70B7-0A5A-5F39-08D305F45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2EE3B-0431-A4AC-EDA9-36ECB8E9D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7C02-7985-455F-8809-D6CBD317C648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B5DC89-AE25-BE21-1911-772D4A023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291B63-C815-A2B3-B5FA-E4EDCD60B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21B2-D51D-48A6-B985-DAADF19F2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555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E180FB-A37F-C1E0-DAF8-EB920A498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7C02-7985-455F-8809-D6CBD317C648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043B25-54F1-6AED-9041-D925A9DB4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9D5B2-153F-ABB4-B626-0EE5DC1E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21B2-D51D-48A6-B985-DAADF19F2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122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47935-0081-E231-0841-213ED8519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BC878-FEBB-6363-59BB-2230BDB35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8E6C3-ACDE-0E3B-F565-A6029620E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7CA28-EBA6-46C6-8D73-7FA509A06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7C02-7985-455F-8809-D6CBD317C648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D46AE-48E4-DEFD-F368-8FD35F67B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E7A32-AA64-A074-77E0-B49BA1B5A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21B2-D51D-48A6-B985-DAADF19F2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707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2024F-C12B-DDB5-D473-7752120EB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C39280-C054-1D6D-FE45-FEE67B0E2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BA04E-6C31-4117-7079-0EA747151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DD2DC-164E-77EC-60AC-F7C8B3E70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7C02-7985-455F-8809-D6CBD317C648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E1ED3-7CE6-E75D-3630-D11E0C969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F7AA1-E6CA-D94D-CBB6-CB247C503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21B2-D51D-48A6-B985-DAADF19F2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466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CC4EA-282C-8FB0-1424-C2650EE9D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9BA75-E047-9FDB-56EB-4C7B024F0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548FA-F928-7EF2-E906-3291C09B9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7C02-7985-455F-8809-D6CBD317C648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C888A-1B5A-4334-A4A9-6FE3C3B7B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FA811-ACB5-3439-BDA6-7A499A643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21B2-D51D-48A6-B985-DAADF19F2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431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6EEE5-06DC-412E-5ABB-4F43D3FE4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936D50-480D-8CA4-CD2A-34F2EB934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1E736-6D36-74C4-1D99-3424E3333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7C02-7985-455F-8809-D6CBD317C648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EE0E7-4F47-7DFC-AAB2-7A6F0CC73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24363-F271-8BAE-4B44-8462594A1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21B2-D51D-48A6-B985-DAADF19F2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48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A52857-EDB7-C69C-B3DD-FF2A7A405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C8E3A-1D28-AB8D-98E6-7B6BAFC4E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46AEC-8BA1-3742-C072-D95BFF5BA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C7C02-7985-455F-8809-D6CBD317C648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D0123-0C0D-FAF7-5803-38826F78B0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C0B49-1F8A-EFBE-FF54-99FAC96DC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C21B2-D51D-48A6-B985-DAADF19F2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783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CA1EB9-3405-1328-AE91-767A7144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86062"/>
          </a:xfrm>
        </p:spPr>
        <p:txBody>
          <a:bodyPr>
            <a:noAutofit/>
          </a:bodyPr>
          <a:lstStyle/>
          <a:p>
            <a:pPr algn="ctr"/>
            <a:r>
              <a:rPr lang="en-IN" sz="9600" dirty="0">
                <a:latin typeface="Algerian" panose="04020705040A02060702" pitchFamily="82" charset="0"/>
              </a:rPr>
              <a:t>ABC ELECTRONICS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194BF-D1DD-0827-3C89-E354D9D20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148262"/>
            <a:ext cx="10515600" cy="941388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tx1"/>
                </a:solidFill>
                <a:latin typeface="Algerian" panose="04020705040A02060702" pitchFamily="82" charset="0"/>
              </a:rPr>
              <a:t>REGIONAL SALES PERFORMANCE ANALYSIS ( 2022 – 2024)</a:t>
            </a:r>
          </a:p>
        </p:txBody>
      </p:sp>
    </p:spTree>
    <p:extLst>
      <p:ext uri="{BB962C8B-B14F-4D97-AF65-F5344CB8AC3E}">
        <p14:creationId xmlns:p14="http://schemas.microsoft.com/office/powerpoint/2010/main" val="1990212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83B2C42-F013-1B1F-2231-A25CADE6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objective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FE0D1E-DA86-F459-7BDB-188D0797E2FA}"/>
              </a:ext>
            </a:extLst>
          </p:cNvPr>
          <p:cNvSpPr txBox="1"/>
          <p:nvPr/>
        </p:nvSpPr>
        <p:spPr>
          <a:xfrm>
            <a:off x="838199" y="1552251"/>
            <a:ext cx="1077369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Bookman Old Style" panose="02050604050505020204" pitchFamily="18" charset="0"/>
              </a:rPr>
              <a:t>Analyze sales performance across regions and product categories. 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Bookman Old Style" panose="02050604050505020204" pitchFamily="18" charset="0"/>
              </a:rPr>
              <a:t>Data Source: Sales records from 2022–2024, covering 4000 orders.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Bookman Old Style" panose="02050604050505020204" pitchFamily="18" charset="0"/>
              </a:rPr>
              <a:t>Key Metrics: Sales Amount, Profit, Quantity Sold, Discount (%).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Bookman Old Style" panose="02050604050505020204" pitchFamily="18" charset="0"/>
              </a:rPr>
              <a:t>Focus: Regional performance, product category trends, and regression insights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0172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0A47D-D33A-5433-CDBB-E75F51904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Bookman Old Style" panose="02050604050505020204" pitchFamily="18" charset="0"/>
              </a:rPr>
              <a:t>SALES BY REGION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747C8D9-EE37-F489-7600-4F62CE0E3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370518"/>
              </p:ext>
            </p:extLst>
          </p:nvPr>
        </p:nvGraphicFramePr>
        <p:xfrm>
          <a:off x="838200" y="1476750"/>
          <a:ext cx="601488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4961">
                  <a:extLst>
                    <a:ext uri="{9D8B030D-6E8A-4147-A177-3AD203B41FA5}">
                      <a16:colId xmlns:a16="http://schemas.microsoft.com/office/drawing/2014/main" val="4097064005"/>
                    </a:ext>
                  </a:extLst>
                </a:gridCol>
                <a:gridCol w="2004961">
                  <a:extLst>
                    <a:ext uri="{9D8B030D-6E8A-4147-A177-3AD203B41FA5}">
                      <a16:colId xmlns:a16="http://schemas.microsoft.com/office/drawing/2014/main" val="3254875374"/>
                    </a:ext>
                  </a:extLst>
                </a:gridCol>
                <a:gridCol w="2004961">
                  <a:extLst>
                    <a:ext uri="{9D8B030D-6E8A-4147-A177-3AD203B41FA5}">
                      <a16:colId xmlns:a16="http://schemas.microsoft.com/office/drawing/2014/main" val="24834714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TOTAL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TOTAL 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749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2595496.48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dirty="0"/>
                        <a:t>1,057,614.84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55494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2539669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dirty="0"/>
                        <a:t>1,032,672.11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95413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2494411.28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dirty="0"/>
                        <a:t>1,010,902.55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2172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2480206.93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dirty="0"/>
                        <a:t>998,827.14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1030695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F38AC0D-A9A7-0ED7-BC6F-3F3C65980D1B}"/>
              </a:ext>
            </a:extLst>
          </p:cNvPr>
          <p:cNvSpPr txBox="1"/>
          <p:nvPr/>
        </p:nvSpPr>
        <p:spPr>
          <a:xfrm>
            <a:off x="838200" y="3527050"/>
            <a:ext cx="10515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ookman Old Style" panose="02050604050505020204" pitchFamily="18" charset="0"/>
              </a:rPr>
              <a:t>East leads with ₹2.60M in sales, followed closely by North (₹2.54M). South and West have similar sales, around ₹2.48M–2.49M. 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477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2B2B7C-CFEF-94A9-998C-50BDC1D90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Algerian" panose="04020705040A02060702" pitchFamily="82" charset="0"/>
              </a:rPr>
              <a:t>SALES &amp; Profit by product category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CB8531-C90C-6223-45DF-BEF67F927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967967"/>
              </p:ext>
            </p:extLst>
          </p:nvPr>
        </p:nvGraphicFramePr>
        <p:xfrm>
          <a:off x="1365045" y="1503875"/>
          <a:ext cx="9461910" cy="3048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3970">
                  <a:extLst>
                    <a:ext uri="{9D8B030D-6E8A-4147-A177-3AD203B41FA5}">
                      <a16:colId xmlns:a16="http://schemas.microsoft.com/office/drawing/2014/main" val="2991868304"/>
                    </a:ext>
                  </a:extLst>
                </a:gridCol>
                <a:gridCol w="3153970">
                  <a:extLst>
                    <a:ext uri="{9D8B030D-6E8A-4147-A177-3AD203B41FA5}">
                      <a16:colId xmlns:a16="http://schemas.microsoft.com/office/drawing/2014/main" val="1245134308"/>
                    </a:ext>
                  </a:extLst>
                </a:gridCol>
                <a:gridCol w="3153970">
                  <a:extLst>
                    <a:ext uri="{9D8B030D-6E8A-4147-A177-3AD203B41FA5}">
                      <a16:colId xmlns:a16="http://schemas.microsoft.com/office/drawing/2014/main" val="1323013734"/>
                    </a:ext>
                  </a:extLst>
                </a:gridCol>
              </a:tblGrid>
              <a:tr h="50807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lgerian" panose="04020705040A02060702" pitchFamily="82" charset="0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lgerian" panose="04020705040A02060702" pitchFamily="82" charset="0"/>
                        </a:rPr>
                        <a:t>Sum of Sales (₹)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lgerian" panose="04020705040A02060702" pitchFamily="82" charset="0"/>
                        </a:rPr>
                        <a:t>Sum of Profit (₹)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791115"/>
                  </a:ext>
                </a:extLst>
              </a:tr>
              <a:tr h="508077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1,066,952.53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405,315.01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55743"/>
                  </a:ext>
                </a:extLst>
              </a:tr>
              <a:tr h="508077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CLOTHING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1,021,723.71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431,040.32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817804"/>
                  </a:ext>
                </a:extLst>
              </a:tr>
              <a:tr h="508077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FURNITURE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996,385.63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398,308.01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97288"/>
                  </a:ext>
                </a:extLst>
              </a:tr>
              <a:tr h="508077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SPORTS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946,980.57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389,834.62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247840"/>
                  </a:ext>
                </a:extLst>
              </a:tr>
              <a:tr h="508077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GROCERIES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942,575.77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385,231.73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0963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5A808C3-B8D8-6205-99F1-AEFCA5D72611}"/>
              </a:ext>
            </a:extLst>
          </p:cNvPr>
          <p:cNvSpPr txBox="1"/>
          <p:nvPr/>
        </p:nvSpPr>
        <p:spPr>
          <a:xfrm>
            <a:off x="1147096" y="4828089"/>
            <a:ext cx="94619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ookman Old Style" panose="02050604050505020204" pitchFamily="18" charset="0"/>
              </a:rPr>
              <a:t>Electronics has the highest sales (₹1.07M), followed by Clothing (₹1.02M). Clothing yields the highest profit (₹431K), despite lower sales than Electronics. 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878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D9073-01AD-43FE-BEED-CA4B8E218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lgerian" panose="04020705040A02060702" pitchFamily="82" charset="0"/>
              </a:rPr>
              <a:t>Sales Distribution by Region and Category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4CF338-372C-CDFC-59A3-FA99952B737B}"/>
              </a:ext>
            </a:extLst>
          </p:cNvPr>
          <p:cNvSpPr txBox="1"/>
          <p:nvPr/>
        </p:nvSpPr>
        <p:spPr>
          <a:xfrm>
            <a:off x="838200" y="5798094"/>
            <a:ext cx="9780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Insight: Electronics dominates in West, while Clothing leads in South</a:t>
            </a:r>
            <a:endParaRPr lang="en-IN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F51FA8-DB07-A0EC-63F8-550BAA3B1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308297"/>
              </p:ext>
            </p:extLst>
          </p:nvPr>
        </p:nvGraphicFramePr>
        <p:xfrm>
          <a:off x="1038941" y="1437421"/>
          <a:ext cx="8911303" cy="4090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1303">
                  <a:extLst>
                    <a:ext uri="{9D8B030D-6E8A-4147-A177-3AD203B41FA5}">
                      <a16:colId xmlns:a16="http://schemas.microsoft.com/office/drawing/2014/main" val="2161484043"/>
                    </a:ext>
                  </a:extLst>
                </a:gridCol>
              </a:tblGrid>
              <a:tr h="79895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Stacked Bar Chart 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49199"/>
                  </a:ext>
                </a:extLst>
              </a:tr>
              <a:tr h="260109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ookman Old Style" panose="02050604050505020204" pitchFamily="18" charset="0"/>
                        </a:rPr>
                        <a:t>A stacked bar chart illustrates sales distribution: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Bookman Old Style" panose="02050604050505020204" pitchFamily="18" charset="0"/>
                        </a:rPr>
                        <a:t>Each bar represents a region (South, West).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Bookman Old Style" panose="02050604050505020204" pitchFamily="18" charset="0"/>
                        </a:rPr>
                        <a:t>Segments within each bar show sales for Clothing, Electronics, Furniture, Groceries, and Sports.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Bookman Old Style" panose="02050604050505020204" pitchFamily="18" charset="0"/>
                        </a:rPr>
                        <a:t>South: ₹529K (Clothing), ₹492K (Electronics), ₹488K (Sports), etc.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Bookman Old Style" panose="02050604050505020204" pitchFamily="18" charset="0"/>
                        </a:rPr>
                        <a:t>West: ₹574K (Electronics), ₹508K (Furniture), ₹492K (Clothing), etc.</a:t>
                      </a:r>
                    </a:p>
                    <a:p>
                      <a:endParaRPr lang="en-IN" dirty="0"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5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2105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A1EC1-2B6D-95EC-140D-A0B9526E9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Impact of Discount on Sales</a:t>
            </a:r>
            <a:endParaRPr lang="en-IN" dirty="0">
              <a:latin typeface="Algerian" panose="04020705040A02060702" pitchFamily="8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608DDB-1C02-6D32-41E6-BDCCBA4A1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032117"/>
              </p:ext>
            </p:extLst>
          </p:nvPr>
        </p:nvGraphicFramePr>
        <p:xfrm>
          <a:off x="838200" y="1506244"/>
          <a:ext cx="8128000" cy="4511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623883609"/>
                    </a:ext>
                  </a:extLst>
                </a:gridCol>
              </a:tblGrid>
              <a:tr h="959422">
                <a:tc>
                  <a:txBody>
                    <a:bodyPr/>
                    <a:lstStyle/>
                    <a:p>
                      <a:r>
                        <a:rPr lang="en-US" dirty="0"/>
                        <a:t>Regression Analysis: (Sales Amount vs. Discount (%))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057190"/>
                  </a:ext>
                </a:extLst>
              </a:tr>
              <a:tr h="3551675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Regression Equation: Sales Amount = 1.714 * Discount (%) + 2484.975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R-squared: 0.0003 (very low, indicating weak explanatory power)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p-value: 0.268 (not significant at p &lt; 0.05)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Standard Error: 1421.55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Finding: Discount percentage has minimal impact on sales amount.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dirty="0">
                          <a:latin typeface="Bookman Old Style" panose="02050604050505020204" pitchFamily="18" charset="0"/>
                        </a:rPr>
                        <a:t>Implication: Other factors (e.g., product category, region) may drive sales more significantly</a:t>
                      </a:r>
                      <a:endParaRPr lang="en-IN" sz="2000" dirty="0">
                        <a:latin typeface="Bookman Old Style" panose="020506040505050202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083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061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18048-69C7-CB4C-D498-E968104F6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Conclusion and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E564DD-0994-2A6B-5DE5-291F8982E03C}"/>
              </a:ext>
            </a:extLst>
          </p:cNvPr>
          <p:cNvSpPr txBox="1"/>
          <p:nvPr/>
        </p:nvSpPr>
        <p:spPr>
          <a:xfrm>
            <a:off x="923924" y="1503313"/>
            <a:ext cx="983932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</a:rPr>
              <a:t>East and North are top-performing regions; consider targeted marketing to boost South and West.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</a:rPr>
              <a:t>Clothing and Electronics are high-performing categories; optimize inventory for these.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</a:rPr>
              <a:t>Discounts show weak correlation with sales; explore alternative strategies (e.g., promotions, bundling).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okman Old Style" panose="02050604050505020204" pitchFamily="18" charset="0"/>
              </a:rPr>
              <a:t>Interesting Fact: Clothing has the highest profit margin despite lower sales than Electronics, suggesting higher per-unit profitability. 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141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Bookman Old Style</vt:lpstr>
      <vt:lpstr>Calibri</vt:lpstr>
      <vt:lpstr>Calibri Light</vt:lpstr>
      <vt:lpstr>Office Theme</vt:lpstr>
      <vt:lpstr>ABC ELECTRONICS</vt:lpstr>
      <vt:lpstr>objective</vt:lpstr>
      <vt:lpstr>SALES BY REGION</vt:lpstr>
      <vt:lpstr>SALES &amp; Profit by product category</vt:lpstr>
      <vt:lpstr>Sales Distribution by Region and Category</vt:lpstr>
      <vt:lpstr>Impact of Discount on Sales</vt:lpstr>
      <vt:lpstr>Conclusion and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Jayendran SUBRAMANIAN</dc:creator>
  <cp:lastModifiedBy>Jayendran SUBRAMANIAN</cp:lastModifiedBy>
  <cp:revision>1</cp:revision>
  <dcterms:created xsi:type="dcterms:W3CDTF">2025-09-06T06:34:04Z</dcterms:created>
  <dcterms:modified xsi:type="dcterms:W3CDTF">2025-09-06T06:34:24Z</dcterms:modified>
</cp:coreProperties>
</file>