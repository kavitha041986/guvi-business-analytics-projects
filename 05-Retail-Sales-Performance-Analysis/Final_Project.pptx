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AB7CA2-FD0F-EF43-9EEB-15995AEDD43E}"/>
              </a:ext>
            </a:extLst>
          </p:cNvPr>
          <p:cNvSpPr txBox="1"/>
          <p:nvPr/>
        </p:nvSpPr>
        <p:spPr>
          <a:xfrm>
            <a:off x="106052" y="3136612"/>
            <a:ext cx="8773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Bookman Old Style" panose="02050604050505020204" pitchFamily="18" charset="0"/>
              </a:rPr>
              <a:t>RETAIL SALES PERFORMANCE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AC401-6ED0-E555-55C9-F16D7D79131F}"/>
              </a:ext>
            </a:extLst>
          </p:cNvPr>
          <p:cNvSpPr txBox="1"/>
          <p:nvPr/>
        </p:nvSpPr>
        <p:spPr>
          <a:xfrm>
            <a:off x="9351390" y="3136612"/>
            <a:ext cx="2394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MySQL | Excel Power BI | Tableau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130D1-D75D-9B17-916C-2298FF652DBF}"/>
              </a:ext>
            </a:extLst>
          </p:cNvPr>
          <p:cNvSpPr txBox="1"/>
          <p:nvPr/>
        </p:nvSpPr>
        <p:spPr>
          <a:xfrm>
            <a:off x="9209988" y="4826523"/>
            <a:ext cx="2906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Bookman Old Style" panose="02050604050505020204" pitchFamily="18" charset="0"/>
              </a:rPr>
              <a:t>By</a:t>
            </a:r>
          </a:p>
          <a:p>
            <a:pPr algn="ctr"/>
            <a:r>
              <a:rPr lang="en-IN" sz="1400" dirty="0">
                <a:latin typeface="Bookman Old Style" panose="02050604050505020204" pitchFamily="18" charset="0"/>
              </a:rPr>
              <a:t>KAVITHA JAYENDRAN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D56ED-F8D8-C076-8460-538E523BD608}"/>
              </a:ext>
            </a:extLst>
          </p:cNvPr>
          <p:cNvSpPr txBox="1"/>
          <p:nvPr/>
        </p:nvSpPr>
        <p:spPr>
          <a:xfrm>
            <a:off x="9624188" y="6287677"/>
            <a:ext cx="23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Bookman Old Style" panose="02050604050505020204" pitchFamily="18" charset="0"/>
              </a:rPr>
              <a:t>GUVI Final Project</a:t>
            </a:r>
          </a:p>
        </p:txBody>
      </p:sp>
    </p:spTree>
    <p:extLst>
      <p:ext uri="{BB962C8B-B14F-4D97-AF65-F5344CB8AC3E}">
        <p14:creationId xmlns:p14="http://schemas.microsoft.com/office/powerpoint/2010/main" val="427067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BE0FE9-C5EA-621D-0A24-6B2824AE2EC3}"/>
              </a:ext>
            </a:extLst>
          </p:cNvPr>
          <p:cNvSpPr txBox="1"/>
          <p:nvPr/>
        </p:nvSpPr>
        <p:spPr>
          <a:xfrm>
            <a:off x="405353" y="980386"/>
            <a:ext cx="8587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PROJECT OVERVIEW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F78970-2932-AA9F-008A-045FF3DF4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84" y="2039524"/>
            <a:ext cx="9832156" cy="430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Analyze retail sales data to understand sales performance and customer behavior.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Identify sales trends, top-performing products, customers, and countries.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Use SQL and Excel for data preparation and exploratory analysis.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Develop interactive dashboards using Power BI and Tableau.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Generate actionable business recommendations from the analysis. </a:t>
            </a:r>
          </a:p>
        </p:txBody>
      </p:sp>
    </p:spTree>
    <p:extLst>
      <p:ext uri="{BB962C8B-B14F-4D97-AF65-F5344CB8AC3E}">
        <p14:creationId xmlns:p14="http://schemas.microsoft.com/office/powerpoint/2010/main" val="230915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C40995-47E8-4343-BC9B-83AAE07AEC95}"/>
              </a:ext>
            </a:extLst>
          </p:cNvPr>
          <p:cNvSpPr txBox="1"/>
          <p:nvPr/>
        </p:nvSpPr>
        <p:spPr>
          <a:xfrm>
            <a:off x="1897145" y="974831"/>
            <a:ext cx="7096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PROJECT OBJECTIVES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5CAF4F3-6F72-17A9-C20D-6345BA8AD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899" y="2452414"/>
            <a:ext cx="9662474" cy="36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Clean and validate the retail sales dataset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Perform exploratory data analysis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Create interactive Power BI and Tableau dashboards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Analyze revenue, orders, products, and customers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Generate business insights and recommendations </a:t>
            </a:r>
          </a:p>
          <a:p>
            <a:pPr marL="342900" marR="0" lvl="0" indent="-3429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Identify country-wise and time-based sales trends </a:t>
            </a:r>
          </a:p>
        </p:txBody>
      </p:sp>
    </p:spTree>
    <p:extLst>
      <p:ext uri="{BB962C8B-B14F-4D97-AF65-F5344CB8AC3E}">
        <p14:creationId xmlns:p14="http://schemas.microsoft.com/office/powerpoint/2010/main" val="61481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D754E-A96A-507A-678F-74AA6E7BB40E}"/>
              </a:ext>
            </a:extLst>
          </p:cNvPr>
          <p:cNvSpPr txBox="1"/>
          <p:nvPr/>
        </p:nvSpPr>
        <p:spPr>
          <a:xfrm>
            <a:off x="341721" y="892891"/>
            <a:ext cx="85477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Bookman Old Style" panose="02050604050505020204" pitchFamily="18" charset="0"/>
              </a:rPr>
              <a:t>Dataset &amp; Technology Stack</a:t>
            </a:r>
          </a:p>
          <a:p>
            <a:pPr algn="ctr">
              <a:buNone/>
            </a:pPr>
            <a:r>
              <a:rPr lang="en-US" sz="3200" b="1" dirty="0">
                <a:latin typeface="Bookman Old Style" panose="02050604050505020204" pitchFamily="18" charset="0"/>
              </a:rPr>
              <a:t> 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2" name="Scroll: Vertical 1">
            <a:extLst>
              <a:ext uri="{FF2B5EF4-FFF2-40B4-BE49-F238E27FC236}">
                <a16:creationId xmlns:a16="http://schemas.microsoft.com/office/drawing/2014/main" id="{D7F87E3B-C9CC-6CB9-3772-7FE43AB36EC7}"/>
              </a:ext>
            </a:extLst>
          </p:cNvPr>
          <p:cNvSpPr/>
          <p:nvPr/>
        </p:nvSpPr>
        <p:spPr>
          <a:xfrm>
            <a:off x="81711" y="2123769"/>
            <a:ext cx="6014289" cy="4640826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TOOLS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MySQL – Data preparation, validation &amp; SQL analysis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Excel – Data preparation, pivot analysis &amp; trends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Power BI – Interactive dashboard &amp; KPIs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Tableau – Interactive visualization &amp; dashboard </a:t>
            </a:r>
          </a:p>
        </p:txBody>
      </p: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352AA1F1-A99D-C053-FA3E-12DDD658B469}"/>
              </a:ext>
            </a:extLst>
          </p:cNvPr>
          <p:cNvSpPr/>
          <p:nvPr/>
        </p:nvSpPr>
        <p:spPr>
          <a:xfrm>
            <a:off x="6351639" y="2222089"/>
            <a:ext cx="5624051" cy="4424517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6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INITIAL DATA PREPARATION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Imported CSV into MySQL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Renamed Customer ID to Customer_ID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Converted Invoice Date from TEXT to DATETIME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Created Revenue = Quantity × Price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Verified record count and table structure</a:t>
            </a:r>
          </a:p>
        </p:txBody>
      </p:sp>
    </p:spTree>
    <p:extLst>
      <p:ext uri="{BB962C8B-B14F-4D97-AF65-F5344CB8AC3E}">
        <p14:creationId xmlns:p14="http://schemas.microsoft.com/office/powerpoint/2010/main" val="296204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9581D-CEA5-0EE5-D637-324613FD2B3C}"/>
              </a:ext>
            </a:extLst>
          </p:cNvPr>
          <p:cNvSpPr txBox="1"/>
          <p:nvPr/>
        </p:nvSpPr>
        <p:spPr>
          <a:xfrm>
            <a:off x="487887" y="946145"/>
            <a:ext cx="96590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SQL ANALYSIS: KEY ANALYSES</a:t>
            </a: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F5D456EB-F45B-92F6-ECB9-AD009EC7F981}"/>
              </a:ext>
            </a:extLst>
          </p:cNvPr>
          <p:cNvSpPr/>
          <p:nvPr/>
        </p:nvSpPr>
        <p:spPr>
          <a:xfrm>
            <a:off x="412955" y="2359742"/>
            <a:ext cx="4493341" cy="417871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Key SQL Analyses</a:t>
            </a:r>
            <a:endParaRPr lang="en-US" sz="1600" u="sng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Monthly Sales Revenue Trend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Revenue by Country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Top 10 Products by Revenue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Top 10 Products by Quantity </a:t>
            </a:r>
          </a:p>
          <a:p>
            <a:pPr marL="285750" indent="-28575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Top 10 Customers by Total Spending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A48F0135-037E-D18A-5DD9-DE484881529F}"/>
              </a:ext>
            </a:extLst>
          </p:cNvPr>
          <p:cNvSpPr/>
          <p:nvPr/>
        </p:nvSpPr>
        <p:spPr>
          <a:xfrm>
            <a:off x="6656439" y="2359742"/>
            <a:ext cx="5004619" cy="3979606"/>
          </a:xfrm>
          <a:prstGeom prst="wedgeEllipseCallout">
            <a:avLst>
              <a:gd name="adj1" fmla="val -76977"/>
              <a:gd name="adj2" fmla="val 346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bg1"/>
                </a:solidFill>
                <a:latin typeface="Bookman Old Style" panose="02050604050505020204" pitchFamily="18" charset="0"/>
              </a:rPr>
              <a:t>Purpose of SQL Analysis</a:t>
            </a:r>
            <a:endParaRPr lang="en-US" u="sng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To identify revenue trends, high-performing products, major markets, and high-value customers from the retail sales data.</a:t>
            </a:r>
          </a:p>
        </p:txBody>
      </p:sp>
    </p:spTree>
    <p:extLst>
      <p:ext uri="{BB962C8B-B14F-4D97-AF65-F5344CB8AC3E}">
        <p14:creationId xmlns:p14="http://schemas.microsoft.com/office/powerpoint/2010/main" val="18332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4DBA3-D173-2A33-7069-77620A04DF4B}"/>
              </a:ext>
            </a:extLst>
          </p:cNvPr>
          <p:cNvSpPr txBox="1"/>
          <p:nvPr/>
        </p:nvSpPr>
        <p:spPr>
          <a:xfrm>
            <a:off x="1406950" y="955977"/>
            <a:ext cx="7048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BB75E-6C47-E9D2-1B28-1F7B081F2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1" y="2092750"/>
            <a:ext cx="8088198" cy="4562573"/>
          </a:xfrm>
          <a:prstGeom prst="rect">
            <a:avLst/>
          </a:prstGeom>
        </p:spPr>
      </p:pic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73553FB2-503F-D725-DE39-8AE86F363D7C}"/>
              </a:ext>
            </a:extLst>
          </p:cNvPr>
          <p:cNvSpPr/>
          <p:nvPr/>
        </p:nvSpPr>
        <p:spPr>
          <a:xfrm>
            <a:off x="8568966" y="2328421"/>
            <a:ext cx="3516198" cy="3601039"/>
          </a:xfrm>
          <a:prstGeom prst="cloudCallout">
            <a:avLst>
              <a:gd name="adj1" fmla="val -54077"/>
              <a:gd name="adj2" fmla="val 5752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Interactive dashboard developed to monitor overall sales performance, revenue trends, product performance, and customer spending.</a:t>
            </a:r>
            <a:endParaRPr lang="en-IN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66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781D55-4757-5B26-28BF-7942AFA3FB44}"/>
              </a:ext>
            </a:extLst>
          </p:cNvPr>
          <p:cNvSpPr txBox="1"/>
          <p:nvPr/>
        </p:nvSpPr>
        <p:spPr>
          <a:xfrm>
            <a:off x="0" y="974831"/>
            <a:ext cx="104236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Bookman Old Style" panose="02050604050505020204" pitchFamily="18" charset="0"/>
              </a:rPr>
              <a:t>TABLEAU DASHBOARD – RETAIL SALES ANALYSIS</a:t>
            </a:r>
            <a:endParaRPr lang="en-IN" sz="3000" b="1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61FA7-62AA-18E1-41D1-593CF38B7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6" y="2138578"/>
            <a:ext cx="6589335" cy="4613783"/>
          </a:xfrm>
          <a:prstGeom prst="rect">
            <a:avLst/>
          </a:prstGeom>
        </p:spPr>
      </p:pic>
      <p:sp>
        <p:nvSpPr>
          <p:cNvPr id="8" name="Cloud 7">
            <a:extLst>
              <a:ext uri="{FF2B5EF4-FFF2-40B4-BE49-F238E27FC236}">
                <a16:creationId xmlns:a16="http://schemas.microsoft.com/office/drawing/2014/main" id="{67F41BCC-3E9F-C728-38F9-F47D3E07A7C6}"/>
              </a:ext>
            </a:extLst>
          </p:cNvPr>
          <p:cNvSpPr/>
          <p:nvPr/>
        </p:nvSpPr>
        <p:spPr>
          <a:xfrm>
            <a:off x="6853287" y="2234154"/>
            <a:ext cx="4942787" cy="391212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Interactive Tableau dashboard created to analyze sales trends, country-wise revenue, product performance, and customer spending.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41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9C696-A3AB-A20B-663C-F65936F7EEE8}"/>
              </a:ext>
            </a:extLst>
          </p:cNvPr>
          <p:cNvSpPr txBox="1"/>
          <p:nvPr/>
        </p:nvSpPr>
        <p:spPr>
          <a:xfrm>
            <a:off x="1472938" y="955976"/>
            <a:ext cx="7567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KEY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14C7C5-40AB-1AA6-669C-38DE0489E592}"/>
              </a:ext>
            </a:extLst>
          </p:cNvPr>
          <p:cNvSpPr txBox="1"/>
          <p:nvPr/>
        </p:nvSpPr>
        <p:spPr>
          <a:xfrm>
            <a:off x="141400" y="2119281"/>
            <a:ext cx="7739408" cy="425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REVENUE PERFORMANCE</a:t>
            </a:r>
            <a:b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Total revenue reached </a:t>
            </a: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6,099.2M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, indicating strong overall sales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COUNTRY PERFORMANCE</a:t>
            </a:r>
            <a:b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</a:t>
            </a: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United Kingdom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 is the dominant revenue-generating country, significantly ahead of the other markets.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PRODUCT PERFORMANCE</a:t>
            </a:r>
            <a:b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Product_4076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 ranks first by revenue, while </a:t>
            </a: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Product_2694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 ranks first by quantity sold.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VALUE</a:t>
            </a:r>
            <a:b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Customer </a:t>
            </a: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18282</a:t>
            </a: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 has the highest total spending among the top 10 customers.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SALES TREND</a:t>
            </a:r>
            <a:b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Monthly revenue remains relatively consistent overall, with noticeable fluctuations and periodic peaks and dips.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266A1DE3-D494-86FF-5D96-A5DBF7A54CB0}"/>
              </a:ext>
            </a:extLst>
          </p:cNvPr>
          <p:cNvSpPr/>
          <p:nvPr/>
        </p:nvSpPr>
        <p:spPr>
          <a:xfrm>
            <a:off x="7720552" y="2484935"/>
            <a:ext cx="4194928" cy="3891281"/>
          </a:xfrm>
          <a:prstGeom prst="leftArrowCallout">
            <a:avLst>
              <a:gd name="adj1" fmla="val 16979"/>
              <a:gd name="adj2" fmla="val 12701"/>
              <a:gd name="adj3" fmla="val 25000"/>
              <a:gd name="adj4" fmla="val 744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Overall, the analysis highlights strong revenue concentration in the UK, high-performing products, and a group of high-value customers that can be targeted for growth and retention.</a:t>
            </a:r>
            <a:endParaRPr lang="en-IN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7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A78CF6-1A6B-C7D3-E525-D9072E4BD676}"/>
              </a:ext>
            </a:extLst>
          </p:cNvPr>
          <p:cNvSpPr txBox="1"/>
          <p:nvPr/>
        </p:nvSpPr>
        <p:spPr>
          <a:xfrm>
            <a:off x="1746315" y="927697"/>
            <a:ext cx="73694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BUSINESS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54BD6-A720-C07F-8F05-34DD7017B03F}"/>
              </a:ext>
            </a:extLst>
          </p:cNvPr>
          <p:cNvSpPr txBox="1"/>
          <p:nvPr/>
        </p:nvSpPr>
        <p:spPr>
          <a:xfrm>
            <a:off x="228601" y="2093026"/>
            <a:ext cx="78784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Strengthen the UK Market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Focus on customer retention, targeted promotions, and inventory availability in the highest-revenue market.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Promote High-Performing Products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Prioritize top-revenue and high-volume products through targeted campaigns and product placement.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Retain High-Value Customers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Introduce loyalty offers and personalized promotions for customers with consistently high spending.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Optimize Inventory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Maintain sufficient stock for high-quantity products to reduce the risk of missed sales opportunities.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Monitor Sales Trends</a:t>
            </a:r>
            <a:b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Use the Power BI and Tableau dashboards regularly to track revenue fluctuations and support timely business decisions.</a:t>
            </a: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4A96FABA-EA4A-0BC4-A783-A1DC52E88F00}"/>
              </a:ext>
            </a:extLst>
          </p:cNvPr>
          <p:cNvSpPr/>
          <p:nvPr/>
        </p:nvSpPr>
        <p:spPr>
          <a:xfrm>
            <a:off x="8644379" y="2243579"/>
            <a:ext cx="3063711" cy="438346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Data-driven decisions can improve customer retention, product performance, inventory planning, and overall revenue growth.</a:t>
            </a:r>
            <a:endParaRPr lang="en-IN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2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5CF881F-8AB3-76DF-0409-0AB9344D6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21" y="1974094"/>
            <a:ext cx="11802357" cy="336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The retail sales dataset was successfully cleaned, validated, and analyzed using SQL.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Power BI and Tableau were used to create interactive dashboards for sales performance monitoring.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The analysis identified key markets, high-performing products, and high-value customers.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The findings can support better marketing, customer retention, inventory planning, and revenue-growth decisions.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Overall, the project demonstrates how data-driven analysis can transform retail sales data into actionable business insights.</a:t>
            </a:r>
          </a:p>
        </p:txBody>
      </p:sp>
      <p:sp>
        <p:nvSpPr>
          <p:cNvPr id="6" name="Ribbon: Tilted Down 5">
            <a:extLst>
              <a:ext uri="{FF2B5EF4-FFF2-40B4-BE49-F238E27FC236}">
                <a16:creationId xmlns:a16="http://schemas.microsoft.com/office/drawing/2014/main" id="{2E57560F-77DD-7F16-AAB8-29911DC13D69}"/>
              </a:ext>
            </a:extLst>
          </p:cNvPr>
          <p:cNvSpPr/>
          <p:nvPr/>
        </p:nvSpPr>
        <p:spPr>
          <a:xfrm>
            <a:off x="1725105" y="5341106"/>
            <a:ext cx="7173798" cy="1338606"/>
          </a:xfrm>
          <a:prstGeom prst="ribbon">
            <a:avLst>
              <a:gd name="adj1" fmla="val 16667"/>
              <a:gd name="adj2" fmla="val 699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From raw data to actionable business insights</a:t>
            </a:r>
            <a:endParaRPr lang="en-IN" sz="1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E0D7D-4AFE-8522-D42D-04DC37F4CBEA}"/>
              </a:ext>
            </a:extLst>
          </p:cNvPr>
          <p:cNvSpPr txBox="1"/>
          <p:nvPr/>
        </p:nvSpPr>
        <p:spPr>
          <a:xfrm>
            <a:off x="1611984" y="932119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5273238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104</TotalTime>
  <Words>604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Trebuchet MS</vt:lpstr>
      <vt:lpstr>Wingdings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4</cp:revision>
  <dcterms:created xsi:type="dcterms:W3CDTF">2026-08-09T17:46:25Z</dcterms:created>
  <dcterms:modified xsi:type="dcterms:W3CDTF">2026-08-19T04:59:24Z</dcterms:modified>
</cp:coreProperties>
</file>