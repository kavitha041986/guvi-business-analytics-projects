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9" r:id="rId5"/>
    <p:sldId id="261" r:id="rId6"/>
    <p:sldId id="262" r:id="rId7"/>
    <p:sldId id="274" r:id="rId8"/>
    <p:sldId id="27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59C0-3092-A403-BAF4-67F51AF8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49520-6861-948C-C7FD-A41CEC92C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61C14-6DA8-344D-AAB5-6C45CFA1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D0FE6-749C-30AF-38DB-17C25D49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5F278-6C24-FA3C-8471-A3084174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2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7865-10C3-9214-A9C7-3FCA8601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3BEE9-413B-5F32-363D-29B86121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ACD8-D156-FF2B-C95E-87B07D1E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B3CEB-8E5C-A847-553C-919AC43F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EB92-C904-CB17-4A51-B2BC9F6D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37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CD08-57A6-F36D-C1C6-C578FC9C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5BD15-C59A-1F25-66B3-43A14AFBB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3C5F7-6D69-69AC-D749-3BDB3300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04635-24A3-2C1F-DFA5-A0C36C04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241D-6E5B-6EB9-189A-FBB8B842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0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73C2-7359-27F8-208F-95E66F8B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34F5-7AE8-9315-1028-21299931B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5B0AD-D972-4836-13B6-DDF4B526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666F3-087E-E699-BC7F-B37EB342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84785-4761-5ADA-3762-27E0646B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AD2F2-6231-5F96-0216-B75EF86E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6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FB3D-7AFA-8F81-AC3D-460A6857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2B8C4-B053-5825-8B65-08B79C3E8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DD149-BA3A-6415-7A41-7E08ACA63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720AA-477D-7E9E-F687-EA0953639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F48EA-EC6C-C295-9071-17BE64720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639DD-B5E9-514C-4A9D-020BE10B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1BB1D-933E-1598-FBC1-84FF37B0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B5411-695F-8AC1-05E2-A6D26A84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86CF-3EEB-F370-19C5-877B79A2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59911-8978-43F4-471E-227B1934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10129-0D29-365A-AD94-B24F973D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A687-A8E0-95D1-59CF-91814CAD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45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C843C-8294-3CED-A27A-F86FA5B9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390DF-8910-01EB-F779-42607B38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C90BD-918F-6FA9-0714-9181575F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44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2778-A7AB-5A0F-4AD5-50CCFCEA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8F7D-A840-FCF5-EA68-384D77429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6E9A8-9409-C3D4-8413-253C0F565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603D9-8A41-DF73-C5FE-AD2CA9F2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E394E-0CA8-A52B-BB7D-9C05DE00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A6ABE-A4AD-C964-1561-2D9CD36A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57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00F4-D775-A0CA-3EEF-F6E3AED2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DEF100-F27F-7DC5-97C1-01271130C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7ABEB-A018-E5F3-AADB-90CDF5365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DFD7F-673B-B47F-7D79-BFA7ED82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536E9-FF99-ACE4-E59E-E5000191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9F269-E2F3-ECE6-2CFE-B3281586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9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C839-E1C6-6113-EE1A-03C81531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04B2-FCF3-2A66-59B2-C7B9F96AE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BB278-2EBC-F707-1645-61660161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A92B6-CA6D-C063-CAB8-6FE4BBD5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7BB6D-E3F0-E882-6EBA-4CCD7A76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3AD86-AE1A-F334-B3F2-7720F0506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6E7FB-2E42-EFF9-A730-160F18B40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22C67-A98D-A3AA-7D4D-A3C26448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8CB05-949C-0006-5401-0344024E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CA74-E11B-D4C4-0555-DD851FFA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18E48-BEF4-D0AF-9F2C-283E44DC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0C349-4E4C-9503-822D-285FDADC3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62662-53EF-974B-ED71-8AB329209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C946F-9C4D-4B01-BF6E-385CCEF686D8}" type="datetimeFigureOut">
              <a:rPr lang="en-IN" smtClean="0"/>
              <a:t>17-08-2025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25402-0ADA-86E2-76B9-D2EB19ED6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52A8-F07C-3C6C-0CA1-33377CC45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291D5-3ADF-4130-BA64-3923A686AD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8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582A2C-2DFC-9596-D469-1ABFB381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91"/>
          <a:stretch>
            <a:fillRect/>
          </a:stretch>
        </p:blipFill>
        <p:spPr>
          <a:xfrm>
            <a:off x="314325" y="251683"/>
            <a:ext cx="11582400" cy="639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7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C051B1-0460-0907-D60B-1AA60778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55501"/>
              </p:ext>
            </p:extLst>
          </p:nvPr>
        </p:nvGraphicFramePr>
        <p:xfrm>
          <a:off x="377072" y="292231"/>
          <a:ext cx="11331019" cy="1244338"/>
        </p:xfrm>
        <a:graphic>
          <a:graphicData uri="http://schemas.openxmlformats.org/drawingml/2006/table">
            <a:tbl>
              <a:tblPr/>
              <a:tblGrid>
                <a:gridCol w="11331019">
                  <a:extLst>
                    <a:ext uri="{9D8B030D-6E8A-4147-A177-3AD203B41FA5}">
                      <a16:colId xmlns:a16="http://schemas.microsoft.com/office/drawing/2014/main" val="2992801301"/>
                    </a:ext>
                  </a:extLst>
                </a:gridCol>
              </a:tblGrid>
              <a:tr h="1244338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5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lgerian" panose="04020705040A02060702" pitchFamily="82" charset="0"/>
                        </a:rPr>
                        <a:t>introduction to NYKAA</a:t>
                      </a:r>
                      <a:endParaRPr lang="en-IN" sz="54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6066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72A61D-0783-7B45-B353-C470FE7F0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370098"/>
              </p:ext>
            </p:extLst>
          </p:nvPr>
        </p:nvGraphicFramePr>
        <p:xfrm>
          <a:off x="377072" y="1828800"/>
          <a:ext cx="11349872" cy="4754880"/>
        </p:xfrm>
        <a:graphic>
          <a:graphicData uri="http://schemas.openxmlformats.org/drawingml/2006/table">
            <a:tbl>
              <a:tblPr/>
              <a:tblGrid>
                <a:gridCol w="11349872">
                  <a:extLst>
                    <a:ext uri="{9D8B030D-6E8A-4147-A177-3AD203B41FA5}">
                      <a16:colId xmlns:a16="http://schemas.microsoft.com/office/drawing/2014/main" val="3565158272"/>
                    </a:ext>
                  </a:extLst>
                </a:gridCol>
              </a:tblGrid>
              <a:tr h="4515439">
                <a:tc>
                  <a:txBody>
                    <a:bodyPr/>
                    <a:lstStyle/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600" b="1" dirty="0">
                          <a:latin typeface="Bookman Old Style" panose="02050604050505020204" pitchFamily="18" charset="0"/>
                        </a:rPr>
                        <a:t>Founded</a:t>
                      </a:r>
                      <a:r>
                        <a:rPr lang="en-IN" sz="3600" dirty="0">
                          <a:latin typeface="Bookman Old Style" panose="02050604050505020204" pitchFamily="18" charset="0"/>
                        </a:rPr>
                        <a:t>: 2012 by Falguni Nayar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600" b="1" dirty="0">
                          <a:latin typeface="Bookman Old Style" panose="02050604050505020204" pitchFamily="18" charset="0"/>
                        </a:rPr>
                        <a:t>Headquarters</a:t>
                      </a:r>
                      <a:r>
                        <a:rPr lang="en-IN" sz="3600" dirty="0">
                          <a:latin typeface="Bookman Old Style" panose="02050604050505020204" pitchFamily="18" charset="0"/>
                        </a:rPr>
                        <a:t>: Mumbai, Maharashtra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600" b="1" dirty="0">
                          <a:latin typeface="Bookman Old Style" panose="02050604050505020204" pitchFamily="18" charset="0"/>
                        </a:rPr>
                        <a:t>Industry</a:t>
                      </a:r>
                      <a:r>
                        <a:rPr lang="en-IN" sz="3600" dirty="0">
                          <a:latin typeface="Bookman Old Style" panose="02050604050505020204" pitchFamily="18" charset="0"/>
                        </a:rPr>
                        <a:t>: Beauty, Wellness, and Fashion E-commerce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600" b="1" dirty="0">
                          <a:latin typeface="Bookman Old Style" panose="02050604050505020204" pitchFamily="18" charset="0"/>
                        </a:rPr>
                        <a:t>Overview</a:t>
                      </a:r>
                      <a:r>
                        <a:rPr lang="en-IN" sz="3600" dirty="0">
                          <a:latin typeface="Bookman Old Style" panose="02050604050505020204" pitchFamily="18" charset="0"/>
                        </a:rPr>
                        <a:t>: Leading platform delivering high-quality beauty and wellness products globally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3600" b="1" dirty="0">
                          <a:latin typeface="Bookman Old Style" panose="02050604050505020204" pitchFamily="18" charset="0"/>
                        </a:rPr>
                        <a:t>Parent Organization</a:t>
                      </a:r>
                      <a:r>
                        <a:rPr lang="en-IN" sz="3600" dirty="0">
                          <a:latin typeface="Bookman Old Style" panose="02050604050505020204" pitchFamily="18" charset="0"/>
                        </a:rPr>
                        <a:t>: FSN E-commerce Ventures Pvt Ltd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47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59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BF9759-AE9B-8119-2EBD-6F92245A8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328220"/>
              </p:ext>
            </p:extLst>
          </p:nvPr>
        </p:nvGraphicFramePr>
        <p:xfrm>
          <a:off x="333375" y="381000"/>
          <a:ext cx="4162425" cy="6172200"/>
        </p:xfrm>
        <a:graphic>
          <a:graphicData uri="http://schemas.openxmlformats.org/drawingml/2006/table">
            <a:tbl>
              <a:tblPr/>
              <a:tblGrid>
                <a:gridCol w="4162425">
                  <a:extLst>
                    <a:ext uri="{9D8B030D-6E8A-4147-A177-3AD203B41FA5}">
                      <a16:colId xmlns:a16="http://schemas.microsoft.com/office/drawing/2014/main" val="3376432167"/>
                    </a:ext>
                  </a:extLst>
                </a:gridCol>
              </a:tblGrid>
              <a:tr h="61722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7612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4108E0-B455-0DA1-C935-8BBCD8CED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11207"/>
              </p:ext>
            </p:extLst>
          </p:nvPr>
        </p:nvGraphicFramePr>
        <p:xfrm>
          <a:off x="5067300" y="352424"/>
          <a:ext cx="6724650" cy="6200775"/>
        </p:xfrm>
        <a:graphic>
          <a:graphicData uri="http://schemas.openxmlformats.org/drawingml/2006/table">
            <a:tbl>
              <a:tblPr/>
              <a:tblGrid>
                <a:gridCol w="6724650">
                  <a:extLst>
                    <a:ext uri="{9D8B030D-6E8A-4147-A177-3AD203B41FA5}">
                      <a16:colId xmlns:a16="http://schemas.microsoft.com/office/drawing/2014/main" val="1158443717"/>
                    </a:ext>
                  </a:extLst>
                </a:gridCol>
              </a:tblGrid>
              <a:tr h="6200775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Background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Former banker, IIM Ahmedabad MBA in Finance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Career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8 years at A F Ferguson &amp; Co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19 years at Kotak Mahindra Group (Managing Director, Kotak Investment Banking)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Entrepreneurial Journey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Started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at age 50, proving age is no barrier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Inspiration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Empowering women entrepreneurs through her success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1549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8B341FA-B7FB-DFD6-8C6A-022B1C71A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381000"/>
            <a:ext cx="4162424" cy="61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1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415B30-BB56-7BFB-4CF3-1C0F5014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BEGINNING OF NYKAA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E540E9-E14A-5C76-0C44-AF50E3525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35891"/>
              </p:ext>
            </p:extLst>
          </p:nvPr>
        </p:nvGraphicFramePr>
        <p:xfrm>
          <a:off x="571500" y="1771650"/>
          <a:ext cx="11010900" cy="4562475"/>
        </p:xfrm>
        <a:graphic>
          <a:graphicData uri="http://schemas.openxmlformats.org/drawingml/2006/table">
            <a:tbl>
              <a:tblPr/>
              <a:tblGrid>
                <a:gridCol w="11010900">
                  <a:extLst>
                    <a:ext uri="{9D8B030D-6E8A-4147-A177-3AD203B41FA5}">
                      <a16:colId xmlns:a16="http://schemas.microsoft.com/office/drawing/2014/main" val="643215821"/>
                    </a:ext>
                  </a:extLst>
                </a:gridCol>
              </a:tblGrid>
              <a:tr h="4562475">
                <a:tc>
                  <a:txBody>
                    <a:bodyPr/>
                    <a:lstStyle/>
                    <a:p>
                      <a:pPr marL="34290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 Antiqua" panose="02040602050305030304" pitchFamily="18" charset="0"/>
                        </a:rPr>
                        <a:t>Motivation</a:t>
                      </a:r>
                      <a:r>
                        <a:rPr lang="en-US" sz="3200" dirty="0">
                          <a:latin typeface="Book Antiqua" panose="02040602050305030304" pitchFamily="18" charset="0"/>
                        </a:rPr>
                        <a:t>: Limited availability of beauty products in India compared to global markets (e.g., France, Japan)</a:t>
                      </a:r>
                    </a:p>
                    <a:p>
                      <a:pPr marL="34290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 Antiqua" panose="02040602050305030304" pitchFamily="18" charset="0"/>
                        </a:rPr>
                        <a:t>Starting Point</a:t>
                      </a:r>
                      <a:r>
                        <a:rPr lang="en-US" sz="3200" dirty="0">
                          <a:latin typeface="Book Antiqua" panose="02040602050305030304" pitchFamily="18" charset="0"/>
                        </a:rPr>
                        <a:t>: Launched with 3 employees, 60 orders initially</a:t>
                      </a:r>
                    </a:p>
                    <a:p>
                      <a:pPr marL="34290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 Antiqua" panose="02040602050305030304" pitchFamily="18" charset="0"/>
                        </a:rPr>
                        <a:t>Vision</a:t>
                      </a:r>
                      <a:r>
                        <a:rPr lang="en-US" sz="3200" dirty="0">
                          <a:latin typeface="Book Antiqua" panose="02040602050305030304" pitchFamily="18" charset="0"/>
                        </a:rPr>
                        <a:t>: Create a pioneering beauty and fashion e-commerce platform</a:t>
                      </a:r>
                    </a:p>
                    <a:p>
                      <a:pPr marL="34290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 Antiqua" panose="02040602050305030304" pitchFamily="18" charset="0"/>
                        </a:rPr>
                        <a:t>Key Insight</a:t>
                      </a:r>
                      <a:r>
                        <a:rPr lang="en-US" sz="3200" dirty="0">
                          <a:latin typeface="Book Antiqua" panose="02040602050305030304" pitchFamily="18" charset="0"/>
                        </a:rPr>
                        <a:t>: Passion, perseverance, and hard work lead to success at any age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145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99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129601-779F-1818-3BE7-7AF61045D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782620"/>
              </p:ext>
            </p:extLst>
          </p:nvPr>
        </p:nvGraphicFramePr>
        <p:xfrm>
          <a:off x="390525" y="457200"/>
          <a:ext cx="11344275" cy="1097280"/>
        </p:xfrm>
        <a:graphic>
          <a:graphicData uri="http://schemas.openxmlformats.org/drawingml/2006/table">
            <a:tbl>
              <a:tblPr/>
              <a:tblGrid>
                <a:gridCol w="11344275">
                  <a:extLst>
                    <a:ext uri="{9D8B030D-6E8A-4147-A177-3AD203B41FA5}">
                      <a16:colId xmlns:a16="http://schemas.microsoft.com/office/drawing/2014/main" val="3529441357"/>
                    </a:ext>
                  </a:extLst>
                </a:gridCol>
              </a:tblGrid>
              <a:tr h="923925">
                <a:tc>
                  <a:txBody>
                    <a:bodyPr/>
                    <a:lstStyle/>
                    <a:p>
                      <a:pPr algn="ctr"/>
                      <a:r>
                        <a:rPr lang="en-IN" sz="6600" b="1" dirty="0">
                          <a:latin typeface="Algerian" panose="04020705040A02060702" pitchFamily="82" charset="0"/>
                        </a:rPr>
                        <a:t>PRODUCTS AND SERVICES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2113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9B479F-FA13-4968-C08B-080526AD2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820546"/>
              </p:ext>
            </p:extLst>
          </p:nvPr>
        </p:nvGraphicFramePr>
        <p:xfrm>
          <a:off x="466725" y="1733550"/>
          <a:ext cx="11258550" cy="4937760"/>
        </p:xfrm>
        <a:graphic>
          <a:graphicData uri="http://schemas.openxmlformats.org/drawingml/2006/table">
            <a:tbl>
              <a:tblPr/>
              <a:tblGrid>
                <a:gridCol w="11258550">
                  <a:extLst>
                    <a:ext uri="{9D8B030D-6E8A-4147-A177-3AD203B41FA5}">
                      <a16:colId xmlns:a16="http://schemas.microsoft.com/office/drawing/2014/main" val="2250128894"/>
                    </a:ext>
                  </a:extLst>
                </a:gridCol>
              </a:tblGrid>
              <a:tr h="4543425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Product Range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1,30,000 products from 500+ brands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Categories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Makeup, Skincare, Hair, Appliances, Fragrance, Bath &amp; Body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Pop-ups (Bags, Footwear, Clutches), Mom &amp; Baby, Men’s Store, Natural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Content Offerings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i="1" dirty="0">
                          <a:latin typeface="Bookman Old Style" panose="02050604050505020204" pitchFamily="18" charset="0"/>
                        </a:rPr>
                        <a:t>Beauty Book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Digital magazine with blogs on beauty, fashion, fitness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i="1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500" i="1" dirty="0">
                          <a:latin typeface="Bookman Old Style" panose="02050604050505020204" pitchFamily="18" charset="0"/>
                        </a:rPr>
                        <a:t> TV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Makeup and beauty tip videos by experts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i="1" dirty="0">
                          <a:latin typeface="Bookman Old Style" panose="02050604050505020204" pitchFamily="18" charset="0"/>
                        </a:rPr>
                        <a:t>Beauty Buying Guides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Shopping assistance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Customer Support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Helpline for personalized product selection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Authenticity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 Products sourced directly from manufacturers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073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30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1DCF32-4A9D-DD95-91EC-10FE61F50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081967"/>
              </p:ext>
            </p:extLst>
          </p:nvPr>
        </p:nvGraphicFramePr>
        <p:xfrm>
          <a:off x="276225" y="285750"/>
          <a:ext cx="11534775" cy="1188720"/>
        </p:xfrm>
        <a:graphic>
          <a:graphicData uri="http://schemas.openxmlformats.org/drawingml/2006/table">
            <a:tbl>
              <a:tblPr/>
              <a:tblGrid>
                <a:gridCol w="11534775">
                  <a:extLst>
                    <a:ext uri="{9D8B030D-6E8A-4147-A177-3AD203B41FA5}">
                      <a16:colId xmlns:a16="http://schemas.microsoft.com/office/drawing/2014/main" val="255570377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5400" b="1" dirty="0">
                          <a:latin typeface="Algerian" panose="04020705040A02060702" pitchFamily="82" charset="0"/>
                        </a:rPr>
                        <a:t>Challenges and Solutions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87607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F169C0-EB0E-85C4-A03D-A3F92D141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599469"/>
              </p:ext>
            </p:extLst>
          </p:nvPr>
        </p:nvGraphicFramePr>
        <p:xfrm>
          <a:off x="342900" y="1781175"/>
          <a:ext cx="11487150" cy="4591050"/>
        </p:xfrm>
        <a:graphic>
          <a:graphicData uri="http://schemas.openxmlformats.org/drawingml/2006/table">
            <a:tbl>
              <a:tblPr/>
              <a:tblGrid>
                <a:gridCol w="11487150">
                  <a:extLst>
                    <a:ext uri="{9D8B030D-6E8A-4147-A177-3AD203B41FA5}">
                      <a16:colId xmlns:a16="http://schemas.microsoft.com/office/drawing/2014/main" val="2351363686"/>
                    </a:ext>
                  </a:extLst>
                </a:gridCol>
              </a:tblGrid>
              <a:tr h="4591050">
                <a:tc>
                  <a:txBody>
                    <a:bodyPr/>
                    <a:lstStyle/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Unique Selling Point (USP)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Challenge: Competing with established players like Myntra, Ajio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Solution: Direct procurement from brands, focus on quality over low prices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System Issues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Challenge: Early website crashes and glitches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Solution: Fixed bugs, improved platform stability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b="1" dirty="0">
                          <a:latin typeface="Bookman Old Style" panose="02050604050505020204" pitchFamily="18" charset="0"/>
                        </a:rPr>
                        <a:t>Customer Engagement</a:t>
                      </a: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Challenge: Maintaining shopper interest and seamless experience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2500" dirty="0">
                          <a:latin typeface="Bookman Old Style" panose="02050604050505020204" pitchFamily="18" charset="0"/>
                        </a:rPr>
                        <a:t>Solution: Personalized products, innovative UX, and engaging content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721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36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EC0D6F-C7A5-BF10-7D64-949239916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116521"/>
              </p:ext>
            </p:extLst>
          </p:nvPr>
        </p:nvGraphicFramePr>
        <p:xfrm>
          <a:off x="386499" y="216816"/>
          <a:ext cx="11151909" cy="1178351"/>
        </p:xfrm>
        <a:graphic>
          <a:graphicData uri="http://schemas.openxmlformats.org/drawingml/2006/table">
            <a:tbl>
              <a:tblPr/>
              <a:tblGrid>
                <a:gridCol w="11151909">
                  <a:extLst>
                    <a:ext uri="{9D8B030D-6E8A-4147-A177-3AD203B41FA5}">
                      <a16:colId xmlns:a16="http://schemas.microsoft.com/office/drawing/2014/main" val="3651766669"/>
                    </a:ext>
                  </a:extLst>
                </a:gridCol>
              </a:tblGrid>
              <a:tr h="1178351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4400" b="1" dirty="0">
                          <a:latin typeface="Algerian" panose="04020705040A02060702" pitchFamily="82" charset="0"/>
                        </a:rPr>
                        <a:t>CUSTOMER SERVICE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507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F47388-C52F-F6D6-0C34-C57545F5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66323"/>
              </p:ext>
            </p:extLst>
          </p:nvPr>
        </p:nvGraphicFramePr>
        <p:xfrm>
          <a:off x="414779" y="1611984"/>
          <a:ext cx="11095349" cy="4685121"/>
        </p:xfrm>
        <a:graphic>
          <a:graphicData uri="http://schemas.openxmlformats.org/drawingml/2006/table">
            <a:tbl>
              <a:tblPr/>
              <a:tblGrid>
                <a:gridCol w="11095349">
                  <a:extLst>
                    <a:ext uri="{9D8B030D-6E8A-4147-A177-3AD203B41FA5}">
                      <a16:colId xmlns:a16="http://schemas.microsoft.com/office/drawing/2014/main" val="3520174442"/>
                    </a:ext>
                  </a:extLst>
                </a:gridCol>
              </a:tblGrid>
              <a:tr h="4685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 offers a well-rounded customer support system with multiple contact points </a:t>
                      </a:r>
                    </a:p>
                    <a:p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tracking mechanisms, and escalation options. </a:t>
                      </a:r>
                      <a:r>
                        <a:rPr lang="en-US" sz="2400" dirty="0" err="1">
                          <a:latin typeface="Bookman Old Style" panose="02050604050505020204" pitchFamily="18" charset="0"/>
                        </a:rPr>
                        <a:t>Nykaa’s</a:t>
                      </a: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 Unique Customer Support Features as follows,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Multi-Channel Accessibility, Toll-free helpline, Email support and Live Chat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2) Structured Complaint Tracking Ticket/reference number to track the status of the request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3) Grievance Officer for Escalations If the issue isn’t resolved satisfactorily, you can escalate it to the designated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4) Policy of Safe Communication </a:t>
                      </a:r>
                      <a:r>
                        <a:rPr lang="en-US" sz="24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US" sz="2400" dirty="0">
                          <a:latin typeface="Bookman Old Style" panose="02050604050505020204" pitchFamily="18" charset="0"/>
                        </a:rPr>
                        <a:t> explicitly clarifies it will never solicit sensitive details like OTPs, CVV, PINs, or bank info.</a:t>
                      </a:r>
                      <a:endParaRPr lang="en-IN" sz="24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17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9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03B565-1CC2-8D3E-034E-E42FAFA5D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980161"/>
              </p:ext>
            </p:extLst>
          </p:nvPr>
        </p:nvGraphicFramePr>
        <p:xfrm>
          <a:off x="471340" y="311085"/>
          <a:ext cx="10840825" cy="1027521"/>
        </p:xfrm>
        <a:graphic>
          <a:graphicData uri="http://schemas.openxmlformats.org/drawingml/2006/table">
            <a:tbl>
              <a:tblPr/>
              <a:tblGrid>
                <a:gridCol w="10840825">
                  <a:extLst>
                    <a:ext uri="{9D8B030D-6E8A-4147-A177-3AD203B41FA5}">
                      <a16:colId xmlns:a16="http://schemas.microsoft.com/office/drawing/2014/main" val="782475556"/>
                    </a:ext>
                  </a:extLst>
                </a:gridCol>
              </a:tblGrid>
              <a:tr h="1027521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4000" b="1" dirty="0">
                          <a:latin typeface="Algerian" panose="04020705040A02060702" pitchFamily="82" charset="0"/>
                        </a:rPr>
                        <a:t>CUSTOMER REVIEW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2976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990A73-7DE4-CE60-554C-6B0A1C753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86530"/>
              </p:ext>
            </p:extLst>
          </p:nvPr>
        </p:nvGraphicFramePr>
        <p:xfrm>
          <a:off x="527901" y="1725105"/>
          <a:ext cx="5382705" cy="2286000"/>
        </p:xfrm>
        <a:graphic>
          <a:graphicData uri="http://schemas.openxmlformats.org/drawingml/2006/table">
            <a:tbl>
              <a:tblPr/>
              <a:tblGrid>
                <a:gridCol w="5382705">
                  <a:extLst>
                    <a:ext uri="{9D8B030D-6E8A-4147-A177-3AD203B41FA5}">
                      <a16:colId xmlns:a16="http://schemas.microsoft.com/office/drawing/2014/main" val="814637361"/>
                    </a:ext>
                  </a:extLst>
                </a:gridCol>
              </a:tblGrid>
              <a:tr h="213045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 Black" panose="020B0A04020102020204" pitchFamily="34" charset="0"/>
                        </a:rPr>
                        <a:t>POSITIVE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Users praise product authenticity and trustworthiness.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Easy navigation and wide product range.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Good delivery experience and reliability.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Example: 'Excellent experience! Always original brands.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164361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8929DC-199D-7CAC-89CE-C3E86F734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93187"/>
              </p:ext>
            </p:extLst>
          </p:nvPr>
        </p:nvGraphicFramePr>
        <p:xfrm>
          <a:off x="6146276" y="1715678"/>
          <a:ext cx="5081048" cy="2346960"/>
        </p:xfrm>
        <a:graphic>
          <a:graphicData uri="http://schemas.openxmlformats.org/drawingml/2006/table">
            <a:tbl>
              <a:tblPr/>
              <a:tblGrid>
                <a:gridCol w="5081048">
                  <a:extLst>
                    <a:ext uri="{9D8B030D-6E8A-4147-A177-3AD203B41FA5}">
                      <a16:colId xmlns:a16="http://schemas.microsoft.com/office/drawing/2014/main" val="229101711"/>
                    </a:ext>
                  </a:extLst>
                </a:gridCol>
              </a:tblGrid>
              <a:tr h="225300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 Black" panose="020B0A04020102020204" pitchFamily="34" charset="0"/>
                        </a:rPr>
                        <a:t>NEGETIVE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Widespread complaints about delivery delays and poor customer service.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Refund and return issues frequently reported.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Incorrect or damaged products delivered.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Low ratings on Trustpilot (1.4–1.7 stars) and Site jabber (1.2 stars).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Example: 'Terrible delivery service... a scam when it comes to offers.'</a:t>
                      </a:r>
                    </a:p>
                    <a:p>
                      <a:pPr algn="l"/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3242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9D29CF-9082-509F-3F82-59CD4CF64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895891"/>
              </p:ext>
            </p:extLst>
          </p:nvPr>
        </p:nvGraphicFramePr>
        <p:xfrm>
          <a:off x="537328" y="4180787"/>
          <a:ext cx="5382705" cy="2366128"/>
        </p:xfrm>
        <a:graphic>
          <a:graphicData uri="http://schemas.openxmlformats.org/drawingml/2006/table">
            <a:tbl>
              <a:tblPr/>
              <a:tblGrid>
                <a:gridCol w="5382705">
                  <a:extLst>
                    <a:ext uri="{9D8B030D-6E8A-4147-A177-3AD203B41FA5}">
                      <a16:colId xmlns:a16="http://schemas.microsoft.com/office/drawing/2014/main" val="4133711668"/>
                    </a:ext>
                  </a:extLst>
                </a:gridCol>
              </a:tblGrid>
              <a:tr h="23661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 Black" panose="020B0A04020102020204" pitchFamily="34" charset="0"/>
                        </a:rPr>
                        <a:t>NEUTRAL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500" dirty="0">
                          <a:latin typeface="Bookman Old Style" panose="02050604050505020204" pitchFamily="18" charset="0"/>
                        </a:rPr>
                        <a:t>Skepticism about authenticity of positive reviews.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500" dirty="0">
                          <a:latin typeface="Bookman Old Style" panose="02050604050505020204" pitchFamily="18" charset="0"/>
                        </a:rPr>
                        <a:t>Some users note better UI and verified sellers compared to competitors.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500" dirty="0">
                          <a:latin typeface="Bookman Old Style" panose="02050604050505020204" pitchFamily="18" charset="0"/>
                        </a:rPr>
                        <a:t>Mixed opinions when compared to platforms like Amazon.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500" dirty="0">
                          <a:latin typeface="Bookman Old Style" panose="02050604050505020204" pitchFamily="18" charset="0"/>
                        </a:rPr>
                        <a:t>Example: '</a:t>
                      </a:r>
                      <a:r>
                        <a:rPr lang="en-US" sz="15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US" sz="1500" dirty="0">
                          <a:latin typeface="Bookman Old Style" panose="02050604050505020204" pitchFamily="18" charset="0"/>
                        </a:rPr>
                        <a:t> is better than other websites any day.'</a:t>
                      </a:r>
                    </a:p>
                    <a:p>
                      <a:pPr algn="l"/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0944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8F7B28-58C8-D74A-79CF-3617F4AEA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323737"/>
              </p:ext>
            </p:extLst>
          </p:nvPr>
        </p:nvGraphicFramePr>
        <p:xfrm>
          <a:off x="6146276" y="4180787"/>
          <a:ext cx="5081048" cy="2366128"/>
        </p:xfrm>
        <a:graphic>
          <a:graphicData uri="http://schemas.openxmlformats.org/drawingml/2006/table">
            <a:tbl>
              <a:tblPr/>
              <a:tblGrid>
                <a:gridCol w="5081048">
                  <a:extLst>
                    <a:ext uri="{9D8B030D-6E8A-4147-A177-3AD203B41FA5}">
                      <a16:colId xmlns:a16="http://schemas.microsoft.com/office/drawing/2014/main" val="3136632045"/>
                    </a:ext>
                  </a:extLst>
                </a:gridCol>
              </a:tblGrid>
              <a:tr h="23661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REVIEW SUMMARY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Positive: Trust in authenticity, easy navigation, prompt delivery.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Negative: Poor service, delays, refund issues, wrong products.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sz="1800" dirty="0">
                          <a:latin typeface="Bookman Old Style" panose="02050604050505020204" pitchFamily="18" charset="0"/>
                        </a:rPr>
                        <a:t>Neutral: Distrust of reviews, mixed platform comparisons.</a:t>
                      </a:r>
                    </a:p>
                    <a:p>
                      <a:pPr algn="l"/>
                      <a:endParaRPr lang="en-IN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19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72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CD12-0308-200E-4AEE-FD3CC18AD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75" y="257175"/>
            <a:ext cx="11315700" cy="97155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Algerian" panose="04020705040A02060702" pitchFamily="82" charset="0"/>
              </a:rPr>
              <a:t>Business and Revenue Model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07E90-1317-96F0-7D99-1262D1935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375" y="1438275"/>
            <a:ext cx="11315700" cy="516255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Bookman Old Style" panose="02050604050505020204" pitchFamily="18" charset="0"/>
              </a:rPr>
              <a:t>Business Model</a:t>
            </a:r>
            <a:r>
              <a:rPr lang="en-IN" sz="2800" dirty="0">
                <a:latin typeface="Bookman Old Style" panose="02050604050505020204" pitchFamily="18" charset="0"/>
              </a:rPr>
              <a:t>: Direct-to-Consumer (D2C), inventory-based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Procures products from manufacturers, stored in warehouses (Bangalore, Mumbai, New Delhi)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Retail formats: </a:t>
            </a:r>
            <a:r>
              <a:rPr lang="en-IN" sz="2800" dirty="0" err="1">
                <a:latin typeface="Bookman Old Style" panose="02050604050505020204" pitchFamily="18" charset="0"/>
              </a:rPr>
              <a:t>Nykaa</a:t>
            </a:r>
            <a:r>
              <a:rPr lang="en-IN" sz="2800" dirty="0">
                <a:latin typeface="Bookman Old Style" panose="02050604050505020204" pitchFamily="18" charset="0"/>
              </a:rPr>
              <a:t> Luxe, </a:t>
            </a:r>
            <a:r>
              <a:rPr lang="en-IN" sz="2800" dirty="0" err="1">
                <a:latin typeface="Bookman Old Style" panose="02050604050505020204" pitchFamily="18" charset="0"/>
              </a:rPr>
              <a:t>Nykaa</a:t>
            </a:r>
            <a:r>
              <a:rPr lang="en-IN" sz="2800" dirty="0">
                <a:latin typeface="Bookman Old Style" panose="02050604050505020204" pitchFamily="18" charset="0"/>
              </a:rPr>
              <a:t> On Trend, </a:t>
            </a:r>
            <a:r>
              <a:rPr lang="en-IN" sz="2800" dirty="0" err="1">
                <a:latin typeface="Bookman Old Style" panose="02050604050505020204" pitchFamily="18" charset="0"/>
              </a:rPr>
              <a:t>Nykaa</a:t>
            </a:r>
            <a:r>
              <a:rPr lang="en-IN" sz="2800" dirty="0">
                <a:latin typeface="Bookman Old Style" panose="02050604050505020204" pitchFamily="18" charset="0"/>
              </a:rPr>
              <a:t> Kiosks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Bookman Old Style" panose="02050604050505020204" pitchFamily="18" charset="0"/>
              </a:rPr>
              <a:t>Revenue Streams</a:t>
            </a:r>
            <a:r>
              <a:rPr lang="en-IN" sz="2800" dirty="0">
                <a:latin typeface="Bookman Old Style" panose="02050604050505020204" pitchFamily="18" charset="0"/>
              </a:rPr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Product sales (online and in-store)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Banner advertisements, commissions, discount income, miscellaneous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b="1" dirty="0">
                <a:latin typeface="Bookman Old Style" panose="02050604050505020204" pitchFamily="18" charset="0"/>
              </a:rPr>
              <a:t>Advantage</a:t>
            </a:r>
            <a:r>
              <a:rPr lang="en-IN" sz="2800" dirty="0">
                <a:latin typeface="Bookman Old Style" panose="02050604050505020204" pitchFamily="18" charset="0"/>
              </a:rPr>
              <a:t>: High-profit margins through direct sourcing and fair pricing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130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50E888-7FF0-D57E-06A7-E49D047F1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501715"/>
              </p:ext>
            </p:extLst>
          </p:nvPr>
        </p:nvGraphicFramePr>
        <p:xfrm>
          <a:off x="381000" y="266700"/>
          <a:ext cx="11553825" cy="1280160"/>
        </p:xfrm>
        <a:graphic>
          <a:graphicData uri="http://schemas.openxmlformats.org/drawingml/2006/table">
            <a:tbl>
              <a:tblPr/>
              <a:tblGrid>
                <a:gridCol w="11553825">
                  <a:extLst>
                    <a:ext uri="{9D8B030D-6E8A-4147-A177-3AD203B41FA5}">
                      <a16:colId xmlns:a16="http://schemas.microsoft.com/office/drawing/2014/main" val="465445732"/>
                    </a:ext>
                  </a:extLst>
                </a:gridCol>
              </a:tblGrid>
              <a:tr h="1209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000" b="1" i="0" kern="1200" dirty="0">
                          <a:solidFill>
                            <a:schemeClr val="tx1"/>
                          </a:solidFill>
                          <a:effectLst/>
                          <a:latin typeface="Algerian" panose="04020705040A02060702" pitchFamily="82" charset="0"/>
                          <a:ea typeface="+mn-ea"/>
                          <a:cs typeface="+mn-cs"/>
                        </a:rPr>
                        <a:t>Marketing Strategies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6170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8E8AD0-5ADA-0F68-0C88-6D6B68157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309337"/>
              </p:ext>
            </p:extLst>
          </p:nvPr>
        </p:nvGraphicFramePr>
        <p:xfrm>
          <a:off x="400050" y="1743075"/>
          <a:ext cx="11458575" cy="4705350"/>
        </p:xfrm>
        <a:graphic>
          <a:graphicData uri="http://schemas.openxmlformats.org/drawingml/2006/table">
            <a:tbl>
              <a:tblPr/>
              <a:tblGrid>
                <a:gridCol w="11458575">
                  <a:extLst>
                    <a:ext uri="{9D8B030D-6E8A-4147-A177-3AD203B41FA5}">
                      <a16:colId xmlns:a16="http://schemas.microsoft.com/office/drawing/2014/main" val="2120853707"/>
                    </a:ext>
                  </a:extLst>
                </a:gridCol>
              </a:tblGrid>
              <a:tr h="4705350">
                <a:tc>
                  <a:txBody>
                    <a:bodyPr/>
                    <a:lstStyle/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b="1" dirty="0">
                          <a:latin typeface="Bookman Old Style" panose="02050604050505020204" pitchFamily="18" charset="0"/>
                        </a:rPr>
                        <a:t>Key Strategies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Influencer marketing for brand visibility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Engaging, relevant content creation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Intuitive, user-friendly UI for seamless UX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Collaborations for exclusive offers and discounts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Socially relevant ads on YouTube, Instagram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b="1" dirty="0">
                          <a:latin typeface="Bookman Old Style" panose="02050604050505020204" pitchFamily="18" charset="0"/>
                        </a:rPr>
                        <a:t>Outcome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: Global brand awareness and customer loyalty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01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413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B19618-A251-2DC6-946D-ABFC38B5D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515567"/>
              </p:ext>
            </p:extLst>
          </p:nvPr>
        </p:nvGraphicFramePr>
        <p:xfrm>
          <a:off x="314325" y="352425"/>
          <a:ext cx="11296650" cy="1036320"/>
        </p:xfrm>
        <a:graphic>
          <a:graphicData uri="http://schemas.openxmlformats.org/drawingml/2006/table">
            <a:tbl>
              <a:tblPr/>
              <a:tblGrid>
                <a:gridCol w="11296650">
                  <a:extLst>
                    <a:ext uri="{9D8B030D-6E8A-4147-A177-3AD203B41FA5}">
                      <a16:colId xmlns:a16="http://schemas.microsoft.com/office/drawing/2014/main" val="389366698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b="1" dirty="0">
                          <a:latin typeface="Algerian" panose="04020705040A02060702" pitchFamily="82" charset="0"/>
                        </a:rPr>
                        <a:t>Funding and IPO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6368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EE780-E740-6C8D-81D0-99D7B8014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488090"/>
              </p:ext>
            </p:extLst>
          </p:nvPr>
        </p:nvGraphicFramePr>
        <p:xfrm>
          <a:off x="409575" y="1571625"/>
          <a:ext cx="11249025" cy="5120640"/>
        </p:xfrm>
        <a:graphic>
          <a:graphicData uri="http://schemas.openxmlformats.org/drawingml/2006/table">
            <a:tbl>
              <a:tblPr/>
              <a:tblGrid>
                <a:gridCol w="11249025">
                  <a:extLst>
                    <a:ext uri="{9D8B030D-6E8A-4147-A177-3AD203B41FA5}">
                      <a16:colId xmlns:a16="http://schemas.microsoft.com/office/drawing/2014/main" val="1328705977"/>
                    </a:ext>
                  </a:extLst>
                </a:gridCol>
              </a:tblGrid>
              <a:tr h="4905375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>
                          <a:latin typeface="Bookman Old Style" panose="02050604050505020204" pitchFamily="18" charset="0"/>
                        </a:rPr>
                        <a:t>Total Funding</a:t>
                      </a: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: $341.9 million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>
                          <a:latin typeface="Bookman Old Style" panose="02050604050505020204" pitchFamily="18" charset="0"/>
                        </a:rPr>
                        <a:t>Key Investors</a:t>
                      </a: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Anchor Investors: INR 2,396 Crore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Fidelity Management, </a:t>
                      </a:r>
                      <a:r>
                        <a:rPr lang="en-IN" sz="2400" dirty="0" err="1">
                          <a:latin typeface="Bookman Old Style" panose="02050604050505020204" pitchFamily="18" charset="0"/>
                        </a:rPr>
                        <a:t>Steadview</a:t>
                      </a: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 Capital ($13M), TPG Growth (INR 191 Crore)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Lighthouse Funds (INR 113 Crore), TVS Capital Funds (INR 25 Crore)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Personal investments: Katrina Kaif (Kay Beauty), Alia Bhatt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>
                          <a:latin typeface="Bookman Old Style" panose="02050604050505020204" pitchFamily="18" charset="0"/>
                        </a:rPr>
                        <a:t>IPO (Oct 28, 2021)</a:t>
                      </a: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Price Band: INR 1,085–1,125 per share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Raised: $670 million (US$7.4 billion valuation)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Listed at 77.87%–79.38% premium on BSE/NSE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Bookman Old Style" panose="02050604050505020204" pitchFamily="18" charset="0"/>
                        </a:rPr>
                        <a:t>Current Valuation: $13 billion (2022)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001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417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732619-454A-20E8-6A47-438245BB2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845117"/>
              </p:ext>
            </p:extLst>
          </p:nvPr>
        </p:nvGraphicFramePr>
        <p:xfrm>
          <a:off x="381000" y="342900"/>
          <a:ext cx="11496675" cy="1188720"/>
        </p:xfrm>
        <a:graphic>
          <a:graphicData uri="http://schemas.openxmlformats.org/drawingml/2006/table">
            <a:tbl>
              <a:tblPr/>
              <a:tblGrid>
                <a:gridCol w="11496675">
                  <a:extLst>
                    <a:ext uri="{9D8B030D-6E8A-4147-A177-3AD203B41FA5}">
                      <a16:colId xmlns:a16="http://schemas.microsoft.com/office/drawing/2014/main" val="117040999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5400" b="1" dirty="0">
                          <a:latin typeface="Algerian" panose="04020705040A02060702" pitchFamily="82" charset="0"/>
                        </a:rPr>
                        <a:t>Major Acquisitions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11925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B41A55-1691-348C-44C3-234269451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2671"/>
              </p:ext>
            </p:extLst>
          </p:nvPr>
        </p:nvGraphicFramePr>
        <p:xfrm>
          <a:off x="476250" y="1647825"/>
          <a:ext cx="11353800" cy="4848225"/>
        </p:xfrm>
        <a:graphic>
          <a:graphicData uri="http://schemas.openxmlformats.org/drawingml/2006/table">
            <a:tbl>
              <a:tblPr/>
              <a:tblGrid>
                <a:gridCol w="11353800">
                  <a:extLst>
                    <a:ext uri="{9D8B030D-6E8A-4147-A177-3AD203B41FA5}">
                      <a16:colId xmlns:a16="http://schemas.microsoft.com/office/drawing/2014/main" val="631052082"/>
                    </a:ext>
                  </a:extLst>
                </a:gridCol>
              </a:tblGrid>
              <a:tr h="4848225">
                <a:tc>
                  <a:txBody>
                    <a:bodyPr/>
                    <a:lstStyle/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b="1" dirty="0">
                          <a:latin typeface="Bookman Old Style" panose="02050604050505020204" pitchFamily="18" charset="0"/>
                        </a:rPr>
                        <a:t>Acquired Companies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20Dresses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(Fashion, 2019)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 err="1">
                          <a:latin typeface="Bookman Old Style" panose="02050604050505020204" pitchFamily="18" charset="0"/>
                        </a:rPr>
                        <a:t>Pipa.Bella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(Jewellery, 2021)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Dot &amp; Key Wellness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(Skincare, 2021)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Kica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(Swimwear, 2022)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Nudge Wellness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(Nutraceuticals, 2022)</a:t>
                      </a:r>
                    </a:p>
                    <a:p>
                      <a:pPr marL="742950" lvl="1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Little Black Book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, </a:t>
                      </a:r>
                      <a:r>
                        <a:rPr lang="en-IN" sz="3200" i="1" dirty="0">
                          <a:latin typeface="Bookman Old Style" panose="02050604050505020204" pitchFamily="18" charset="0"/>
                        </a:rPr>
                        <a:t>Earth Rhythm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, </a:t>
                      </a:r>
                      <a:r>
                        <a:rPr lang="en-IN" sz="3200" i="1" dirty="0" err="1">
                          <a:latin typeface="Bookman Old Style" panose="02050604050505020204" pitchFamily="18" charset="0"/>
                        </a:rPr>
                        <a:t>MensXP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 (Planned)</a:t>
                      </a:r>
                    </a:p>
                    <a:p>
                      <a:pPr marL="285750" indent="-2857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IN" sz="3200" b="1" dirty="0">
                          <a:latin typeface="Bookman Old Style" panose="02050604050505020204" pitchFamily="18" charset="0"/>
                        </a:rPr>
                        <a:t>Purpose</a:t>
                      </a:r>
                      <a:r>
                        <a:rPr lang="en-IN" sz="3200" dirty="0">
                          <a:latin typeface="Bookman Old Style" panose="02050604050505020204" pitchFamily="18" charset="0"/>
                        </a:rPr>
                        <a:t>: Expand product portfolio and market reach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48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53E335-BA37-3791-E0A8-C844D4076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095166"/>
              </p:ext>
            </p:extLst>
          </p:nvPr>
        </p:nvGraphicFramePr>
        <p:xfrm>
          <a:off x="295276" y="352425"/>
          <a:ext cx="11182350" cy="1036320"/>
        </p:xfrm>
        <a:graphic>
          <a:graphicData uri="http://schemas.openxmlformats.org/drawingml/2006/table">
            <a:tbl>
              <a:tblPr/>
              <a:tblGrid>
                <a:gridCol w="11182350">
                  <a:extLst>
                    <a:ext uri="{9D8B030D-6E8A-4147-A177-3AD203B41FA5}">
                      <a16:colId xmlns:a16="http://schemas.microsoft.com/office/drawing/2014/main" val="81902577"/>
                    </a:ext>
                  </a:extLst>
                </a:gridCol>
              </a:tblGrid>
              <a:tr h="506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400" b="1" dirty="0">
                          <a:latin typeface="Algerian" panose="04020705040A02060702" pitchFamily="82" charset="0"/>
                        </a:rPr>
                        <a:t>Milestones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70201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F0F386-45AA-5671-3E5F-5FD467F23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5234"/>
              </p:ext>
            </p:extLst>
          </p:nvPr>
        </p:nvGraphicFramePr>
        <p:xfrm>
          <a:off x="295276" y="1447800"/>
          <a:ext cx="11249024" cy="5059680"/>
        </p:xfrm>
        <a:graphic>
          <a:graphicData uri="http://schemas.openxmlformats.org/drawingml/2006/table">
            <a:tbl>
              <a:tblPr/>
              <a:tblGrid>
                <a:gridCol w="11249024">
                  <a:extLst>
                    <a:ext uri="{9D8B030D-6E8A-4147-A177-3AD203B41FA5}">
                      <a16:colId xmlns:a16="http://schemas.microsoft.com/office/drawing/2014/main" val="2178353814"/>
                    </a:ext>
                  </a:extLst>
                </a:gridCol>
              </a:tblGrid>
              <a:tr h="4867275">
                <a:tc>
                  <a:txBody>
                    <a:bodyPr/>
                    <a:lstStyle/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2012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Founded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endParaRPr lang="en-IN" sz="2800" dirty="0">
                        <a:latin typeface="Bookman Old Style" panose="02050604050505020204" pitchFamily="18" charset="0"/>
                      </a:endParaRP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2014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$3.4M funding, first physical store at T3 Airport, New Delhi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2015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Launched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Cosmetics, omni-channel presence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2016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$12M funding (Hero Group), launched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Naturals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2017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Luxe store in Mumbai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2018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Launched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Man,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Fashion,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Network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2019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Launched Kay Beauty, acquired 20Dresses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2020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Achieved Unicorn status</a:t>
                      </a: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2021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IPO,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Nykaa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 Fashion store, acquired </a:t>
                      </a:r>
                      <a:r>
                        <a:rPr lang="en-IN" sz="2800" dirty="0" err="1">
                          <a:latin typeface="Bookman Old Style" panose="02050604050505020204" pitchFamily="18" charset="0"/>
                        </a:rPr>
                        <a:t>Pipa.Bella</a:t>
                      </a:r>
                      <a:endParaRPr lang="en-IN" sz="2800" dirty="0">
                        <a:latin typeface="Bookman Old Style" panose="02050604050505020204" pitchFamily="18" charset="0"/>
                      </a:endParaRPr>
                    </a:p>
                    <a:p>
                      <a:pPr rtl="0"/>
                      <a:r>
                        <a:rPr lang="en-IN" sz="2800" b="1" dirty="0">
                          <a:latin typeface="Bookman Old Style" panose="02050604050505020204" pitchFamily="18" charset="0"/>
                        </a:rPr>
                        <a:t>2022</a:t>
                      </a:r>
                      <a:r>
                        <a:rPr lang="en-IN" sz="2800" dirty="0">
                          <a:latin typeface="Bookman Old Style" panose="02050604050505020204" pitchFamily="18" charset="0"/>
                        </a:rPr>
                        <a:t>: Falguni Nayar named India’s richest self-made woman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997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27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06F853-64B5-8D63-D75E-32AB1745B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7874"/>
              </p:ext>
            </p:extLst>
          </p:nvPr>
        </p:nvGraphicFramePr>
        <p:xfrm>
          <a:off x="390525" y="219075"/>
          <a:ext cx="11144250" cy="1188720"/>
        </p:xfrm>
        <a:graphic>
          <a:graphicData uri="http://schemas.openxmlformats.org/drawingml/2006/table">
            <a:tbl>
              <a:tblPr/>
              <a:tblGrid>
                <a:gridCol w="11144250">
                  <a:extLst>
                    <a:ext uri="{9D8B030D-6E8A-4147-A177-3AD203B41FA5}">
                      <a16:colId xmlns:a16="http://schemas.microsoft.com/office/drawing/2014/main" val="944374237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b="1" dirty="0">
                          <a:latin typeface="Algerian" panose="04020705040A02060702" pitchFamily="82" charset="0"/>
                        </a:rPr>
                        <a:t>Accolades and Recognition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7445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721862-B773-5B29-FE6D-CE51CB45E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47387"/>
              </p:ext>
            </p:extLst>
          </p:nvPr>
        </p:nvGraphicFramePr>
        <p:xfrm>
          <a:off x="447675" y="1504950"/>
          <a:ext cx="11087100" cy="4924425"/>
        </p:xfrm>
        <a:graphic>
          <a:graphicData uri="http://schemas.openxmlformats.org/drawingml/2006/table">
            <a:tbl>
              <a:tblPr/>
              <a:tblGrid>
                <a:gridCol w="11087100">
                  <a:extLst>
                    <a:ext uri="{9D8B030D-6E8A-4147-A177-3AD203B41FA5}">
                      <a16:colId xmlns:a16="http://schemas.microsoft.com/office/drawing/2014/main" val="4016108769"/>
                    </a:ext>
                  </a:extLst>
                </a:gridCol>
              </a:tblGrid>
              <a:tr h="4924425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b="1" dirty="0">
                          <a:latin typeface="Bookman Old Style" panose="02050604050505020204" pitchFamily="18" charset="0"/>
                        </a:rPr>
                        <a:t>Awards</a:t>
                      </a: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i="1" dirty="0">
                          <a:latin typeface="Bookman Old Style" panose="02050604050505020204" pitchFamily="18" charset="0"/>
                        </a:rPr>
                        <a:t>Disruptor of the Year</a:t>
                      </a: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, India Business Leader Awards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96% returns on investor capital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b="1" dirty="0">
                          <a:latin typeface="Bookman Old Style" panose="02050604050505020204" pitchFamily="18" charset="0"/>
                        </a:rPr>
                        <a:t>Recognition</a:t>
                      </a: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Unicorn status (2020)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600" dirty="0">
                          <a:latin typeface="Bookman Old Style" panose="02050604050505020204" pitchFamily="18" charset="0"/>
                        </a:rPr>
                        <a:t>Falguni Nayar: India’s richest woman (IIFL Wealth Hurun India Rich List 2022)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18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37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41E7CF-AA6C-710C-5E38-60E15F392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35825"/>
              </p:ext>
            </p:extLst>
          </p:nvPr>
        </p:nvGraphicFramePr>
        <p:xfrm>
          <a:off x="247650" y="314324"/>
          <a:ext cx="11544300" cy="1005840"/>
        </p:xfrm>
        <a:graphic>
          <a:graphicData uri="http://schemas.openxmlformats.org/drawingml/2006/table">
            <a:tbl>
              <a:tblPr/>
              <a:tblGrid>
                <a:gridCol w="11544300">
                  <a:extLst>
                    <a:ext uri="{9D8B030D-6E8A-4147-A177-3AD203B41FA5}">
                      <a16:colId xmlns:a16="http://schemas.microsoft.com/office/drawing/2014/main" val="3999642533"/>
                    </a:ext>
                  </a:extLst>
                </a:gridCol>
              </a:tblGrid>
              <a:tr h="962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000" b="1" dirty="0">
                          <a:latin typeface="Algerian" panose="04020705040A02060702" pitchFamily="82" charset="0"/>
                        </a:rPr>
                        <a:t>Future Plans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5443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449EF2-EC00-B6D2-536F-AAA87E36D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231345"/>
              </p:ext>
            </p:extLst>
          </p:nvPr>
        </p:nvGraphicFramePr>
        <p:xfrm>
          <a:off x="304800" y="1533525"/>
          <a:ext cx="11544300" cy="4953000"/>
        </p:xfrm>
        <a:graphic>
          <a:graphicData uri="http://schemas.openxmlformats.org/drawingml/2006/table">
            <a:tbl>
              <a:tblPr/>
              <a:tblGrid>
                <a:gridCol w="11544300">
                  <a:extLst>
                    <a:ext uri="{9D8B030D-6E8A-4147-A177-3AD203B41FA5}">
                      <a16:colId xmlns:a16="http://schemas.microsoft.com/office/drawing/2014/main" val="347577580"/>
                    </a:ext>
                  </a:extLst>
                </a:gridCol>
              </a:tblGrid>
              <a:tr h="495300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man Old Style" panose="02050604050505020204" pitchFamily="18" charset="0"/>
                        </a:rPr>
                        <a:t>Current Stats</a:t>
                      </a: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17 million Monthly Active Users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70 physical stores, 1.5 million orders/month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3.1 million SKUs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man Old Style" panose="02050604050505020204" pitchFamily="18" charset="0"/>
                        </a:rPr>
                        <a:t>Goals by 2024</a:t>
                      </a: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: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Expand to 180 physical stores</a:t>
                      </a:r>
                    </a:p>
                    <a:p>
                      <a:pPr marL="742950" lvl="1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Increase warehouse capacity by 40%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>
                          <a:latin typeface="Bookman Old Style" panose="02050604050505020204" pitchFamily="18" charset="0"/>
                        </a:rPr>
                        <a:t>Vision</a:t>
                      </a:r>
                      <a:r>
                        <a:rPr lang="en-US" sz="3200" dirty="0">
                          <a:latin typeface="Bookman Old Style" panose="02050604050505020204" pitchFamily="18" charset="0"/>
                        </a:rPr>
                        <a:t>: Global expansion, enhanced operations, and broader product offerings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08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293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4087CA-6810-581A-770D-C372C1985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02649"/>
              </p:ext>
            </p:extLst>
          </p:nvPr>
        </p:nvGraphicFramePr>
        <p:xfrm>
          <a:off x="361950" y="285750"/>
          <a:ext cx="11277600" cy="1005840"/>
        </p:xfrm>
        <a:graphic>
          <a:graphicData uri="http://schemas.openxmlformats.org/drawingml/2006/table">
            <a:tbl>
              <a:tblPr/>
              <a:tblGrid>
                <a:gridCol w="11277600">
                  <a:extLst>
                    <a:ext uri="{9D8B030D-6E8A-4147-A177-3AD203B41FA5}">
                      <a16:colId xmlns:a16="http://schemas.microsoft.com/office/drawing/2014/main" val="435354061"/>
                    </a:ext>
                  </a:extLst>
                </a:gridCol>
              </a:tblGrid>
              <a:tr h="942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000" b="1" dirty="0">
                          <a:latin typeface="Algerian" panose="04020705040A02060702" pitchFamily="82" charset="0"/>
                        </a:rPr>
                        <a:t>Conclusion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55801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9A5FCC-15FB-28F9-2B55-DE09D957C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76182"/>
              </p:ext>
            </p:extLst>
          </p:nvPr>
        </p:nvGraphicFramePr>
        <p:xfrm>
          <a:off x="438150" y="1562100"/>
          <a:ext cx="11229975" cy="5242560"/>
        </p:xfrm>
        <a:graphic>
          <a:graphicData uri="http://schemas.openxmlformats.org/drawingml/2006/table">
            <a:tbl>
              <a:tblPr/>
              <a:tblGrid>
                <a:gridCol w="11229975">
                  <a:extLst>
                    <a:ext uri="{9D8B030D-6E8A-4147-A177-3AD203B41FA5}">
                      <a16:colId xmlns:a16="http://schemas.microsoft.com/office/drawing/2014/main" val="3867465722"/>
                    </a:ext>
                  </a:extLst>
                </a:gridCol>
              </a:tblGrid>
              <a:tr h="4810125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4000" b="1" dirty="0" err="1">
                          <a:latin typeface="Bookman Old Style" panose="02050604050505020204" pitchFamily="18" charset="0"/>
                        </a:rPr>
                        <a:t>Nykaa’s</a:t>
                      </a:r>
                      <a:r>
                        <a:rPr lang="en-US" sz="4000" b="1" dirty="0">
                          <a:latin typeface="Bookman Old Style" panose="02050604050505020204" pitchFamily="18" charset="0"/>
                        </a:rPr>
                        <a:t> Impact</a:t>
                      </a:r>
                      <a:r>
                        <a:rPr lang="en-US" sz="4000" dirty="0">
                          <a:latin typeface="Bookman Old Style" panose="02050604050505020204" pitchFamily="18" charset="0"/>
                        </a:rPr>
                        <a:t>: Transformed India’s beauty and wellness industry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4000" b="1" dirty="0">
                          <a:latin typeface="Bookman Old Style" panose="02050604050505020204" pitchFamily="18" charset="0"/>
                        </a:rPr>
                        <a:t>Falguni Nayar’s Legacy</a:t>
                      </a:r>
                      <a:r>
                        <a:rPr lang="en-US" sz="4000" dirty="0">
                          <a:latin typeface="Bookman Old Style" panose="02050604050505020204" pitchFamily="18" charset="0"/>
                        </a:rPr>
                        <a:t>: Inspiration for entrepreneurs, especially women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4000" b="1" dirty="0">
                          <a:latin typeface="Bookman Old Style" panose="02050604050505020204" pitchFamily="18" charset="0"/>
                        </a:rPr>
                        <a:t>Key Takeaway</a:t>
                      </a:r>
                      <a:r>
                        <a:rPr lang="en-US" sz="4000" dirty="0">
                          <a:latin typeface="Bookman Old Style" panose="02050604050505020204" pitchFamily="18" charset="0"/>
                        </a:rPr>
                        <a:t>: Passion, innovation, and resilience drive success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sz="4000" b="1" dirty="0">
                          <a:latin typeface="Bookman Old Style" panose="02050604050505020204" pitchFamily="18" charset="0"/>
                        </a:rPr>
                        <a:t>Future Outlook</a:t>
                      </a:r>
                      <a:r>
                        <a:rPr lang="en-US" sz="4000" dirty="0">
                          <a:latin typeface="Bookman Old Style" panose="02050604050505020204" pitchFamily="18" charset="0"/>
                        </a:rPr>
                        <a:t>: Poised to become a global beauty and fashion leader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01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14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1092</Words>
  <Application>Microsoft Office PowerPoint</Application>
  <PresentationFormat>Widescreen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Arial Black</vt:lpstr>
      <vt:lpstr>Book Antiqua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BEGINNING OF NYKAA</vt:lpstr>
      <vt:lpstr>PowerPoint Presentation</vt:lpstr>
      <vt:lpstr>PowerPoint Presentation</vt:lpstr>
      <vt:lpstr>PowerPoint Presentation</vt:lpstr>
      <vt:lpstr>PowerPoint Presentation</vt:lpstr>
      <vt:lpstr> Business and Revenue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Jayendran SUBRAMANIAN</dc:creator>
  <cp:lastModifiedBy>Jayendran SUBRAMANIAN</cp:lastModifiedBy>
  <cp:revision>1</cp:revision>
  <dcterms:created xsi:type="dcterms:W3CDTF">2025-08-17T04:44:09Z</dcterms:created>
  <dcterms:modified xsi:type="dcterms:W3CDTF">2025-08-17T05:56:23Z</dcterms:modified>
</cp:coreProperties>
</file>