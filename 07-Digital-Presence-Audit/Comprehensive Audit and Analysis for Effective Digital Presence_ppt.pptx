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09" r:id="rId7"/>
    <p:sldId id="313" r:id="rId8"/>
    <p:sldId id="310" r:id="rId9"/>
    <p:sldId id="311" r:id="rId10"/>
    <p:sldId id="312" r:id="rId11"/>
    <p:sldId id="314" r:id="rId12"/>
    <p:sldId id="315" r:id="rId13"/>
    <p:sldId id="316" r:id="rId14"/>
    <p:sldId id="317" r:id="rId15"/>
    <p:sldId id="318" r:id="rId16"/>
    <p:sldId id="319" r:id="rId17"/>
    <p:sldId id="32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yendran SUBRAMANIAN" initials="JS" lastIdx="1" clrIdx="0">
    <p:extLst>
      <p:ext uri="{19B8F6BF-5375-455C-9EA6-DF929625EA0E}">
        <p15:presenceInfo xmlns:p15="http://schemas.microsoft.com/office/powerpoint/2012/main" userId="9c17130d964c115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E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7/19/2026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7/19/2026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7/19/2026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7/19/2026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7/19/2026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7/19/2026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7/19/2026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7/19/2026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7/19/2026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7/19/2026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hyperlink" Target="http://www.zoho.com/"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8"/>
            <a:ext cx="4389120" cy="1924148"/>
          </a:xfrm>
        </p:spPr>
        <p:txBody>
          <a:bodyPr>
            <a:normAutofit/>
          </a:bodyPr>
          <a:lstStyle/>
          <a:p>
            <a:pPr algn="ctr"/>
            <a:r>
              <a:rPr lang="en-IN" sz="3200" b="1" dirty="0">
                <a:solidFill>
                  <a:schemeClr val="accent1">
                    <a:lumMod val="75000"/>
                  </a:schemeClr>
                </a:solidFill>
                <a:latin typeface="Bookman Old Style" panose="02050604050505020204" pitchFamily="18" charset="0"/>
              </a:rPr>
              <a:t>Comprehensive Audit and Analysis for Effective Digital Presence</a:t>
            </a:r>
            <a:endParaRPr lang="en-US" sz="3200" dirty="0">
              <a:solidFill>
                <a:schemeClr val="accent1">
                  <a:lumMod val="75000"/>
                </a:schemeClr>
              </a:solidFill>
              <a:latin typeface="Bookman Old Style" panose="02050604050505020204" pitchFamily="18" charset="0"/>
            </a:endParaRP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7025275" y="3292554"/>
            <a:ext cx="3909425" cy="803198"/>
          </a:xfrm>
        </p:spPr>
        <p:txBody>
          <a:bodyPr>
            <a:normAutofit/>
          </a:bodyPr>
          <a:lstStyle/>
          <a:p>
            <a:pPr algn="ctr"/>
            <a:r>
              <a:rPr lang="en-IN" sz="1400" b="1" dirty="0">
                <a:solidFill>
                  <a:schemeClr val="accent1">
                    <a:lumMod val="75000"/>
                  </a:schemeClr>
                </a:solidFill>
                <a:latin typeface="Bookman Old Style" panose="02050604050505020204" pitchFamily="18" charset="0"/>
              </a:rPr>
              <a:t>(</a:t>
            </a:r>
            <a:r>
              <a:rPr lang="en-IN" sz="1400" b="1" cap="none" dirty="0">
                <a:solidFill>
                  <a:schemeClr val="accent1">
                    <a:lumMod val="75000"/>
                  </a:schemeClr>
                </a:solidFill>
                <a:latin typeface="Bookman Old Style" panose="02050604050505020204" pitchFamily="18" charset="0"/>
              </a:rPr>
              <a:t>Website Audit, Digital Marketing Strategy &amp; Landing Page Design</a:t>
            </a:r>
            <a:r>
              <a:rPr lang="en-IN" sz="1400" b="1" dirty="0">
                <a:solidFill>
                  <a:schemeClr val="accent1">
                    <a:lumMod val="75000"/>
                  </a:schemeClr>
                </a:solidFill>
                <a:latin typeface="Bookman Old Style" panose="02050604050505020204" pitchFamily="18" charset="0"/>
              </a:rPr>
              <a:t>)</a:t>
            </a:r>
            <a:endParaRPr lang="en-US" sz="1400" b="1" dirty="0">
              <a:solidFill>
                <a:schemeClr val="accent1">
                  <a:lumMod val="75000"/>
                </a:schemeClr>
              </a:solidFill>
              <a:latin typeface="Bookman Old Style" panose="02050604050505020204" pitchFamily="18" charset="0"/>
            </a:endParaRPr>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2B204F5-F55A-5D47-B3EF-FCF2B046A762}"/>
              </a:ext>
            </a:extLst>
          </p:cNvPr>
          <p:cNvSpPr txBox="1"/>
          <p:nvPr/>
        </p:nvSpPr>
        <p:spPr>
          <a:xfrm>
            <a:off x="8021107" y="4562395"/>
            <a:ext cx="1806905" cy="461665"/>
          </a:xfrm>
          <a:prstGeom prst="rect">
            <a:avLst/>
          </a:prstGeom>
          <a:noFill/>
        </p:spPr>
        <p:txBody>
          <a:bodyPr wrap="none" rtlCol="0">
            <a:spAutoFit/>
          </a:bodyPr>
          <a:lstStyle/>
          <a:p>
            <a:pPr algn="ctr"/>
            <a:r>
              <a:rPr lang="en-IN" sz="1200" dirty="0">
                <a:solidFill>
                  <a:schemeClr val="accent2">
                    <a:lumMod val="75000"/>
                  </a:schemeClr>
                </a:solidFill>
                <a:latin typeface="Bookman Old Style" panose="02050604050505020204" pitchFamily="18" charset="0"/>
              </a:rPr>
              <a:t>By</a:t>
            </a:r>
          </a:p>
          <a:p>
            <a:pPr algn="ctr"/>
            <a:r>
              <a:rPr lang="en-IN" sz="1200" dirty="0">
                <a:solidFill>
                  <a:schemeClr val="accent2">
                    <a:lumMod val="75000"/>
                  </a:schemeClr>
                </a:solidFill>
                <a:latin typeface="Bookman Old Style" panose="02050604050505020204" pitchFamily="18" charset="0"/>
              </a:rPr>
              <a:t>T. Kavitha Jayendran</a:t>
            </a:r>
          </a:p>
        </p:txBody>
      </p:sp>
      <p:sp>
        <p:nvSpPr>
          <p:cNvPr id="8" name="TextBox 7">
            <a:extLst>
              <a:ext uri="{FF2B5EF4-FFF2-40B4-BE49-F238E27FC236}">
                <a16:creationId xmlns:a16="http://schemas.microsoft.com/office/drawing/2014/main" id="{AA1C36C4-2010-45F2-7324-920EF5FDC86C}"/>
              </a:ext>
            </a:extLst>
          </p:cNvPr>
          <p:cNvSpPr txBox="1"/>
          <p:nvPr/>
        </p:nvSpPr>
        <p:spPr>
          <a:xfrm>
            <a:off x="9545531" y="6457891"/>
            <a:ext cx="2626015" cy="307777"/>
          </a:xfrm>
          <a:prstGeom prst="rect">
            <a:avLst/>
          </a:prstGeom>
          <a:noFill/>
        </p:spPr>
        <p:txBody>
          <a:bodyPr wrap="square" rtlCol="0">
            <a:spAutoFit/>
          </a:bodyPr>
          <a:lstStyle/>
          <a:p>
            <a:r>
              <a:rPr lang="en-IN" sz="1400" b="1" dirty="0">
                <a:solidFill>
                  <a:srgbClr val="0070C0"/>
                </a:solidFill>
              </a:rPr>
              <a:t>GUVI CAPSTONE PROJECT 2026</a:t>
            </a:r>
          </a:p>
        </p:txBody>
      </p: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4C66C3-8358-D571-727C-19F90E2CC869}"/>
              </a:ext>
            </a:extLst>
          </p:cNvPr>
          <p:cNvSpPr txBox="1"/>
          <p:nvPr/>
        </p:nvSpPr>
        <p:spPr>
          <a:xfrm>
            <a:off x="219076" y="1075968"/>
            <a:ext cx="11582400" cy="1200329"/>
          </a:xfrm>
          <a:prstGeom prst="rect">
            <a:avLst/>
          </a:prstGeom>
          <a:noFill/>
        </p:spPr>
        <p:txBody>
          <a:bodyPr wrap="square">
            <a:spAutoFit/>
          </a:bodyPr>
          <a:lstStyle/>
          <a:p>
            <a:pPr algn="ctr">
              <a:buNone/>
            </a:pPr>
            <a:r>
              <a:rPr lang="en-US" b="1" dirty="0">
                <a:solidFill>
                  <a:srgbClr val="0070C0"/>
                </a:solidFill>
                <a:latin typeface="Bookman Old Style" panose="02050604050505020204" pitchFamily="18" charset="0"/>
              </a:rPr>
              <a:t>Objective</a:t>
            </a:r>
          </a:p>
          <a:p>
            <a:pPr algn="ctr">
              <a:buNone/>
            </a:pPr>
            <a:r>
              <a:rPr lang="en-US" dirty="0">
                <a:latin typeface="Bookman Old Style" panose="02050604050505020204" pitchFamily="18" charset="0"/>
              </a:rPr>
              <a:t>To evaluate a company's digital presence by analyzing its website, digital marketing strategies, and user experience. The project also focuses on designing an effective landing page to improve user engagement, lead generation, and brand visibility.</a:t>
            </a:r>
          </a:p>
        </p:txBody>
      </p:sp>
      <p:sp>
        <p:nvSpPr>
          <p:cNvPr id="9" name="TextBox 8">
            <a:extLst>
              <a:ext uri="{FF2B5EF4-FFF2-40B4-BE49-F238E27FC236}">
                <a16:creationId xmlns:a16="http://schemas.microsoft.com/office/drawing/2014/main" id="{443ACFCD-4C18-6FD6-2E70-683670424C9E}"/>
              </a:ext>
            </a:extLst>
          </p:cNvPr>
          <p:cNvSpPr txBox="1"/>
          <p:nvPr/>
        </p:nvSpPr>
        <p:spPr>
          <a:xfrm>
            <a:off x="2847975" y="239137"/>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Project Overview</a:t>
            </a:r>
          </a:p>
        </p:txBody>
      </p:sp>
      <p:sp>
        <p:nvSpPr>
          <p:cNvPr id="11" name="TextBox 10">
            <a:extLst>
              <a:ext uri="{FF2B5EF4-FFF2-40B4-BE49-F238E27FC236}">
                <a16:creationId xmlns:a16="http://schemas.microsoft.com/office/drawing/2014/main" id="{7CE6FF4D-7DDC-CC32-7E28-5B022C98D0AD}"/>
              </a:ext>
            </a:extLst>
          </p:cNvPr>
          <p:cNvSpPr txBox="1"/>
          <p:nvPr/>
        </p:nvSpPr>
        <p:spPr>
          <a:xfrm>
            <a:off x="762000" y="2528353"/>
            <a:ext cx="3819525" cy="3282181"/>
          </a:xfrm>
          <a:prstGeom prst="rect">
            <a:avLst/>
          </a:prstGeom>
          <a:noFill/>
        </p:spPr>
        <p:txBody>
          <a:bodyPr wrap="square">
            <a:spAutoFit/>
          </a:bodyPr>
          <a:lstStyle/>
          <a:p>
            <a:pPr>
              <a:buNone/>
            </a:pPr>
            <a:r>
              <a:rPr lang="en-US" b="1" dirty="0">
                <a:solidFill>
                  <a:srgbClr val="0070C0"/>
                </a:solidFill>
                <a:latin typeface="Bookman Old Style" panose="02050604050505020204" pitchFamily="18" charset="0"/>
              </a:rPr>
              <a:t>Project Workflow</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Company Selection </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Website Audit (Design, UX &amp; SEO) </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Digital Marketing Strategy Analysis </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Landing Page Design </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Recommendations for Improvement </a:t>
            </a:r>
          </a:p>
        </p:txBody>
      </p:sp>
      <p:sp>
        <p:nvSpPr>
          <p:cNvPr id="13" name="TextBox 12">
            <a:extLst>
              <a:ext uri="{FF2B5EF4-FFF2-40B4-BE49-F238E27FC236}">
                <a16:creationId xmlns:a16="http://schemas.microsoft.com/office/drawing/2014/main" id="{AB956B6D-A248-7F5D-BF3E-D8368C34101F}"/>
              </a:ext>
            </a:extLst>
          </p:cNvPr>
          <p:cNvSpPr txBox="1"/>
          <p:nvPr/>
        </p:nvSpPr>
        <p:spPr>
          <a:xfrm>
            <a:off x="6267449" y="2528353"/>
            <a:ext cx="5172075" cy="2266518"/>
          </a:xfrm>
          <a:prstGeom prst="rect">
            <a:avLst/>
          </a:prstGeom>
          <a:noFill/>
        </p:spPr>
        <p:txBody>
          <a:bodyPr wrap="square">
            <a:spAutoFit/>
          </a:bodyPr>
          <a:lstStyle/>
          <a:p>
            <a:pPr>
              <a:buNone/>
            </a:pPr>
            <a:r>
              <a:rPr lang="en-US" b="1" dirty="0">
                <a:solidFill>
                  <a:srgbClr val="0070C0"/>
                </a:solidFill>
                <a:latin typeface="Bookman Old Style" panose="02050604050505020204" pitchFamily="18" charset="0"/>
              </a:rPr>
              <a:t>Project Outcome</a:t>
            </a:r>
          </a:p>
          <a:p>
            <a:pPr marL="285750" indent="-285750">
              <a:lnSpc>
                <a:spcPct val="200000"/>
              </a:lnSpc>
              <a:buFont typeface="Wingdings" panose="05000000000000000000" pitchFamily="2" charset="2"/>
              <a:buChar char="v"/>
            </a:pPr>
            <a:r>
              <a:rPr lang="en-IN" sz="1600" dirty="0">
                <a:latin typeface="Bookman Old Style" panose="02050604050505020204" pitchFamily="18" charset="0"/>
              </a:rPr>
              <a:t>Evaluate Website Performance</a:t>
            </a:r>
          </a:p>
          <a:p>
            <a:pPr marL="285750" indent="-285750">
              <a:lnSpc>
                <a:spcPct val="200000"/>
              </a:lnSpc>
              <a:buFont typeface="Wingdings" panose="05000000000000000000" pitchFamily="2" charset="2"/>
              <a:buChar char="v"/>
            </a:pPr>
            <a:r>
              <a:rPr lang="en-IN" sz="1600" dirty="0">
                <a:latin typeface="Bookman Old Style" panose="02050604050505020204" pitchFamily="18" charset="0"/>
              </a:rPr>
              <a:t>Identify Improvement Areas</a:t>
            </a:r>
          </a:p>
          <a:p>
            <a:pPr marL="285750" indent="-285750">
              <a:lnSpc>
                <a:spcPct val="200000"/>
              </a:lnSpc>
              <a:buFont typeface="Wingdings" panose="05000000000000000000" pitchFamily="2" charset="2"/>
              <a:buChar char="v"/>
            </a:pPr>
            <a:r>
              <a:rPr lang="en-IN" sz="1600" dirty="0">
                <a:latin typeface="Bookman Old Style" panose="02050604050505020204" pitchFamily="18" charset="0"/>
              </a:rPr>
              <a:t>Recommend Marketing Strategies</a:t>
            </a:r>
          </a:p>
          <a:p>
            <a:pPr marL="285750" indent="-285750">
              <a:lnSpc>
                <a:spcPct val="200000"/>
              </a:lnSpc>
              <a:buFont typeface="Wingdings" panose="05000000000000000000" pitchFamily="2" charset="2"/>
              <a:buChar char="v"/>
            </a:pPr>
            <a:r>
              <a:rPr lang="en-IN" sz="1600" dirty="0">
                <a:latin typeface="Bookman Old Style" panose="02050604050505020204" pitchFamily="18" charset="0"/>
              </a:rPr>
              <a:t>Design High-Converting Landing Page</a:t>
            </a:r>
          </a:p>
        </p:txBody>
      </p:sp>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9CAC4E9-20D7-A28B-43EC-E1ED91B3D072}"/>
              </a:ext>
            </a:extLst>
          </p:cNvPr>
          <p:cNvSpPr txBox="1"/>
          <p:nvPr/>
        </p:nvSpPr>
        <p:spPr>
          <a:xfrm>
            <a:off x="7658100" y="2000820"/>
            <a:ext cx="4283074" cy="3191386"/>
          </a:xfrm>
          <a:prstGeom prst="rect">
            <a:avLst/>
          </a:prstGeom>
          <a:noFill/>
        </p:spPr>
        <p:txBody>
          <a:bodyPr wrap="square">
            <a:spAutoFit/>
          </a:bodyPr>
          <a:lstStyle/>
          <a:p>
            <a:pPr>
              <a:lnSpc>
                <a:spcPct val="200000"/>
              </a:lnSpc>
              <a:spcAft>
                <a:spcPts val="800"/>
              </a:spcAft>
              <a:buNone/>
            </a:pPr>
            <a:r>
              <a:rPr lang="en-IN" kern="100" dirty="0">
                <a:effectLst/>
                <a:latin typeface="Bookman Old Style" panose="02050604050505020204" pitchFamily="18" charset="0"/>
                <a:ea typeface="Calibri" panose="020F0502020204030204" pitchFamily="34" charset="0"/>
                <a:cs typeface="Segoe UI Emoji" panose="020B0502040204020203" pitchFamily="34" charset="0"/>
              </a:rPr>
              <a:t>🌍</a:t>
            </a:r>
            <a:r>
              <a:rPr lang="en-IN" kern="100" dirty="0">
                <a:effectLst/>
                <a:latin typeface="Bookman Old Style" panose="02050604050505020204" pitchFamily="18" charset="0"/>
                <a:ea typeface="Calibri" panose="020F0502020204030204" pitchFamily="34" charset="0"/>
                <a:cs typeface="Mangal" panose="02040503050203030202" pitchFamily="18" charset="0"/>
              </a:rPr>
              <a:t> 150+ Countries Served </a:t>
            </a:r>
          </a:p>
          <a:p>
            <a:pPr>
              <a:lnSpc>
                <a:spcPct val="200000"/>
              </a:lnSpc>
              <a:spcAft>
                <a:spcPts val="800"/>
              </a:spcAft>
              <a:buNone/>
            </a:pPr>
            <a:r>
              <a:rPr lang="en-IN" kern="100" dirty="0">
                <a:effectLst/>
                <a:latin typeface="Bookman Old Style" panose="02050604050505020204" pitchFamily="18" charset="0"/>
                <a:ea typeface="Calibri" panose="020F0502020204030204" pitchFamily="34" charset="0"/>
                <a:cs typeface="Segoe UI Emoji" panose="020B0502040204020203" pitchFamily="34" charset="0"/>
              </a:rPr>
              <a:t>👥</a:t>
            </a:r>
            <a:r>
              <a:rPr lang="en-IN" kern="100" dirty="0">
                <a:effectLst/>
                <a:latin typeface="Bookman Old Style" panose="02050604050505020204" pitchFamily="18" charset="0"/>
                <a:ea typeface="Calibri" panose="020F0502020204030204" pitchFamily="34" charset="0"/>
                <a:cs typeface="Mangal" panose="02040503050203030202" pitchFamily="18" charset="0"/>
              </a:rPr>
              <a:t> Millions of Global Users </a:t>
            </a:r>
          </a:p>
          <a:p>
            <a:pPr>
              <a:lnSpc>
                <a:spcPct val="200000"/>
              </a:lnSpc>
              <a:spcAft>
                <a:spcPts val="800"/>
              </a:spcAft>
              <a:buNone/>
            </a:pPr>
            <a:r>
              <a:rPr lang="en-IN" kern="100" dirty="0">
                <a:effectLst/>
                <a:latin typeface="Bookman Old Style" panose="02050604050505020204" pitchFamily="18" charset="0"/>
                <a:ea typeface="Calibri" panose="020F0502020204030204" pitchFamily="34" charset="0"/>
                <a:cs typeface="Segoe UI Emoji" panose="020B0502040204020203" pitchFamily="34" charset="0"/>
              </a:rPr>
              <a:t>💼</a:t>
            </a:r>
            <a:r>
              <a:rPr lang="en-IN" kern="100" dirty="0">
                <a:effectLst/>
                <a:latin typeface="Bookman Old Style" panose="02050604050505020204" pitchFamily="18" charset="0"/>
                <a:ea typeface="Calibri" panose="020F0502020204030204" pitchFamily="34" charset="0"/>
                <a:cs typeface="Mangal" panose="02040503050203030202" pitchFamily="18" charset="0"/>
              </a:rPr>
              <a:t> 55+ Business Applications </a:t>
            </a:r>
          </a:p>
          <a:p>
            <a:pPr>
              <a:lnSpc>
                <a:spcPct val="200000"/>
              </a:lnSpc>
              <a:spcAft>
                <a:spcPts val="800"/>
              </a:spcAft>
              <a:buNone/>
            </a:pPr>
            <a:r>
              <a:rPr lang="en-IN" kern="100" dirty="0">
                <a:effectLst/>
                <a:latin typeface="Bookman Old Style" panose="02050604050505020204" pitchFamily="18" charset="0"/>
                <a:ea typeface="Calibri" panose="020F0502020204030204" pitchFamily="34" charset="0"/>
                <a:cs typeface="Segoe UI Emoji" panose="020B0502040204020203" pitchFamily="34" charset="0"/>
              </a:rPr>
              <a:t>🏢</a:t>
            </a:r>
            <a:r>
              <a:rPr lang="en-IN" kern="100" dirty="0">
                <a:effectLst/>
                <a:latin typeface="Bookman Old Style" panose="02050604050505020204" pitchFamily="18" charset="0"/>
                <a:ea typeface="Calibri" panose="020F0502020204030204" pitchFamily="34" charset="0"/>
                <a:cs typeface="Mangal" panose="02040503050203030202" pitchFamily="18" charset="0"/>
              </a:rPr>
              <a:t> Headquarters: Chennai, India</a:t>
            </a:r>
          </a:p>
          <a:p>
            <a:pPr>
              <a:lnSpc>
                <a:spcPct val="200000"/>
              </a:lnSpc>
              <a:spcAft>
                <a:spcPts val="800"/>
              </a:spcAft>
              <a:buNone/>
            </a:pPr>
            <a:r>
              <a:rPr lang="en-IN" dirty="0"/>
              <a:t>💻 </a:t>
            </a:r>
            <a:r>
              <a:rPr lang="en-IN" dirty="0">
                <a:latin typeface="Bookman Old Style" panose="02050604050505020204" pitchFamily="18" charset="0"/>
              </a:rPr>
              <a:t>Strong Digital Presence</a:t>
            </a:r>
            <a:endParaRPr lang="en-IN" kern="100" dirty="0">
              <a:effectLst/>
              <a:latin typeface="Bookman Old Style" panose="02050604050505020204" pitchFamily="18" charset="0"/>
              <a:ea typeface="Calibri" panose="020F0502020204030204" pitchFamily="34" charset="0"/>
              <a:cs typeface="Mangal" panose="02040503050203030202" pitchFamily="18" charset="0"/>
            </a:endParaRPr>
          </a:p>
        </p:txBody>
      </p:sp>
      <p:sp>
        <p:nvSpPr>
          <p:cNvPr id="5" name="TextBox 4">
            <a:extLst>
              <a:ext uri="{FF2B5EF4-FFF2-40B4-BE49-F238E27FC236}">
                <a16:creationId xmlns:a16="http://schemas.microsoft.com/office/drawing/2014/main" id="{A12FD84B-4349-F781-5A5F-98F079E9FD58}"/>
              </a:ext>
            </a:extLst>
          </p:cNvPr>
          <p:cNvSpPr txBox="1"/>
          <p:nvPr/>
        </p:nvSpPr>
        <p:spPr>
          <a:xfrm>
            <a:off x="3171825" y="260745"/>
            <a:ext cx="6096000" cy="584775"/>
          </a:xfrm>
          <a:prstGeom prst="rect">
            <a:avLst/>
          </a:prstGeom>
          <a:noFill/>
        </p:spPr>
        <p:txBody>
          <a:bodyPr wrap="square">
            <a:spAutoFit/>
          </a:bodyPr>
          <a:lstStyle/>
          <a:p>
            <a:pPr algn="ctr">
              <a:buNone/>
            </a:pPr>
            <a:r>
              <a:rPr lang="en-US" sz="3200" b="1" u="sng" dirty="0">
                <a:solidFill>
                  <a:srgbClr val="0070C0"/>
                </a:solidFill>
                <a:latin typeface="Bookman Old Style" panose="02050604050505020204" pitchFamily="18" charset="0"/>
              </a:rPr>
              <a:t>COMPANY PROFILE</a:t>
            </a:r>
          </a:p>
        </p:txBody>
      </p:sp>
      <p:sp>
        <p:nvSpPr>
          <p:cNvPr id="9" name="TextBox 8">
            <a:extLst>
              <a:ext uri="{FF2B5EF4-FFF2-40B4-BE49-F238E27FC236}">
                <a16:creationId xmlns:a16="http://schemas.microsoft.com/office/drawing/2014/main" id="{4838D2B6-FCEB-F0F3-3367-22BBDF51D57D}"/>
              </a:ext>
            </a:extLst>
          </p:cNvPr>
          <p:cNvSpPr txBox="1"/>
          <p:nvPr/>
        </p:nvSpPr>
        <p:spPr>
          <a:xfrm>
            <a:off x="857250" y="1129094"/>
            <a:ext cx="6096000" cy="369332"/>
          </a:xfrm>
          <a:prstGeom prst="rect">
            <a:avLst/>
          </a:prstGeom>
          <a:noFill/>
        </p:spPr>
        <p:txBody>
          <a:bodyPr wrap="square">
            <a:spAutoFit/>
          </a:bodyPr>
          <a:lstStyle/>
          <a:p>
            <a:pPr algn="ctr"/>
            <a:r>
              <a:rPr lang="en-IN" sz="1800" b="1" dirty="0">
                <a:solidFill>
                  <a:schemeClr val="accent5">
                    <a:lumMod val="50000"/>
                  </a:schemeClr>
                </a:solidFill>
                <a:effectLst/>
                <a:latin typeface="Bookman Old Style" panose="02050604050505020204" pitchFamily="18" charset="0"/>
                <a:ea typeface="Calibri" panose="020F0502020204030204" pitchFamily="34" charset="0"/>
              </a:rPr>
              <a:t>Zoho Corporation </a:t>
            </a:r>
            <a:r>
              <a:rPr lang="en-IN" sz="1800" b="1" dirty="0" err="1">
                <a:solidFill>
                  <a:schemeClr val="accent5">
                    <a:lumMod val="50000"/>
                  </a:schemeClr>
                </a:solidFill>
                <a:effectLst/>
                <a:latin typeface="Bookman Old Style" panose="02050604050505020204" pitchFamily="18" charset="0"/>
                <a:ea typeface="Calibri" panose="020F0502020204030204" pitchFamily="34" charset="0"/>
              </a:rPr>
              <a:t>Pvt.</a:t>
            </a:r>
            <a:r>
              <a:rPr lang="en-IN" sz="1800" b="1" dirty="0">
                <a:solidFill>
                  <a:schemeClr val="accent5">
                    <a:lumMod val="50000"/>
                  </a:schemeClr>
                </a:solidFill>
                <a:effectLst/>
                <a:latin typeface="Bookman Old Style" panose="02050604050505020204" pitchFamily="18" charset="0"/>
                <a:ea typeface="Calibri" panose="020F0502020204030204" pitchFamily="34" charset="0"/>
              </a:rPr>
              <a:t> Ltd</a:t>
            </a:r>
            <a:endParaRPr lang="en-IN" dirty="0">
              <a:solidFill>
                <a:schemeClr val="accent5">
                  <a:lumMod val="50000"/>
                </a:schemeClr>
              </a:solidFill>
              <a:latin typeface="Bookman Old Style" panose="02050604050505020204" pitchFamily="18" charset="0"/>
            </a:endParaRPr>
          </a:p>
        </p:txBody>
      </p:sp>
      <p:pic>
        <p:nvPicPr>
          <p:cNvPr id="13" name="Picture 12">
            <a:extLst>
              <a:ext uri="{FF2B5EF4-FFF2-40B4-BE49-F238E27FC236}">
                <a16:creationId xmlns:a16="http://schemas.microsoft.com/office/drawing/2014/main" id="{E9C122D8-AE02-EB46-79BB-6C9224E7855B}"/>
              </a:ext>
            </a:extLst>
          </p:cNvPr>
          <p:cNvPicPr>
            <a:picLocks noChangeAspect="1"/>
          </p:cNvPicPr>
          <p:nvPr/>
        </p:nvPicPr>
        <p:blipFill>
          <a:blip r:embed="rId2"/>
          <a:stretch>
            <a:fillRect/>
          </a:stretch>
        </p:blipFill>
        <p:spPr>
          <a:xfrm>
            <a:off x="10515600" y="742686"/>
            <a:ext cx="1162050" cy="499681"/>
          </a:xfrm>
          <a:prstGeom prst="rect">
            <a:avLst/>
          </a:prstGeom>
        </p:spPr>
      </p:pic>
      <p:graphicFrame>
        <p:nvGraphicFramePr>
          <p:cNvPr id="14" name="Table 13">
            <a:extLst>
              <a:ext uri="{FF2B5EF4-FFF2-40B4-BE49-F238E27FC236}">
                <a16:creationId xmlns:a16="http://schemas.microsoft.com/office/drawing/2014/main" id="{254D60E8-216D-0B82-821C-CD29D0414F3E}"/>
              </a:ext>
            </a:extLst>
          </p:cNvPr>
          <p:cNvGraphicFramePr>
            <a:graphicFrameLocks noGrp="1"/>
          </p:cNvGraphicFramePr>
          <p:nvPr>
            <p:extLst>
              <p:ext uri="{D42A27DB-BD31-4B8C-83A1-F6EECF244321}">
                <p14:modId xmlns:p14="http://schemas.microsoft.com/office/powerpoint/2010/main" val="1383873565"/>
              </p:ext>
            </p:extLst>
          </p:nvPr>
        </p:nvGraphicFramePr>
        <p:xfrm>
          <a:off x="250826" y="2026523"/>
          <a:ext cx="7216774" cy="4108046"/>
        </p:xfrm>
        <a:graphic>
          <a:graphicData uri="http://schemas.openxmlformats.org/drawingml/2006/table">
            <a:tbl>
              <a:tblPr firstRow="1" bandRow="1">
                <a:tableStyleId>{5C22544A-7EE6-4342-B048-85BDC9FD1C3A}</a:tableStyleId>
              </a:tblPr>
              <a:tblGrid>
                <a:gridCol w="3608387">
                  <a:extLst>
                    <a:ext uri="{9D8B030D-6E8A-4147-A177-3AD203B41FA5}">
                      <a16:colId xmlns:a16="http://schemas.microsoft.com/office/drawing/2014/main" val="3540871109"/>
                    </a:ext>
                  </a:extLst>
                </a:gridCol>
                <a:gridCol w="3608387">
                  <a:extLst>
                    <a:ext uri="{9D8B030D-6E8A-4147-A177-3AD203B41FA5}">
                      <a16:colId xmlns:a16="http://schemas.microsoft.com/office/drawing/2014/main" val="2712745557"/>
                    </a:ext>
                  </a:extLst>
                </a:gridCol>
              </a:tblGrid>
              <a:tr h="490825">
                <a:tc>
                  <a:txBody>
                    <a:bodyPr/>
                    <a:lstStyle/>
                    <a:p>
                      <a:pPr algn="ctr">
                        <a:lnSpc>
                          <a:spcPct val="107000"/>
                        </a:lnSpc>
                        <a:spcAft>
                          <a:spcPts val="800"/>
                        </a:spcAft>
                        <a:buNone/>
                      </a:pPr>
                      <a:r>
                        <a:rPr lang="en-IN" sz="1400" b="1"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Particulars</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Details</a:t>
                      </a:r>
                      <a:endParaRPr lang="en-IN" sz="1400" kern="10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30406651"/>
                  </a:ext>
                </a:extLst>
              </a:tr>
              <a:tr h="490825">
                <a:tc>
                  <a:txBody>
                    <a:bodyPr/>
                    <a:lstStyle/>
                    <a:p>
                      <a:pPr algn="ctr">
                        <a:lnSpc>
                          <a:spcPct val="107000"/>
                        </a:lnSpc>
                        <a:spcAft>
                          <a:spcPts val="800"/>
                        </a:spcAft>
                        <a:buNone/>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Company Name</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kern="100" dirty="0">
                          <a:effectLst/>
                          <a:latin typeface="Bookman Old Style" panose="02050604050505020204" pitchFamily="18" charset="0"/>
                          <a:ea typeface="Calibri" panose="020F0502020204030204" pitchFamily="34" charset="0"/>
                          <a:cs typeface="Mangal" panose="02040503050203030202" pitchFamily="18" charset="0"/>
                        </a:rPr>
                        <a:t>Zoho Corporation </a:t>
                      </a:r>
                      <a:r>
                        <a:rPr lang="en-IN" sz="1400" kern="100" dirty="0" err="1">
                          <a:effectLst/>
                          <a:latin typeface="Bookman Old Style" panose="02050604050505020204" pitchFamily="18" charset="0"/>
                          <a:ea typeface="Calibri" panose="020F0502020204030204" pitchFamily="34" charset="0"/>
                          <a:cs typeface="Mangal" panose="02040503050203030202" pitchFamily="18" charset="0"/>
                        </a:rPr>
                        <a:t>Pvt.</a:t>
                      </a:r>
                      <a:r>
                        <a:rPr lang="en-IN" sz="1400" kern="100" dirty="0">
                          <a:effectLst/>
                          <a:latin typeface="Bookman Old Style" panose="02050604050505020204" pitchFamily="18" charset="0"/>
                          <a:ea typeface="Calibri" panose="020F0502020204030204" pitchFamily="34" charset="0"/>
                          <a:cs typeface="Mangal" panose="02040503050203030202" pitchFamily="18" charset="0"/>
                        </a:rPr>
                        <a:t> Ltd.</a:t>
                      </a:r>
                    </a:p>
                    <a:p>
                      <a:pPr algn="ctr"/>
                      <a:endParaRPr lang="en-IN" sz="1400" dirty="0">
                        <a:latin typeface="Bookman Old Style" panose="02050604050505020204" pitchFamily="18" charset="0"/>
                      </a:endParaRPr>
                    </a:p>
                  </a:txBody>
                  <a:tcPr marL="68580" marR="68580" marT="0" marB="0"/>
                </a:tc>
                <a:extLst>
                  <a:ext uri="{0D108BD9-81ED-4DB2-BD59-A6C34878D82A}">
                    <a16:rowId xmlns:a16="http://schemas.microsoft.com/office/drawing/2014/main" val="1672364488"/>
                  </a:ext>
                </a:extLst>
              </a:tr>
              <a:tr h="490825">
                <a:tc>
                  <a:txBody>
                    <a:bodyPr/>
                    <a:lstStyle/>
                    <a:p>
                      <a:pPr algn="ctr">
                        <a:lnSpc>
                          <a:spcPct val="107000"/>
                        </a:lnSpc>
                        <a:spcAft>
                          <a:spcPts val="800"/>
                        </a:spcAft>
                        <a:buNone/>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Industry</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IN" sz="1400" kern="100" dirty="0">
                          <a:effectLst/>
                          <a:latin typeface="Bookman Old Style" panose="02050604050505020204" pitchFamily="18" charset="0"/>
                          <a:cs typeface="Mangal" panose="02040503050203030202" pitchFamily="18" charset="0"/>
                        </a:rPr>
                        <a:t>  </a:t>
                      </a: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Software as a Service (SaaS)</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p>
                      <a:pPr algn="ctr">
                        <a:lnSpc>
                          <a:spcPct val="107000"/>
                        </a:lnSpc>
                        <a:buNone/>
                      </a:pPr>
                      <a:endParaRPr lang="en-IN" sz="1400" kern="100" dirty="0">
                        <a:effectLst/>
                        <a:latin typeface="Bookman Old Style" panose="02050604050505020204" pitchFamily="18" charset="0"/>
                        <a:cs typeface="Mangal" panose="02040503050203030202" pitchFamily="18" charset="0"/>
                      </a:endParaRPr>
                    </a:p>
                  </a:txBody>
                  <a:tcPr marL="9525" marR="9525" marT="9525" marB="9525"/>
                </a:tc>
                <a:extLst>
                  <a:ext uri="{0D108BD9-81ED-4DB2-BD59-A6C34878D82A}">
                    <a16:rowId xmlns:a16="http://schemas.microsoft.com/office/drawing/2014/main" val="1211065382"/>
                  </a:ext>
                </a:extLst>
              </a:tr>
              <a:tr h="490825">
                <a:tc>
                  <a:txBody>
                    <a:bodyPr/>
                    <a:lstStyle/>
                    <a:p>
                      <a:pPr algn="ctr">
                        <a:lnSpc>
                          <a:spcPct val="107000"/>
                        </a:lnSpc>
                        <a:spcAft>
                          <a:spcPts val="800"/>
                        </a:spcAft>
                        <a:buNone/>
                      </a:pPr>
                      <a:r>
                        <a:rPr lang="en-IN" sz="1400" kern="10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Founded</a:t>
                      </a:r>
                      <a:endParaRPr lang="en-IN" sz="1400" kern="10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1996</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p>
                      <a:pPr algn="ctr">
                        <a:lnSpc>
                          <a:spcPct val="107000"/>
                        </a:lnSpc>
                        <a:spcAft>
                          <a:spcPts val="800"/>
                        </a:spcAft>
                        <a:buNone/>
                      </a:pP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9525" marR="9525" marT="9525" marB="9525"/>
                </a:tc>
                <a:extLst>
                  <a:ext uri="{0D108BD9-81ED-4DB2-BD59-A6C34878D82A}">
                    <a16:rowId xmlns:a16="http://schemas.microsoft.com/office/drawing/2014/main" val="3693503245"/>
                  </a:ext>
                </a:extLst>
              </a:tr>
              <a:tr h="490825">
                <a:tc>
                  <a:txBody>
                    <a:bodyPr/>
                    <a:lstStyle/>
                    <a:p>
                      <a:pPr algn="ctr">
                        <a:lnSpc>
                          <a:spcPct val="107000"/>
                        </a:lnSpc>
                        <a:spcAft>
                          <a:spcPts val="800"/>
                        </a:spcAft>
                        <a:buNone/>
                      </a:pPr>
                      <a:r>
                        <a:rPr lang="en-IN" sz="1400" kern="10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Headquarters</a:t>
                      </a:r>
                      <a:endParaRPr lang="en-IN" sz="1400" kern="10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Chennai, Tamil Nadu, India</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p>
                      <a:pPr algn="ctr">
                        <a:lnSpc>
                          <a:spcPct val="107000"/>
                        </a:lnSpc>
                        <a:spcAft>
                          <a:spcPts val="800"/>
                        </a:spcAft>
                        <a:buNone/>
                      </a:pP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506908883"/>
                  </a:ext>
                </a:extLst>
              </a:tr>
              <a:tr h="490825">
                <a:tc>
                  <a:txBody>
                    <a:bodyPr/>
                    <a:lstStyle/>
                    <a:p>
                      <a:pPr algn="ctr">
                        <a:lnSpc>
                          <a:spcPct val="107000"/>
                        </a:lnSpc>
                        <a:spcAft>
                          <a:spcPts val="800"/>
                        </a:spcAft>
                        <a:buNone/>
                      </a:pPr>
                      <a:r>
                        <a:rPr lang="en-IN" sz="1400" kern="10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Founders</a:t>
                      </a:r>
                      <a:endParaRPr lang="en-IN" sz="1400" kern="10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Sridhar </a:t>
                      </a:r>
                      <a:r>
                        <a:rPr lang="en-IN" sz="1400" kern="100" dirty="0" err="1">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Vembu</a:t>
                      </a: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 &amp; Tony Thomas</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p>
                      <a:pPr algn="ctr">
                        <a:lnSpc>
                          <a:spcPct val="107000"/>
                        </a:lnSpc>
                        <a:spcAft>
                          <a:spcPts val="800"/>
                        </a:spcAft>
                        <a:buNone/>
                      </a:pP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2964805988"/>
                  </a:ext>
                </a:extLst>
              </a:tr>
              <a:tr h="490825">
                <a:tc>
                  <a:txBody>
                    <a:bodyPr/>
                    <a:lstStyle/>
                    <a:p>
                      <a:pPr algn="ctr">
                        <a:lnSpc>
                          <a:spcPct val="107000"/>
                        </a:lnSpc>
                        <a:spcAft>
                          <a:spcPts val="800"/>
                        </a:spcAft>
                        <a:buNone/>
                      </a:pPr>
                      <a:r>
                        <a:rPr lang="en-IN" sz="1400" kern="10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Products</a:t>
                      </a:r>
                      <a:endParaRPr lang="en-IN" sz="1400" kern="10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algn="ctr">
                        <a:lnSpc>
                          <a:spcPct val="107000"/>
                        </a:lnSpc>
                        <a:spcAft>
                          <a:spcPts val="800"/>
                        </a:spcAft>
                        <a:buNone/>
                      </a:pPr>
                      <a:r>
                        <a:rPr lang="en-IN" sz="1400" kern="1200" dirty="0">
                          <a:solidFill>
                            <a:schemeClr val="dk1"/>
                          </a:solidFill>
                          <a:effectLst/>
                          <a:latin typeface="Bookman Old Style" panose="02050604050505020204" pitchFamily="18" charset="0"/>
                          <a:ea typeface="+mn-ea"/>
                          <a:cs typeface="+mn-cs"/>
                        </a:rPr>
                        <a:t>CRM, Books, Mail, Projects, People, Desk, Creator and more</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extLst>
                  <a:ext uri="{0D108BD9-81ED-4DB2-BD59-A6C34878D82A}">
                    <a16:rowId xmlns:a16="http://schemas.microsoft.com/office/drawing/2014/main" val="3968867117"/>
                  </a:ext>
                </a:extLst>
              </a:tr>
              <a:tr h="490825">
                <a:tc>
                  <a:txBody>
                    <a:bodyPr/>
                    <a:lstStyle/>
                    <a:p>
                      <a:pPr algn="ctr">
                        <a:lnSpc>
                          <a:spcPct val="107000"/>
                        </a:lnSpc>
                        <a:spcAft>
                          <a:spcPts val="800"/>
                        </a:spcAft>
                        <a:buNone/>
                      </a:pPr>
                      <a:r>
                        <a:rPr lang="en-IN" sz="1400" kern="100" dirty="0">
                          <a:solidFill>
                            <a:srgbClr val="000000"/>
                          </a:solidFill>
                          <a:effectLst/>
                          <a:latin typeface="Bookman Old Style" panose="02050604050505020204" pitchFamily="18" charset="0"/>
                          <a:ea typeface="Calibri" panose="020F0502020204030204" pitchFamily="34" charset="0"/>
                          <a:cs typeface="Mangal" panose="02040503050203030202" pitchFamily="18" charset="0"/>
                        </a:rPr>
                        <a:t>Website</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68580" marR="68580" marT="0" marB="0"/>
                </a:tc>
                <a:tc>
                  <a:txBody>
                    <a:bodyPr/>
                    <a:lstStyle/>
                    <a:p>
                      <a:pPr algn="ctr">
                        <a:lnSpc>
                          <a:spcPct val="107000"/>
                        </a:lnSpc>
                        <a:spcAft>
                          <a:spcPts val="800"/>
                        </a:spcAft>
                        <a:buNone/>
                      </a:pPr>
                      <a:r>
                        <a:rPr lang="en-IN" sz="1400" u="sng" kern="100" dirty="0">
                          <a:solidFill>
                            <a:srgbClr val="0563C1"/>
                          </a:solidFill>
                          <a:effectLst/>
                          <a:latin typeface="Bookman Old Style" panose="02050604050505020204" pitchFamily="18" charset="0"/>
                          <a:ea typeface="Calibri" panose="020F0502020204030204" pitchFamily="34" charset="0"/>
                          <a:cs typeface="Mangal" panose="02040503050203030202" pitchFamily="18" charset="0"/>
                          <a:hlinkClick r:id="rId3"/>
                        </a:rPr>
                        <a:t>www.zoho.com</a:t>
                      </a:r>
                      <a:endParaRPr lang="en-IN" sz="1400" kern="100" dirty="0">
                        <a:effectLst/>
                        <a:latin typeface="Bookman Old Style" panose="02050604050505020204" pitchFamily="18" charset="0"/>
                        <a:ea typeface="Calibri" panose="020F0502020204030204" pitchFamily="34" charset="0"/>
                        <a:cs typeface="Mangal" panose="02040503050203030202" pitchFamily="18" charset="0"/>
                      </a:endParaRPr>
                    </a:p>
                  </a:txBody>
                  <a:tcPr marL="9525" marR="9525" marT="9525" marB="9525" anchor="ctr"/>
                </a:tc>
                <a:extLst>
                  <a:ext uri="{0D108BD9-81ED-4DB2-BD59-A6C34878D82A}">
                    <a16:rowId xmlns:a16="http://schemas.microsoft.com/office/drawing/2014/main" val="1141481724"/>
                  </a:ext>
                </a:extLst>
              </a:tr>
            </a:tbl>
          </a:graphicData>
        </a:graphic>
      </p:graphicFrame>
    </p:spTree>
    <p:extLst>
      <p:ext uri="{BB962C8B-B14F-4D97-AF65-F5344CB8AC3E}">
        <p14:creationId xmlns:p14="http://schemas.microsoft.com/office/powerpoint/2010/main" val="248147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5E703F0-19D7-79D0-41A4-585CCFD5B1F7}"/>
              </a:ext>
            </a:extLst>
          </p:cNvPr>
          <p:cNvGraphicFramePr>
            <a:graphicFrameLocks noGrp="1"/>
          </p:cNvGraphicFramePr>
          <p:nvPr>
            <p:extLst>
              <p:ext uri="{D42A27DB-BD31-4B8C-83A1-F6EECF244321}">
                <p14:modId xmlns:p14="http://schemas.microsoft.com/office/powerpoint/2010/main" val="2806659143"/>
              </p:ext>
            </p:extLst>
          </p:nvPr>
        </p:nvGraphicFramePr>
        <p:xfrm>
          <a:off x="412751" y="889634"/>
          <a:ext cx="5226048" cy="4224975"/>
        </p:xfrm>
        <a:graphic>
          <a:graphicData uri="http://schemas.openxmlformats.org/drawingml/2006/table">
            <a:tbl>
              <a:tblPr firstRow="1" bandRow="1">
                <a:tableStyleId>{5C22544A-7EE6-4342-B048-85BDC9FD1C3A}</a:tableStyleId>
              </a:tblPr>
              <a:tblGrid>
                <a:gridCol w="1742016">
                  <a:extLst>
                    <a:ext uri="{9D8B030D-6E8A-4147-A177-3AD203B41FA5}">
                      <a16:colId xmlns:a16="http://schemas.microsoft.com/office/drawing/2014/main" val="2351394159"/>
                    </a:ext>
                  </a:extLst>
                </a:gridCol>
                <a:gridCol w="1742016">
                  <a:extLst>
                    <a:ext uri="{9D8B030D-6E8A-4147-A177-3AD203B41FA5}">
                      <a16:colId xmlns:a16="http://schemas.microsoft.com/office/drawing/2014/main" val="1403167324"/>
                    </a:ext>
                  </a:extLst>
                </a:gridCol>
                <a:gridCol w="1742016">
                  <a:extLst>
                    <a:ext uri="{9D8B030D-6E8A-4147-A177-3AD203B41FA5}">
                      <a16:colId xmlns:a16="http://schemas.microsoft.com/office/drawing/2014/main" val="2484098268"/>
                    </a:ext>
                  </a:extLst>
                </a:gridCol>
              </a:tblGrid>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Bookman Old Style" panose="02050604050505020204" pitchFamily="18" charset="0"/>
                        </a:rPr>
                        <a:t>Criteria</a:t>
                      </a:r>
                      <a:endParaRPr lang="en-IN" sz="1600" dirty="0">
                        <a:latin typeface="Bookman Old Style" panose="02050604050505020204" pitchFamily="18" charset="0"/>
                      </a:endParaRP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Bookman Old Style" panose="02050604050505020204" pitchFamily="18" charset="0"/>
                        </a:rPr>
                        <a:t>Mobile</a:t>
                      </a:r>
                      <a:endParaRPr lang="en-IN" sz="1600" dirty="0">
                        <a:latin typeface="Bookman Old Style" panose="02050604050505020204" pitchFamily="18" charset="0"/>
                      </a:endParaRP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Bookman Old Style" panose="02050604050505020204" pitchFamily="18" charset="0"/>
                        </a:rPr>
                        <a:t>Desktop</a:t>
                      </a:r>
                      <a:endParaRPr lang="en-IN" sz="1600" dirty="0">
                        <a:latin typeface="Bookman Old Style" panose="02050604050505020204" pitchFamily="18" charset="0"/>
                      </a:endParaRP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2697988822"/>
                  </a:ext>
                </a:extLst>
              </a:tr>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Performance</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71</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66</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52704944"/>
                  </a:ext>
                </a:extLst>
              </a:tr>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Accessibility</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96</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100</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942060903"/>
                  </a:ext>
                </a:extLst>
              </a:tr>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Best Practices</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73</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73</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678104343"/>
                  </a:ext>
                </a:extLst>
              </a:tr>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SEO</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92</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92</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766274790"/>
                  </a:ext>
                </a:extLst>
              </a:tr>
              <a:tr h="6804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Core Web Vitals</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Failed</a:t>
                      </a:r>
                    </a:p>
                    <a:p>
                      <a:pPr algn="ctr"/>
                      <a:endParaRPr lang="en-IN" sz="16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Passed</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39591288"/>
                  </a:ext>
                </a:extLst>
              </a:tr>
            </a:tbl>
          </a:graphicData>
        </a:graphic>
      </p:graphicFrame>
      <p:sp>
        <p:nvSpPr>
          <p:cNvPr id="7" name="TextBox 6">
            <a:extLst>
              <a:ext uri="{FF2B5EF4-FFF2-40B4-BE49-F238E27FC236}">
                <a16:creationId xmlns:a16="http://schemas.microsoft.com/office/drawing/2014/main" id="{0A645F63-2C73-B5D8-45B6-AFEC1B45538F}"/>
              </a:ext>
            </a:extLst>
          </p:cNvPr>
          <p:cNvSpPr txBox="1"/>
          <p:nvPr/>
        </p:nvSpPr>
        <p:spPr>
          <a:xfrm>
            <a:off x="412752" y="5210087"/>
            <a:ext cx="5597524" cy="1107996"/>
          </a:xfrm>
          <a:prstGeom prst="rect">
            <a:avLst/>
          </a:prstGeom>
          <a:noFill/>
        </p:spPr>
        <p:txBody>
          <a:bodyPr wrap="square">
            <a:spAutoFit/>
          </a:bodyPr>
          <a:lstStyle/>
          <a:p>
            <a:pPr>
              <a:buNone/>
            </a:pPr>
            <a:r>
              <a:rPr lang="en-US" b="1" dirty="0">
                <a:latin typeface="Bookman Old Style" panose="02050604050505020204" pitchFamily="18" charset="0"/>
              </a:rPr>
              <a:t>Key Observation</a:t>
            </a:r>
            <a:endParaRPr lang="en-US" dirty="0">
              <a:latin typeface="Bookman Old Style" panose="02050604050505020204" pitchFamily="18" charset="0"/>
            </a:endParaRPr>
          </a:p>
          <a:p>
            <a:pPr>
              <a:buNone/>
            </a:pPr>
            <a:r>
              <a:rPr lang="en-US" sz="1600" dirty="0">
                <a:latin typeface="Bookman Old Style" panose="02050604050505020204" pitchFamily="18" charset="0"/>
              </a:rPr>
              <a:t>Zoho demonstrates excellent SEO and accessibility scores. However, performance optimization is needed, particularly for mobile devices</a:t>
            </a:r>
          </a:p>
        </p:txBody>
      </p:sp>
      <p:pic>
        <p:nvPicPr>
          <p:cNvPr id="9" name="Picture 8">
            <a:extLst>
              <a:ext uri="{FF2B5EF4-FFF2-40B4-BE49-F238E27FC236}">
                <a16:creationId xmlns:a16="http://schemas.microsoft.com/office/drawing/2014/main" id="{4E30EF1E-2EB3-66C2-D9F4-2B4CE54E6683}"/>
              </a:ext>
            </a:extLst>
          </p:cNvPr>
          <p:cNvPicPr>
            <a:picLocks noChangeAspect="1"/>
          </p:cNvPicPr>
          <p:nvPr/>
        </p:nvPicPr>
        <p:blipFill>
          <a:blip r:embed="rId2"/>
          <a:srcRect t="1002" r="1320"/>
          <a:stretch>
            <a:fillRect/>
          </a:stretch>
        </p:blipFill>
        <p:spPr>
          <a:xfrm>
            <a:off x="6096000" y="1015163"/>
            <a:ext cx="5683249" cy="2413837"/>
          </a:xfrm>
          <a:prstGeom prst="rect">
            <a:avLst/>
          </a:prstGeom>
        </p:spPr>
      </p:pic>
      <p:pic>
        <p:nvPicPr>
          <p:cNvPr id="11" name="Picture 10">
            <a:extLst>
              <a:ext uri="{FF2B5EF4-FFF2-40B4-BE49-F238E27FC236}">
                <a16:creationId xmlns:a16="http://schemas.microsoft.com/office/drawing/2014/main" id="{67927C00-97AD-44B0-06EE-DC3F151A1E6B}"/>
              </a:ext>
            </a:extLst>
          </p:cNvPr>
          <p:cNvPicPr>
            <a:picLocks noChangeAspect="1"/>
          </p:cNvPicPr>
          <p:nvPr/>
        </p:nvPicPr>
        <p:blipFill>
          <a:blip r:embed="rId3"/>
          <a:stretch>
            <a:fillRect/>
          </a:stretch>
        </p:blipFill>
        <p:spPr>
          <a:xfrm>
            <a:off x="6096000" y="3429000"/>
            <a:ext cx="5683248" cy="2779554"/>
          </a:xfrm>
          <a:prstGeom prst="rect">
            <a:avLst/>
          </a:prstGeom>
        </p:spPr>
      </p:pic>
      <p:sp>
        <p:nvSpPr>
          <p:cNvPr id="13" name="TextBox 12">
            <a:extLst>
              <a:ext uri="{FF2B5EF4-FFF2-40B4-BE49-F238E27FC236}">
                <a16:creationId xmlns:a16="http://schemas.microsoft.com/office/drawing/2014/main" id="{3EFA2F50-C91E-80CF-A4B1-F57F90BCCE96}"/>
              </a:ext>
            </a:extLst>
          </p:cNvPr>
          <p:cNvSpPr txBox="1"/>
          <p:nvPr/>
        </p:nvSpPr>
        <p:spPr>
          <a:xfrm>
            <a:off x="2841623" y="211313"/>
            <a:ext cx="7664452"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WEBSITE AUDIT OVERVIEW</a:t>
            </a:r>
          </a:p>
        </p:txBody>
      </p:sp>
    </p:spTree>
    <p:extLst>
      <p:ext uri="{BB962C8B-B14F-4D97-AF65-F5344CB8AC3E}">
        <p14:creationId xmlns:p14="http://schemas.microsoft.com/office/powerpoint/2010/main" val="3886950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1F81F6-073B-DD1D-399E-023C789B8652}"/>
              </a:ext>
            </a:extLst>
          </p:cNvPr>
          <p:cNvSpPr txBox="1"/>
          <p:nvPr/>
        </p:nvSpPr>
        <p:spPr>
          <a:xfrm>
            <a:off x="2952750" y="101084"/>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WEBSITE AUDIT</a:t>
            </a:r>
          </a:p>
        </p:txBody>
      </p:sp>
      <p:graphicFrame>
        <p:nvGraphicFramePr>
          <p:cNvPr id="13" name="Table 12">
            <a:extLst>
              <a:ext uri="{FF2B5EF4-FFF2-40B4-BE49-F238E27FC236}">
                <a16:creationId xmlns:a16="http://schemas.microsoft.com/office/drawing/2014/main" id="{872B3126-9B2B-5536-EA7A-B736D75FFCF8}"/>
              </a:ext>
            </a:extLst>
          </p:cNvPr>
          <p:cNvGraphicFramePr>
            <a:graphicFrameLocks noGrp="1"/>
          </p:cNvGraphicFramePr>
          <p:nvPr>
            <p:extLst>
              <p:ext uri="{D42A27DB-BD31-4B8C-83A1-F6EECF244321}">
                <p14:modId xmlns:p14="http://schemas.microsoft.com/office/powerpoint/2010/main" val="2276863337"/>
              </p:ext>
            </p:extLst>
          </p:nvPr>
        </p:nvGraphicFramePr>
        <p:xfrm>
          <a:off x="987426" y="761515"/>
          <a:ext cx="10217148" cy="5516880"/>
        </p:xfrm>
        <a:graphic>
          <a:graphicData uri="http://schemas.openxmlformats.org/drawingml/2006/table">
            <a:tbl>
              <a:tblPr firstRow="1" bandRow="1">
                <a:tableStyleId>{BC89EF96-8CEA-46FF-86C4-4CE0E7609802}</a:tableStyleId>
              </a:tblPr>
              <a:tblGrid>
                <a:gridCol w="3405716">
                  <a:extLst>
                    <a:ext uri="{9D8B030D-6E8A-4147-A177-3AD203B41FA5}">
                      <a16:colId xmlns:a16="http://schemas.microsoft.com/office/drawing/2014/main" val="1116808021"/>
                    </a:ext>
                  </a:extLst>
                </a:gridCol>
                <a:gridCol w="3045883">
                  <a:extLst>
                    <a:ext uri="{9D8B030D-6E8A-4147-A177-3AD203B41FA5}">
                      <a16:colId xmlns:a16="http://schemas.microsoft.com/office/drawing/2014/main" val="3977801665"/>
                    </a:ext>
                  </a:extLst>
                </a:gridCol>
                <a:gridCol w="3765549">
                  <a:extLst>
                    <a:ext uri="{9D8B030D-6E8A-4147-A177-3AD203B41FA5}">
                      <a16:colId xmlns:a16="http://schemas.microsoft.com/office/drawing/2014/main" val="4104775126"/>
                    </a:ext>
                  </a:extLst>
                </a:gridCol>
              </a:tblGrid>
              <a:tr h="4564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Audit Criteria</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Rating</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Observation</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483978098"/>
                  </a:ext>
                </a:extLst>
              </a:tr>
              <a:tr h="496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Website Design</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Clean, modern, and visually appealing layout</a:t>
                      </a:r>
                      <a:endParaRPr lang="en-IN" sz="1400" dirty="0">
                        <a:latin typeface="Bookman Old Style" panose="02050604050505020204" pitchFamily="18" charset="0"/>
                      </a:endParaRPr>
                    </a:p>
                  </a:txBody>
                  <a:tcPr/>
                </a:tc>
                <a:extLst>
                  <a:ext uri="{0D108BD9-81ED-4DB2-BD59-A6C34878D82A}">
                    <a16:rowId xmlns:a16="http://schemas.microsoft.com/office/drawing/2014/main" val="3637821936"/>
                  </a:ext>
                </a:extLst>
              </a:tr>
              <a:tr h="496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Navigation</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User-friendly menu with clear navigation options.</a:t>
                      </a:r>
                      <a:endParaRPr lang="en-IN" sz="1400" dirty="0">
                        <a:latin typeface="Bookman Old Style" panose="02050604050505020204" pitchFamily="18" charset="0"/>
                      </a:endParaRPr>
                    </a:p>
                  </a:txBody>
                  <a:tcPr/>
                </a:tc>
                <a:extLst>
                  <a:ext uri="{0D108BD9-81ED-4DB2-BD59-A6C34878D82A}">
                    <a16:rowId xmlns:a16="http://schemas.microsoft.com/office/drawing/2014/main" val="2015953385"/>
                  </a:ext>
                </a:extLst>
              </a:tr>
              <a:tr h="496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User Experience (UX)</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Easy to explore products and services with an intuitive interface.</a:t>
                      </a:r>
                      <a:endParaRPr lang="en-IN" sz="1400" dirty="0">
                        <a:latin typeface="Bookman Old Style" panose="02050604050505020204" pitchFamily="18" charset="0"/>
                      </a:endParaRPr>
                    </a:p>
                  </a:txBody>
                  <a:tcPr/>
                </a:tc>
                <a:extLst>
                  <a:ext uri="{0D108BD9-81ED-4DB2-BD59-A6C34878D82A}">
                    <a16:rowId xmlns:a16="http://schemas.microsoft.com/office/drawing/2014/main" val="3653670298"/>
                  </a:ext>
                </a:extLst>
              </a:tr>
              <a:tr h="4963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Mobile Responsiveness</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Fully responsive across devices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1997350623"/>
                  </a:ext>
                </a:extLst>
              </a:tr>
              <a:tr h="6453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Website Speed</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Fast loading with minor optimization opportunities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1252605532"/>
                  </a:ext>
                </a:extLst>
              </a:tr>
              <a:tr h="6283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SEO</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Well-optimized titles, meta tags, and headings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3731506667"/>
                  </a:ext>
                </a:extLst>
              </a:tr>
              <a:tr h="6283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t>🎯 </a:t>
                      </a:r>
                      <a:r>
                        <a:rPr lang="en-IN" sz="1400" dirty="0">
                          <a:latin typeface="Bookman Old Style" panose="02050604050505020204" pitchFamily="18" charset="0"/>
                        </a:rPr>
                        <a:t>Call-to-Action (CTA)</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Clear and strategically placed CTA buttons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3120079086"/>
                  </a:ext>
                </a:extLst>
              </a:tr>
              <a:tr h="6283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Accessibility</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t>
                      </a:r>
                    </a:p>
                    <a:p>
                      <a:pPr algn="ctr"/>
                      <a:endParaRPr lang="en-IN" sz="1400" dirty="0">
                        <a:latin typeface="Bookman Old Style" panose="020506040505050202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Good readability and accessibility features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3642631459"/>
                  </a:ext>
                </a:extLst>
              </a:tr>
            </a:tbl>
          </a:graphicData>
        </a:graphic>
      </p:graphicFrame>
    </p:spTree>
    <p:extLst>
      <p:ext uri="{BB962C8B-B14F-4D97-AF65-F5344CB8AC3E}">
        <p14:creationId xmlns:p14="http://schemas.microsoft.com/office/powerpoint/2010/main" val="1242632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E7516D-35C2-2661-F9EA-9A2C91367429}"/>
              </a:ext>
            </a:extLst>
          </p:cNvPr>
          <p:cNvSpPr txBox="1"/>
          <p:nvPr/>
        </p:nvSpPr>
        <p:spPr>
          <a:xfrm>
            <a:off x="2781300" y="167759"/>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Website Audit Findings</a:t>
            </a:r>
          </a:p>
        </p:txBody>
      </p:sp>
      <p:sp>
        <p:nvSpPr>
          <p:cNvPr id="5" name="TextBox 4">
            <a:extLst>
              <a:ext uri="{FF2B5EF4-FFF2-40B4-BE49-F238E27FC236}">
                <a16:creationId xmlns:a16="http://schemas.microsoft.com/office/drawing/2014/main" id="{5B8EAC88-6238-6547-96CA-3C9D7183DDC3}"/>
              </a:ext>
            </a:extLst>
          </p:cNvPr>
          <p:cNvSpPr txBox="1"/>
          <p:nvPr/>
        </p:nvSpPr>
        <p:spPr>
          <a:xfrm>
            <a:off x="119060" y="752535"/>
            <a:ext cx="4348166" cy="3102772"/>
          </a:xfrm>
          <a:prstGeom prst="rect">
            <a:avLst/>
          </a:prstGeom>
          <a:noFill/>
        </p:spPr>
        <p:txBody>
          <a:bodyPr wrap="square">
            <a:spAutoFit/>
          </a:bodyPr>
          <a:lstStyle/>
          <a:p>
            <a:pPr>
              <a:lnSpc>
                <a:spcPct val="150000"/>
              </a:lnSpc>
              <a:buNone/>
            </a:pPr>
            <a:r>
              <a:rPr lang="en-IN" dirty="0">
                <a:solidFill>
                  <a:srgbClr val="0070C0"/>
                </a:solidFill>
                <a:latin typeface="Bookman Old Style" panose="02050604050505020204" pitchFamily="18" charset="0"/>
              </a:rPr>
              <a:t>🎨 </a:t>
            </a:r>
            <a:r>
              <a:rPr lang="en-IN" sz="2000" dirty="0">
                <a:solidFill>
                  <a:srgbClr val="0070C0"/>
                </a:solidFill>
                <a:latin typeface="Bookman Old Style" panose="02050604050505020204" pitchFamily="18" charset="0"/>
              </a:rPr>
              <a:t>Website Design</a:t>
            </a:r>
          </a:p>
          <a:p>
            <a:pPr marL="742950" lvl="1" indent="-285750" eaLnBrk="0" fontAlgn="base" hangingPunct="0">
              <a:lnSpc>
                <a:spcPct val="150000"/>
              </a:lnSpc>
              <a:spcBef>
                <a:spcPct val="0"/>
              </a:spcBef>
              <a:spcAft>
                <a:spcPct val="0"/>
              </a:spcAft>
              <a:buBlip>
                <a:blip r:embed="rId2">
                  <a:extLst>
                    <a:ext uri="{96DAC541-7B7A-43D3-8B79-37D633B846F1}">
                      <asvg:svgBlip xmlns:asvg="http://schemas.microsoft.com/office/drawing/2016/SVG/main" r:embed="rId3"/>
                    </a:ext>
                  </a:extLst>
                </a:blip>
              </a:buBlip>
            </a:pPr>
            <a:r>
              <a:rPr lang="en-US" altLang="en-US" sz="1400" dirty="0">
                <a:latin typeface="Bookman Old Style" panose="02050604050505020204" pitchFamily="18" charset="0"/>
              </a:rPr>
              <a:t>Modern and professional interface. </a:t>
            </a:r>
          </a:p>
          <a:p>
            <a:pPr marL="742950" lvl="1" indent="-285750" eaLnBrk="0" fontAlgn="base" hangingPunct="0">
              <a:lnSpc>
                <a:spcPct val="150000"/>
              </a:lnSpc>
              <a:spcBef>
                <a:spcPct val="0"/>
              </a:spcBef>
              <a:spcAft>
                <a:spcPct val="0"/>
              </a:spcAft>
              <a:buBlip>
                <a:blip r:embed="rId2">
                  <a:extLst>
                    <a:ext uri="{96DAC541-7B7A-43D3-8B79-37D633B846F1}">
                      <asvg:svgBlip xmlns:asvg="http://schemas.microsoft.com/office/drawing/2016/SVG/main" r:embed="rId3"/>
                    </a:ext>
                  </a:extLst>
                </a:blip>
              </a:buBlip>
            </a:pPr>
            <a:r>
              <a:rPr lang="en-US" altLang="en-US" sz="1400" dirty="0">
                <a:latin typeface="Bookman Old Style" panose="02050604050505020204" pitchFamily="18" charset="0"/>
              </a:rPr>
              <a:t>Featured Apps section highlights key products effectively. </a:t>
            </a:r>
          </a:p>
          <a:p>
            <a:pPr marL="742950" lvl="1" indent="-285750" eaLnBrk="0" fontAlgn="base" hangingPunct="0">
              <a:lnSpc>
                <a:spcPct val="150000"/>
              </a:lnSpc>
              <a:spcBef>
                <a:spcPct val="0"/>
              </a:spcBef>
              <a:spcAft>
                <a:spcPct val="0"/>
              </a:spcAft>
              <a:buBlip>
                <a:blip r:embed="rId2">
                  <a:extLst>
                    <a:ext uri="{96DAC541-7B7A-43D3-8B79-37D633B846F1}">
                      <asvg:svgBlip xmlns:asvg="http://schemas.microsoft.com/office/drawing/2016/SVG/main" r:embed="rId3"/>
                    </a:ext>
                  </a:extLst>
                </a:blip>
              </a:buBlip>
            </a:pPr>
            <a:r>
              <a:rPr lang="en-US" altLang="en-US" sz="1400" dirty="0">
                <a:latin typeface="Bookman Old Style" panose="02050604050505020204" pitchFamily="18" charset="0"/>
              </a:rPr>
              <a:t>"Explore Zia Agent" attracts user attention with a prominent hero section. </a:t>
            </a:r>
          </a:p>
          <a:p>
            <a:pPr marL="742950" lvl="1" indent="-285750" eaLnBrk="0" fontAlgn="base" hangingPunct="0">
              <a:lnSpc>
                <a:spcPct val="150000"/>
              </a:lnSpc>
              <a:spcBef>
                <a:spcPct val="0"/>
              </a:spcBef>
              <a:spcAft>
                <a:spcPct val="0"/>
              </a:spcAft>
              <a:buBlip>
                <a:blip r:embed="rId2">
                  <a:extLst>
                    <a:ext uri="{96DAC541-7B7A-43D3-8B79-37D633B846F1}">
                      <asvg:svgBlip xmlns:asvg="http://schemas.microsoft.com/office/drawing/2016/SVG/main" r:embed="rId3"/>
                    </a:ext>
                  </a:extLst>
                </a:blip>
              </a:buBlip>
            </a:pPr>
            <a:r>
              <a:rPr lang="en-US" altLang="en-US" sz="1400" dirty="0">
                <a:latin typeface="Bookman Old Style" panose="02050604050505020204" pitchFamily="18" charset="0"/>
              </a:rPr>
              <a:t>Consistent branding and high-quality visuals. </a:t>
            </a:r>
          </a:p>
        </p:txBody>
      </p:sp>
      <p:sp>
        <p:nvSpPr>
          <p:cNvPr id="7" name="TextBox 6">
            <a:extLst>
              <a:ext uri="{FF2B5EF4-FFF2-40B4-BE49-F238E27FC236}">
                <a16:creationId xmlns:a16="http://schemas.microsoft.com/office/drawing/2014/main" id="{68897B00-D150-6D94-036F-BFE203227538}"/>
              </a:ext>
            </a:extLst>
          </p:cNvPr>
          <p:cNvSpPr txBox="1"/>
          <p:nvPr/>
        </p:nvSpPr>
        <p:spPr>
          <a:xfrm>
            <a:off x="280985" y="3855307"/>
            <a:ext cx="4362454" cy="2302553"/>
          </a:xfrm>
          <a:prstGeom prst="rect">
            <a:avLst/>
          </a:prstGeom>
          <a:noFill/>
        </p:spPr>
        <p:txBody>
          <a:bodyPr wrap="square">
            <a:spAutoFit/>
          </a:bodyPr>
          <a:lstStyle/>
          <a:p>
            <a:pPr>
              <a:buNone/>
            </a:pPr>
            <a:r>
              <a:rPr lang="en-US" b="1" dirty="0">
                <a:latin typeface="Bookman Old Style" panose="02050604050505020204" pitchFamily="18" charset="0"/>
              </a:rPr>
              <a:t>👤 </a:t>
            </a:r>
            <a:r>
              <a:rPr lang="en-US" sz="2000" dirty="0">
                <a:solidFill>
                  <a:srgbClr val="0070C0"/>
                </a:solidFill>
                <a:latin typeface="Bookman Old Style" panose="02050604050505020204" pitchFamily="18" charset="0"/>
              </a:rPr>
              <a:t>User Experience (UX)</a:t>
            </a:r>
            <a:endParaRPr lang="en-US" altLang="en-US" dirty="0">
              <a:latin typeface="Arial" panose="020B0604020202020204" pitchFamily="34" charset="0"/>
            </a:endParaRPr>
          </a:p>
          <a:p>
            <a:pPr marL="742950" lvl="1" indent="-285750" eaLnBrk="0" fontAlgn="base" hangingPunct="0">
              <a:lnSpc>
                <a:spcPct val="150000"/>
              </a:lnSpc>
              <a:spcBef>
                <a:spcPct val="0"/>
              </a:spcBef>
              <a:spcAft>
                <a:spcPct val="0"/>
              </a:spcAft>
              <a:buBlip>
                <a:blip r:embed="rId4">
                  <a:extLst>
                    <a:ext uri="{96DAC541-7B7A-43D3-8B79-37D633B846F1}">
                      <asvg:svgBlip xmlns:asvg="http://schemas.microsoft.com/office/drawing/2016/SVG/main" r:embed="rId5"/>
                    </a:ext>
                  </a:extLst>
                </a:blip>
              </a:buBlip>
            </a:pPr>
            <a:r>
              <a:rPr lang="en-US" altLang="en-US" sz="1400" dirty="0">
                <a:latin typeface="Bookman Old Style" panose="02050604050505020204" pitchFamily="18" charset="0"/>
              </a:rPr>
              <a:t>User-friendly navigation menu. </a:t>
            </a:r>
          </a:p>
          <a:p>
            <a:pPr marL="742950" lvl="1" indent="-285750" eaLnBrk="0" fontAlgn="base" hangingPunct="0">
              <a:lnSpc>
                <a:spcPct val="150000"/>
              </a:lnSpc>
              <a:spcBef>
                <a:spcPct val="0"/>
              </a:spcBef>
              <a:spcAft>
                <a:spcPct val="0"/>
              </a:spcAft>
              <a:buBlip>
                <a:blip r:embed="rId4">
                  <a:extLst>
                    <a:ext uri="{96DAC541-7B7A-43D3-8B79-37D633B846F1}">
                      <asvg:svgBlip xmlns:asvg="http://schemas.microsoft.com/office/drawing/2016/SVG/main" r:embed="rId5"/>
                    </a:ext>
                  </a:extLst>
                </a:blip>
              </a:buBlip>
            </a:pPr>
            <a:r>
              <a:rPr lang="en-US" altLang="en-US" sz="1400" dirty="0">
                <a:latin typeface="Bookman Old Style" panose="02050604050505020204" pitchFamily="18" charset="0"/>
              </a:rPr>
              <a:t>Well-organized content structure. </a:t>
            </a:r>
          </a:p>
          <a:p>
            <a:pPr marL="742950" lvl="1" indent="-285750" eaLnBrk="0" fontAlgn="base" hangingPunct="0">
              <a:lnSpc>
                <a:spcPct val="150000"/>
              </a:lnSpc>
              <a:spcBef>
                <a:spcPct val="0"/>
              </a:spcBef>
              <a:spcAft>
                <a:spcPct val="0"/>
              </a:spcAft>
              <a:buBlip>
                <a:blip r:embed="rId4">
                  <a:extLst>
                    <a:ext uri="{96DAC541-7B7A-43D3-8B79-37D633B846F1}">
                      <asvg:svgBlip xmlns:asvg="http://schemas.microsoft.com/office/drawing/2016/SVG/main" r:embed="rId5"/>
                    </a:ext>
                  </a:extLst>
                </a:blip>
              </a:buBlip>
            </a:pPr>
            <a:r>
              <a:rPr lang="en-US" altLang="en-US" sz="1400" dirty="0">
                <a:latin typeface="Bookman Old Style" panose="02050604050505020204" pitchFamily="18" charset="0"/>
              </a:rPr>
              <a:t>Products and services are easy to locate. </a:t>
            </a:r>
          </a:p>
          <a:p>
            <a:pPr marL="742950" lvl="1" indent="-285750" eaLnBrk="0" fontAlgn="base" hangingPunct="0">
              <a:lnSpc>
                <a:spcPct val="150000"/>
              </a:lnSpc>
              <a:spcBef>
                <a:spcPct val="0"/>
              </a:spcBef>
              <a:spcAft>
                <a:spcPct val="0"/>
              </a:spcAft>
              <a:buBlip>
                <a:blip r:embed="rId4">
                  <a:extLst>
                    <a:ext uri="{96DAC541-7B7A-43D3-8B79-37D633B846F1}">
                      <asvg:svgBlip xmlns:asvg="http://schemas.microsoft.com/office/drawing/2016/SVG/main" r:embed="rId5"/>
                    </a:ext>
                  </a:extLst>
                </a:blip>
              </a:buBlip>
            </a:pPr>
            <a:r>
              <a:rPr lang="en-US" altLang="en-US" sz="1400" dirty="0">
                <a:latin typeface="Bookman Old Style" panose="02050604050505020204" pitchFamily="18" charset="0"/>
              </a:rPr>
              <a:t>Simple and intuitive browsing experience. </a:t>
            </a:r>
          </a:p>
        </p:txBody>
      </p:sp>
      <p:sp>
        <p:nvSpPr>
          <p:cNvPr id="9" name="TextBox 8">
            <a:extLst>
              <a:ext uri="{FF2B5EF4-FFF2-40B4-BE49-F238E27FC236}">
                <a16:creationId xmlns:a16="http://schemas.microsoft.com/office/drawing/2014/main" id="{9FF7F402-9854-F435-37E6-503EDE594D93}"/>
              </a:ext>
            </a:extLst>
          </p:cNvPr>
          <p:cNvSpPr txBox="1"/>
          <p:nvPr/>
        </p:nvSpPr>
        <p:spPr>
          <a:xfrm>
            <a:off x="3967162" y="3657659"/>
            <a:ext cx="3438525" cy="1963999"/>
          </a:xfrm>
          <a:prstGeom prst="rect">
            <a:avLst/>
          </a:prstGeom>
          <a:noFill/>
        </p:spPr>
        <p:txBody>
          <a:bodyPr wrap="square">
            <a:spAutoFit/>
          </a:bodyPr>
          <a:lstStyle/>
          <a:p>
            <a:pPr>
              <a:lnSpc>
                <a:spcPct val="200000"/>
              </a:lnSpc>
              <a:buNone/>
            </a:pPr>
            <a:r>
              <a:rPr lang="en-IN" sz="2000" b="1" dirty="0">
                <a:latin typeface="Bookman Old Style" panose="02050604050505020204" pitchFamily="18" charset="0"/>
              </a:rPr>
              <a:t>🔍 </a:t>
            </a:r>
            <a:r>
              <a:rPr lang="en-IN" sz="2000" dirty="0">
                <a:solidFill>
                  <a:srgbClr val="0070C0"/>
                </a:solidFill>
                <a:latin typeface="Bookman Old Style" panose="02050604050505020204" pitchFamily="18" charset="0"/>
              </a:rPr>
              <a:t>SEO Analysis</a:t>
            </a:r>
          </a:p>
          <a:p>
            <a:pPr marL="742950" lvl="1" indent="-285750">
              <a:lnSpc>
                <a:spcPct val="150000"/>
              </a:lnSpc>
              <a:buBlip>
                <a:blip r:embed="rId6">
                  <a:extLst>
                    <a:ext uri="{96DAC541-7B7A-43D3-8B79-37D633B846F1}">
                      <asvg:svgBlip xmlns:asvg="http://schemas.microsoft.com/office/drawing/2016/SVG/main" r:embed="rId7"/>
                    </a:ext>
                  </a:extLst>
                </a:blip>
              </a:buBlip>
            </a:pPr>
            <a:r>
              <a:rPr lang="en-IN" sz="1400" dirty="0">
                <a:latin typeface="Bookman Old Style" panose="02050604050505020204" pitchFamily="18" charset="0"/>
              </a:rPr>
              <a:t>Optimized page titles </a:t>
            </a:r>
          </a:p>
          <a:p>
            <a:pPr marL="742950" lvl="1" indent="-285750">
              <a:lnSpc>
                <a:spcPct val="150000"/>
              </a:lnSpc>
              <a:buBlip>
                <a:blip r:embed="rId6">
                  <a:extLst>
                    <a:ext uri="{96DAC541-7B7A-43D3-8B79-37D633B846F1}">
                      <asvg:svgBlip xmlns:asvg="http://schemas.microsoft.com/office/drawing/2016/SVG/main" r:embed="rId7"/>
                    </a:ext>
                  </a:extLst>
                </a:blip>
              </a:buBlip>
            </a:pPr>
            <a:r>
              <a:rPr lang="en-IN" sz="1400" dirty="0">
                <a:latin typeface="Bookman Old Style" panose="02050604050505020204" pitchFamily="18" charset="0"/>
              </a:rPr>
              <a:t>Relevant meta descriptions </a:t>
            </a:r>
          </a:p>
          <a:p>
            <a:pPr marL="742950" lvl="1" indent="-285750">
              <a:lnSpc>
                <a:spcPct val="150000"/>
              </a:lnSpc>
              <a:buBlip>
                <a:blip r:embed="rId6">
                  <a:extLst>
                    <a:ext uri="{96DAC541-7B7A-43D3-8B79-37D633B846F1}">
                      <asvg:svgBlip xmlns:asvg="http://schemas.microsoft.com/office/drawing/2016/SVG/main" r:embed="rId7"/>
                    </a:ext>
                  </a:extLst>
                </a:blip>
              </a:buBlip>
            </a:pPr>
            <a:r>
              <a:rPr lang="en-IN" sz="1400" dirty="0">
                <a:latin typeface="Bookman Old Style" panose="02050604050505020204" pitchFamily="18" charset="0"/>
              </a:rPr>
              <a:t>Proper heading hierarchy </a:t>
            </a:r>
          </a:p>
          <a:p>
            <a:pPr marL="742950" lvl="1" indent="-285750">
              <a:lnSpc>
                <a:spcPct val="150000"/>
              </a:lnSpc>
              <a:buBlip>
                <a:blip r:embed="rId6">
                  <a:extLst>
                    <a:ext uri="{96DAC541-7B7A-43D3-8B79-37D633B846F1}">
                      <asvg:svgBlip xmlns:asvg="http://schemas.microsoft.com/office/drawing/2016/SVG/main" r:embed="rId7"/>
                    </a:ext>
                  </a:extLst>
                </a:blip>
              </a:buBlip>
            </a:pPr>
            <a:r>
              <a:rPr lang="en-IN" sz="1400" dirty="0">
                <a:latin typeface="Bookman Old Style" panose="02050604050505020204" pitchFamily="18" charset="0"/>
              </a:rPr>
              <a:t>SEO-friendly URLs</a:t>
            </a:r>
          </a:p>
        </p:txBody>
      </p:sp>
      <p:sp>
        <p:nvSpPr>
          <p:cNvPr id="8" name="TextBox 7">
            <a:extLst>
              <a:ext uri="{FF2B5EF4-FFF2-40B4-BE49-F238E27FC236}">
                <a16:creationId xmlns:a16="http://schemas.microsoft.com/office/drawing/2014/main" id="{4DBF6749-28FC-BC6E-4ECB-ADE68F2A1084}"/>
              </a:ext>
            </a:extLst>
          </p:cNvPr>
          <p:cNvSpPr txBox="1"/>
          <p:nvPr/>
        </p:nvSpPr>
        <p:spPr>
          <a:xfrm>
            <a:off x="3838574" y="752534"/>
            <a:ext cx="3695700" cy="2733441"/>
          </a:xfrm>
          <a:prstGeom prst="rect">
            <a:avLst/>
          </a:prstGeom>
          <a:noFill/>
        </p:spPr>
        <p:txBody>
          <a:bodyPr wrap="square">
            <a:spAutoFit/>
          </a:bodyPr>
          <a:lstStyle/>
          <a:p>
            <a:pPr>
              <a:lnSpc>
                <a:spcPct val="150000"/>
              </a:lnSpc>
              <a:buNone/>
            </a:pPr>
            <a:r>
              <a:rPr lang="en-US" dirty="0">
                <a:solidFill>
                  <a:srgbClr val="0070C0"/>
                </a:solidFill>
                <a:latin typeface="Bookman Old Style" panose="02050604050505020204" pitchFamily="18" charset="0"/>
              </a:rPr>
              <a:t>🎯 Call-to-Action (CTA)</a:t>
            </a:r>
          </a:p>
          <a:p>
            <a:pPr marL="742950" lvl="1" indent="-285750">
              <a:lnSpc>
                <a:spcPct val="150000"/>
              </a:lnSpc>
              <a:buBlip>
                <a:blip r:embed="rId8">
                  <a:extLst>
                    <a:ext uri="{96DAC541-7B7A-43D3-8B79-37D633B846F1}">
                      <asvg:svgBlip xmlns:asvg="http://schemas.microsoft.com/office/drawing/2016/SVG/main" r:embed="rId9"/>
                    </a:ext>
                  </a:extLst>
                </a:blip>
              </a:buBlip>
            </a:pPr>
            <a:r>
              <a:rPr lang="en-US" sz="1400" dirty="0">
                <a:latin typeface="Bookman Old Style" panose="02050604050505020204" pitchFamily="18" charset="0"/>
              </a:rPr>
              <a:t>                              button is clearly visible on the homepage. </a:t>
            </a:r>
          </a:p>
          <a:p>
            <a:pPr marL="742950" lvl="1" indent="-285750">
              <a:lnSpc>
                <a:spcPct val="150000"/>
              </a:lnSpc>
              <a:buBlip>
                <a:blip r:embed="rId8">
                  <a:extLst>
                    <a:ext uri="{96DAC541-7B7A-43D3-8B79-37D633B846F1}">
                      <asvg:svgBlip xmlns:asvg="http://schemas.microsoft.com/office/drawing/2016/SVG/main" r:embed="rId9"/>
                    </a:ext>
                  </a:extLst>
                </a:blip>
              </a:buBlip>
            </a:pPr>
            <a:r>
              <a:rPr lang="en-US" sz="1400" dirty="0">
                <a:latin typeface="Bookman Old Style" panose="02050604050505020204" pitchFamily="18" charset="0"/>
              </a:rPr>
              <a:t>Encourages visitors to try Zoho's products immediately. </a:t>
            </a:r>
          </a:p>
          <a:p>
            <a:pPr marL="742950" lvl="1" indent="-285750">
              <a:lnSpc>
                <a:spcPct val="150000"/>
              </a:lnSpc>
              <a:buBlip>
                <a:blip r:embed="rId8">
                  <a:extLst>
                    <a:ext uri="{96DAC541-7B7A-43D3-8B79-37D633B846F1}">
                      <asvg:svgBlip xmlns:asvg="http://schemas.microsoft.com/office/drawing/2016/SVG/main" r:embed="rId9"/>
                    </a:ext>
                  </a:extLst>
                </a:blip>
              </a:buBlip>
            </a:pPr>
            <a:r>
              <a:rPr lang="en-US" sz="1400" dirty="0">
                <a:latin typeface="Bookman Old Style" panose="02050604050505020204" pitchFamily="18" charset="0"/>
              </a:rPr>
              <a:t>Strategically placed to improve lead generation.</a:t>
            </a:r>
          </a:p>
        </p:txBody>
      </p:sp>
      <p:pic>
        <p:nvPicPr>
          <p:cNvPr id="4" name="Picture 3">
            <a:extLst>
              <a:ext uri="{FF2B5EF4-FFF2-40B4-BE49-F238E27FC236}">
                <a16:creationId xmlns:a16="http://schemas.microsoft.com/office/drawing/2014/main" id="{A4BC6BED-E631-8E63-EEF7-FDF760A33E00}"/>
              </a:ext>
            </a:extLst>
          </p:cNvPr>
          <p:cNvPicPr>
            <a:picLocks noChangeAspect="1"/>
          </p:cNvPicPr>
          <p:nvPr/>
        </p:nvPicPr>
        <p:blipFill>
          <a:blip r:embed="rId10"/>
          <a:stretch>
            <a:fillRect/>
          </a:stretch>
        </p:blipFill>
        <p:spPr>
          <a:xfrm>
            <a:off x="7636686" y="1406134"/>
            <a:ext cx="4436254" cy="3879082"/>
          </a:xfrm>
          <a:prstGeom prst="rect">
            <a:avLst/>
          </a:prstGeom>
        </p:spPr>
      </p:pic>
      <p:sp>
        <p:nvSpPr>
          <p:cNvPr id="10" name="Rectangle 9">
            <a:extLst>
              <a:ext uri="{FF2B5EF4-FFF2-40B4-BE49-F238E27FC236}">
                <a16:creationId xmlns:a16="http://schemas.microsoft.com/office/drawing/2014/main" id="{981A6AB5-A809-ECB0-7EF2-4D2372C6D93C}"/>
              </a:ext>
            </a:extLst>
          </p:cNvPr>
          <p:cNvSpPr/>
          <p:nvPr/>
        </p:nvSpPr>
        <p:spPr>
          <a:xfrm>
            <a:off x="4643439" y="1243255"/>
            <a:ext cx="1662111" cy="328370"/>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100" b="1" dirty="0">
                <a:latin typeface="Bookman Old Style" panose="02050604050505020204" pitchFamily="18" charset="0"/>
              </a:rPr>
              <a:t>Get Started for Free</a:t>
            </a:r>
          </a:p>
        </p:txBody>
      </p:sp>
    </p:spTree>
    <p:extLst>
      <p:ext uri="{BB962C8B-B14F-4D97-AF65-F5344CB8AC3E}">
        <p14:creationId xmlns:p14="http://schemas.microsoft.com/office/powerpoint/2010/main" val="1245703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BF8674C-8CD5-3D99-AD9C-2C5B2D5899AA}"/>
              </a:ext>
            </a:extLst>
          </p:cNvPr>
          <p:cNvSpPr txBox="1"/>
          <p:nvPr/>
        </p:nvSpPr>
        <p:spPr>
          <a:xfrm>
            <a:off x="2828925" y="243959"/>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PERFORMANCE ANALYSIS</a:t>
            </a:r>
          </a:p>
        </p:txBody>
      </p:sp>
      <p:sp>
        <p:nvSpPr>
          <p:cNvPr id="5" name="TextBox 4">
            <a:extLst>
              <a:ext uri="{FF2B5EF4-FFF2-40B4-BE49-F238E27FC236}">
                <a16:creationId xmlns:a16="http://schemas.microsoft.com/office/drawing/2014/main" id="{8E8A2398-F965-ABE9-1590-34A997E1F28E}"/>
              </a:ext>
            </a:extLst>
          </p:cNvPr>
          <p:cNvSpPr txBox="1"/>
          <p:nvPr/>
        </p:nvSpPr>
        <p:spPr>
          <a:xfrm>
            <a:off x="700087" y="952618"/>
            <a:ext cx="4410075" cy="3528402"/>
          </a:xfrm>
          <a:prstGeom prst="rect">
            <a:avLst/>
          </a:prstGeom>
          <a:noFill/>
        </p:spPr>
        <p:txBody>
          <a:bodyPr wrap="square">
            <a:spAutoFit/>
          </a:bodyPr>
          <a:lstStyle/>
          <a:p>
            <a:pPr>
              <a:lnSpc>
                <a:spcPct val="200000"/>
              </a:lnSpc>
            </a:pPr>
            <a:r>
              <a:rPr lang="en-US" b="1" dirty="0">
                <a:solidFill>
                  <a:srgbClr val="0070C0"/>
                </a:solidFill>
                <a:latin typeface="Bookman Old Style" panose="02050604050505020204" pitchFamily="18" charset="0"/>
              </a:rPr>
              <a:t>Strengths</a:t>
            </a:r>
            <a:r>
              <a:rPr lang="en-US" b="1" dirty="0">
                <a:latin typeface="Bookman Old Style" panose="02050604050505020204" pitchFamily="18" charset="0"/>
              </a:rPr>
              <a:t> ✅</a:t>
            </a:r>
          </a:p>
          <a:p>
            <a:pPr marL="285750" indent="-285750">
              <a:lnSpc>
                <a:spcPct val="200000"/>
              </a:lnSpc>
              <a:buBlip>
                <a:blip r:embed="rId2">
                  <a:extLst>
                    <a:ext uri="{96DAC541-7B7A-43D3-8B79-37D633B846F1}">
                      <asvg:svgBlip xmlns:asvg="http://schemas.microsoft.com/office/drawing/2016/SVG/main" r:embed="rId3"/>
                    </a:ext>
                  </a:extLst>
                </a:blip>
              </a:buBlip>
            </a:pPr>
            <a:r>
              <a:rPr lang="en-US" sz="1600" dirty="0">
                <a:latin typeface="Bookman Old Style" panose="02050604050505020204" pitchFamily="18" charset="0"/>
              </a:rPr>
              <a:t>Excellent Accessibility (</a:t>
            </a:r>
            <a:r>
              <a:rPr lang="en-US" sz="1600" b="1" dirty="0">
                <a:latin typeface="Bookman Old Style" panose="02050604050505020204" pitchFamily="18" charset="0"/>
              </a:rPr>
              <a:t>96–100</a:t>
            </a:r>
            <a:r>
              <a:rPr lang="en-US" sz="1600" dirty="0">
                <a:latin typeface="Bookman Old Style" panose="02050604050505020204" pitchFamily="18" charset="0"/>
              </a:rPr>
              <a:t>) </a:t>
            </a:r>
          </a:p>
          <a:p>
            <a:pPr marL="285750" indent="-285750">
              <a:lnSpc>
                <a:spcPct val="200000"/>
              </a:lnSpc>
              <a:buBlip>
                <a:blip r:embed="rId2">
                  <a:extLst>
                    <a:ext uri="{96DAC541-7B7A-43D3-8B79-37D633B846F1}">
                      <asvg:svgBlip xmlns:asvg="http://schemas.microsoft.com/office/drawing/2016/SVG/main" r:embed="rId3"/>
                    </a:ext>
                  </a:extLst>
                </a:blip>
              </a:buBlip>
            </a:pPr>
            <a:r>
              <a:rPr lang="en-US" sz="1600" dirty="0">
                <a:latin typeface="Bookman Old Style" panose="02050604050505020204" pitchFamily="18" charset="0"/>
              </a:rPr>
              <a:t>Strong SEO (</a:t>
            </a:r>
            <a:r>
              <a:rPr lang="en-US" sz="1600" b="1" dirty="0">
                <a:latin typeface="Bookman Old Style" panose="02050604050505020204" pitchFamily="18" charset="0"/>
              </a:rPr>
              <a:t>92</a:t>
            </a:r>
            <a:r>
              <a:rPr lang="en-US" sz="1600" dirty="0">
                <a:latin typeface="Bookman Old Style" panose="02050604050505020204" pitchFamily="18" charset="0"/>
              </a:rPr>
              <a:t>) </a:t>
            </a:r>
          </a:p>
          <a:p>
            <a:pPr marL="285750" indent="-285750">
              <a:lnSpc>
                <a:spcPct val="200000"/>
              </a:lnSpc>
              <a:buBlip>
                <a:blip r:embed="rId2">
                  <a:extLst>
                    <a:ext uri="{96DAC541-7B7A-43D3-8B79-37D633B846F1}">
                      <asvg:svgBlip xmlns:asvg="http://schemas.microsoft.com/office/drawing/2016/SVG/main" r:embed="rId3"/>
                    </a:ext>
                  </a:extLst>
                </a:blip>
              </a:buBlip>
            </a:pPr>
            <a:r>
              <a:rPr lang="en-US" sz="1600" dirty="0">
                <a:latin typeface="Bookman Old Style" panose="02050604050505020204" pitchFamily="18" charset="0"/>
              </a:rPr>
              <a:t>Responsive website design </a:t>
            </a:r>
          </a:p>
          <a:p>
            <a:pPr marL="285750" indent="-285750">
              <a:lnSpc>
                <a:spcPct val="200000"/>
              </a:lnSpc>
              <a:buBlip>
                <a:blip r:embed="rId2">
                  <a:extLst>
                    <a:ext uri="{96DAC541-7B7A-43D3-8B79-37D633B846F1}">
                      <asvg:svgBlip xmlns:asvg="http://schemas.microsoft.com/office/drawing/2016/SVG/main" r:embed="rId3"/>
                    </a:ext>
                  </a:extLst>
                </a:blip>
              </a:buBlip>
            </a:pPr>
            <a:r>
              <a:rPr lang="en-US" sz="1600" dirty="0">
                <a:latin typeface="Bookman Old Style" panose="02050604050505020204" pitchFamily="18" charset="0"/>
              </a:rPr>
              <a:t>Stable layout with minimal layout shift </a:t>
            </a:r>
          </a:p>
          <a:p>
            <a:pPr marL="285750" indent="-285750">
              <a:lnSpc>
                <a:spcPct val="200000"/>
              </a:lnSpc>
              <a:buBlip>
                <a:blip r:embed="rId2">
                  <a:extLst>
                    <a:ext uri="{96DAC541-7B7A-43D3-8B79-37D633B846F1}">
                      <asvg:svgBlip xmlns:asvg="http://schemas.microsoft.com/office/drawing/2016/SVG/main" r:embed="rId3"/>
                    </a:ext>
                  </a:extLst>
                </a:blip>
              </a:buBlip>
            </a:pPr>
            <a:r>
              <a:rPr lang="en-US" sz="1600" dirty="0">
                <a:latin typeface="Bookman Old Style" panose="02050604050505020204" pitchFamily="18" charset="0"/>
              </a:rPr>
              <a:t>Clear navigation and effective CTA placement</a:t>
            </a:r>
          </a:p>
        </p:txBody>
      </p:sp>
      <p:sp>
        <p:nvSpPr>
          <p:cNvPr id="7" name="TextBox 6">
            <a:extLst>
              <a:ext uri="{FF2B5EF4-FFF2-40B4-BE49-F238E27FC236}">
                <a16:creationId xmlns:a16="http://schemas.microsoft.com/office/drawing/2014/main" id="{650733FB-2203-F633-7662-4A0F78D70D9F}"/>
              </a:ext>
            </a:extLst>
          </p:cNvPr>
          <p:cNvSpPr txBox="1"/>
          <p:nvPr/>
        </p:nvSpPr>
        <p:spPr>
          <a:xfrm>
            <a:off x="5876925" y="828675"/>
            <a:ext cx="5876925" cy="3035958"/>
          </a:xfrm>
          <a:prstGeom prst="rect">
            <a:avLst/>
          </a:prstGeom>
          <a:noFill/>
        </p:spPr>
        <p:txBody>
          <a:bodyPr wrap="square">
            <a:spAutoFit/>
          </a:bodyPr>
          <a:lstStyle/>
          <a:p>
            <a:pPr>
              <a:lnSpc>
                <a:spcPct val="200000"/>
              </a:lnSpc>
              <a:buNone/>
            </a:pPr>
            <a:r>
              <a:rPr lang="en-IN" b="1" dirty="0">
                <a:solidFill>
                  <a:srgbClr val="0070C0"/>
                </a:solidFill>
                <a:latin typeface="Bookman Old Style" panose="02050604050505020204" pitchFamily="18" charset="0"/>
              </a:rPr>
              <a:t>Areas for Improvement </a:t>
            </a:r>
            <a:r>
              <a:rPr lang="en-IN" b="1" dirty="0">
                <a:latin typeface="Bookman Old Style" panose="02050604050505020204" pitchFamily="18" charset="0"/>
              </a:rPr>
              <a:t>⚠️</a:t>
            </a:r>
          </a:p>
          <a:p>
            <a:pPr marL="742950" lvl="1" indent="-285750">
              <a:lnSpc>
                <a:spcPct val="200000"/>
              </a:lnSpc>
              <a:buFont typeface="Wingdings" panose="05000000000000000000" pitchFamily="2" charset="2"/>
              <a:buChar char="q"/>
            </a:pPr>
            <a:r>
              <a:rPr lang="en-IN" sz="1600" dirty="0">
                <a:latin typeface="Bookman Old Style" panose="02050604050505020204" pitchFamily="18" charset="0"/>
              </a:rPr>
              <a:t>Improve overall performance score </a:t>
            </a:r>
          </a:p>
          <a:p>
            <a:pPr marL="742950" lvl="1" indent="-285750">
              <a:lnSpc>
                <a:spcPct val="200000"/>
              </a:lnSpc>
              <a:buFont typeface="Wingdings" panose="05000000000000000000" pitchFamily="2" charset="2"/>
              <a:buChar char="q"/>
            </a:pPr>
            <a:r>
              <a:rPr lang="en-IN" sz="1600" dirty="0">
                <a:latin typeface="Bookman Old Style" panose="02050604050505020204" pitchFamily="18" charset="0"/>
              </a:rPr>
              <a:t>Optimize images for faster loading </a:t>
            </a:r>
          </a:p>
          <a:p>
            <a:pPr marL="742950" lvl="1" indent="-285750">
              <a:lnSpc>
                <a:spcPct val="200000"/>
              </a:lnSpc>
              <a:buFont typeface="Wingdings" panose="05000000000000000000" pitchFamily="2" charset="2"/>
              <a:buChar char="q"/>
            </a:pPr>
            <a:r>
              <a:rPr lang="en-IN" sz="1600" dirty="0">
                <a:latin typeface="Bookman Old Style" panose="02050604050505020204" pitchFamily="18" charset="0"/>
              </a:rPr>
              <a:t>Reduce unused CSS &amp; JavaScript </a:t>
            </a:r>
          </a:p>
          <a:p>
            <a:pPr marL="742950" lvl="1" indent="-285750">
              <a:lnSpc>
                <a:spcPct val="200000"/>
              </a:lnSpc>
              <a:buFont typeface="Wingdings" panose="05000000000000000000" pitchFamily="2" charset="2"/>
              <a:buChar char="q"/>
            </a:pPr>
            <a:r>
              <a:rPr lang="en-IN" sz="1600" dirty="0">
                <a:latin typeface="Bookman Old Style" panose="02050604050505020204" pitchFamily="18" charset="0"/>
              </a:rPr>
              <a:t>Minimize render-blocking resources </a:t>
            </a:r>
          </a:p>
          <a:p>
            <a:pPr marL="742950" lvl="1" indent="-285750">
              <a:lnSpc>
                <a:spcPct val="200000"/>
              </a:lnSpc>
              <a:buFont typeface="Wingdings" panose="05000000000000000000" pitchFamily="2" charset="2"/>
              <a:buChar char="q"/>
            </a:pPr>
            <a:r>
              <a:rPr lang="en-IN" sz="1600" dirty="0">
                <a:latin typeface="Bookman Old Style" panose="02050604050505020204" pitchFamily="18" charset="0"/>
              </a:rPr>
              <a:t>Reduce third-party scripts and browser errors</a:t>
            </a:r>
          </a:p>
        </p:txBody>
      </p:sp>
      <p:sp>
        <p:nvSpPr>
          <p:cNvPr id="8" name="Speech Bubble: Rectangle with Corners Rounded 7">
            <a:extLst>
              <a:ext uri="{FF2B5EF4-FFF2-40B4-BE49-F238E27FC236}">
                <a16:creationId xmlns:a16="http://schemas.microsoft.com/office/drawing/2014/main" id="{84CC55AF-FCF2-54C7-055E-A993681C71A0}"/>
              </a:ext>
            </a:extLst>
          </p:cNvPr>
          <p:cNvSpPr/>
          <p:nvPr/>
        </p:nvSpPr>
        <p:spPr>
          <a:xfrm>
            <a:off x="6858000" y="4017093"/>
            <a:ext cx="4267200" cy="2012232"/>
          </a:xfrm>
          <a:prstGeom prst="wedgeRoundRectCallout">
            <a:avLst/>
          </a:prstGeom>
          <a:solidFill>
            <a:srgbClr val="009EDE"/>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b="1" dirty="0">
                <a:solidFill>
                  <a:schemeClr val="tx1"/>
                </a:solidFill>
                <a:latin typeface="Bookman Old Style" panose="02050604050505020204" pitchFamily="18" charset="0"/>
              </a:rPr>
              <a:t>Overall Assessment</a:t>
            </a:r>
          </a:p>
          <a:p>
            <a:pPr>
              <a:lnSpc>
                <a:spcPct val="150000"/>
              </a:lnSpc>
            </a:pPr>
            <a:r>
              <a:rPr lang="en-US" dirty="0">
                <a:solidFill>
                  <a:schemeClr val="tx1"/>
                </a:solidFill>
                <a:latin typeface="Bookman Old Style" panose="02050604050505020204" pitchFamily="18" charset="0"/>
              </a:rPr>
              <a:t>🟢 </a:t>
            </a:r>
            <a:r>
              <a:rPr lang="en-US" sz="1400" dirty="0">
                <a:solidFill>
                  <a:schemeClr val="tx1"/>
                </a:solidFill>
                <a:latin typeface="Bookman Old Style" panose="02050604050505020204" pitchFamily="18" charset="0"/>
              </a:rPr>
              <a:t>Strong website with excellent SEO and accessibility.</a:t>
            </a:r>
          </a:p>
          <a:p>
            <a:pPr>
              <a:lnSpc>
                <a:spcPct val="150000"/>
              </a:lnSpc>
            </a:pPr>
            <a:r>
              <a:rPr lang="en-US" sz="1400" dirty="0">
                <a:solidFill>
                  <a:schemeClr val="tx1"/>
                </a:solidFill>
                <a:latin typeface="Bookman Old Style" panose="02050604050505020204" pitchFamily="18" charset="0"/>
              </a:rPr>
              <a:t>🟡 Performance can be further optimized for a better user experience</a:t>
            </a:r>
          </a:p>
        </p:txBody>
      </p:sp>
    </p:spTree>
    <p:extLst>
      <p:ext uri="{BB962C8B-B14F-4D97-AF65-F5344CB8AC3E}">
        <p14:creationId xmlns:p14="http://schemas.microsoft.com/office/powerpoint/2010/main" val="2608358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6E2938D-3A42-CB97-A94C-4495ED99EC0C}"/>
              </a:ext>
            </a:extLst>
          </p:cNvPr>
          <p:cNvGraphicFramePr>
            <a:graphicFrameLocks noGrp="1"/>
          </p:cNvGraphicFramePr>
          <p:nvPr>
            <p:extLst>
              <p:ext uri="{D42A27DB-BD31-4B8C-83A1-F6EECF244321}">
                <p14:modId xmlns:p14="http://schemas.microsoft.com/office/powerpoint/2010/main" val="567392644"/>
              </p:ext>
            </p:extLst>
          </p:nvPr>
        </p:nvGraphicFramePr>
        <p:xfrm>
          <a:off x="95247" y="743320"/>
          <a:ext cx="2625725" cy="3061760"/>
        </p:xfrm>
        <a:graphic>
          <a:graphicData uri="http://schemas.openxmlformats.org/drawingml/2006/table">
            <a:tbl>
              <a:tblPr firstRow="1" bandRow="1">
                <a:tableStyleId>{5C22544A-7EE6-4342-B048-85BDC9FD1C3A}</a:tableStyleId>
              </a:tblPr>
              <a:tblGrid>
                <a:gridCol w="2625725">
                  <a:extLst>
                    <a:ext uri="{9D8B030D-6E8A-4147-A177-3AD203B41FA5}">
                      <a16:colId xmlns:a16="http://schemas.microsoft.com/office/drawing/2014/main" val="3050467568"/>
                    </a:ext>
                  </a:extLst>
                </a:gridCol>
              </a:tblGrid>
              <a:tr h="6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latin typeface="Bookman Old Style" panose="02050604050505020204" pitchFamily="18" charset="0"/>
                        </a:rPr>
                        <a:t>Strengths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349185993"/>
                  </a:ext>
                </a:extLst>
              </a:tr>
              <a:tr h="6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Excellent SEO</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1341433959"/>
                  </a:ext>
                </a:extLst>
              </a:tr>
              <a:tr h="6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Strong Accessibility</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002575329"/>
                  </a:ext>
                </a:extLst>
              </a:tr>
              <a:tr h="6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User-friendly navigation</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143086812"/>
                  </a:ext>
                </a:extLst>
              </a:tr>
              <a:tr h="6123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Professional branding</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4123296021"/>
                  </a:ext>
                </a:extLst>
              </a:tr>
            </a:tbl>
          </a:graphicData>
        </a:graphic>
      </p:graphicFrame>
      <p:graphicFrame>
        <p:nvGraphicFramePr>
          <p:cNvPr id="8" name="Table 7">
            <a:extLst>
              <a:ext uri="{FF2B5EF4-FFF2-40B4-BE49-F238E27FC236}">
                <a16:creationId xmlns:a16="http://schemas.microsoft.com/office/drawing/2014/main" id="{37F61CEC-ABE3-E878-DCF7-5056877986E4}"/>
              </a:ext>
            </a:extLst>
          </p:cNvPr>
          <p:cNvGraphicFramePr>
            <a:graphicFrameLocks noGrp="1"/>
          </p:cNvGraphicFramePr>
          <p:nvPr>
            <p:extLst>
              <p:ext uri="{D42A27DB-BD31-4B8C-83A1-F6EECF244321}">
                <p14:modId xmlns:p14="http://schemas.microsoft.com/office/powerpoint/2010/main" val="2207049507"/>
              </p:ext>
            </p:extLst>
          </p:nvPr>
        </p:nvGraphicFramePr>
        <p:xfrm>
          <a:off x="5818189" y="748610"/>
          <a:ext cx="3133725" cy="3061761"/>
        </p:xfrm>
        <a:graphic>
          <a:graphicData uri="http://schemas.openxmlformats.org/drawingml/2006/table">
            <a:tbl>
              <a:tblPr firstRow="1" bandRow="1">
                <a:tableStyleId>{5C22544A-7EE6-4342-B048-85BDC9FD1C3A}</a:tableStyleId>
              </a:tblPr>
              <a:tblGrid>
                <a:gridCol w="3133725">
                  <a:extLst>
                    <a:ext uri="{9D8B030D-6E8A-4147-A177-3AD203B41FA5}">
                      <a16:colId xmlns:a16="http://schemas.microsoft.com/office/drawing/2014/main" val="449406887"/>
                    </a:ext>
                  </a:extLst>
                </a:gridCol>
              </a:tblGrid>
              <a:tr h="612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latin typeface="Bookman Old Style" panose="02050604050505020204" pitchFamily="18" charset="0"/>
                        </a:rPr>
                        <a:t>Weaknesses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1283431811"/>
                  </a:ext>
                </a:extLst>
              </a:tr>
              <a:tr h="6273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Performance score can improve</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3015856561"/>
                  </a:ext>
                </a:extLst>
              </a:tr>
              <a:tr h="61274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Heavy page resources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504980860"/>
                  </a:ext>
                </a:extLst>
              </a:tr>
              <a:tr h="62738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Mobile Core Web Vitals failed</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1034011903"/>
                  </a:ext>
                </a:extLst>
              </a:tr>
              <a:tr h="58150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Third-party scripts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273116902"/>
                  </a:ext>
                </a:extLst>
              </a:tr>
            </a:tbl>
          </a:graphicData>
        </a:graphic>
      </p:graphicFrame>
      <p:graphicFrame>
        <p:nvGraphicFramePr>
          <p:cNvPr id="9" name="Table 8">
            <a:extLst>
              <a:ext uri="{FF2B5EF4-FFF2-40B4-BE49-F238E27FC236}">
                <a16:creationId xmlns:a16="http://schemas.microsoft.com/office/drawing/2014/main" id="{E1006B1D-FF9E-2A32-30F6-0A663501864B}"/>
              </a:ext>
            </a:extLst>
          </p:cNvPr>
          <p:cNvGraphicFramePr>
            <a:graphicFrameLocks noGrp="1"/>
          </p:cNvGraphicFramePr>
          <p:nvPr>
            <p:extLst>
              <p:ext uri="{D42A27DB-BD31-4B8C-83A1-F6EECF244321}">
                <p14:modId xmlns:p14="http://schemas.microsoft.com/office/powerpoint/2010/main" val="990543528"/>
              </p:ext>
            </p:extLst>
          </p:nvPr>
        </p:nvGraphicFramePr>
        <p:xfrm>
          <a:off x="555624" y="4618145"/>
          <a:ext cx="10058400" cy="1463040"/>
        </p:xfrm>
        <a:graphic>
          <a:graphicData uri="http://schemas.openxmlformats.org/drawingml/2006/table">
            <a:tbl>
              <a:tblPr/>
              <a:tblGrid>
                <a:gridCol w="5029200">
                  <a:extLst>
                    <a:ext uri="{9D8B030D-6E8A-4147-A177-3AD203B41FA5}">
                      <a16:colId xmlns:a16="http://schemas.microsoft.com/office/drawing/2014/main" val="2750977966"/>
                    </a:ext>
                  </a:extLst>
                </a:gridCol>
                <a:gridCol w="5029200">
                  <a:extLst>
                    <a:ext uri="{9D8B030D-6E8A-4147-A177-3AD203B41FA5}">
                      <a16:colId xmlns:a16="http://schemas.microsoft.com/office/drawing/2014/main" val="3791996013"/>
                    </a:ext>
                  </a:extLst>
                </a:gridCol>
              </a:tblGrid>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51247564"/>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74171444"/>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1458676507"/>
                  </a:ext>
                </a:extLst>
              </a:tr>
              <a:tr h="0">
                <a:tc>
                  <a:txBody>
                    <a:bodyPr/>
                    <a:lstStyle/>
                    <a:p>
                      <a:pPr>
                        <a:buNone/>
                      </a:pPr>
                      <a:endParaRPr lang="en-IN" dirty="0"/>
                    </a:p>
                  </a:txBody>
                  <a:tcPr anchor="ctr">
                    <a:lnL>
                      <a:noFill/>
                    </a:lnL>
                    <a:lnR>
                      <a:noFill/>
                    </a:lnR>
                    <a:lnT>
                      <a:noFill/>
                    </a:lnT>
                    <a:lnB>
                      <a:noFill/>
                    </a:lnB>
                    <a:noFill/>
                  </a:tcPr>
                </a:tc>
                <a:tc>
                  <a:txBody>
                    <a:bodyPr/>
                    <a:lstStyle/>
                    <a:p>
                      <a:pPr>
                        <a:buNone/>
                      </a:pPr>
                      <a:endParaRPr lang="en-US" dirty="0"/>
                    </a:p>
                  </a:txBody>
                  <a:tcPr anchor="ctr">
                    <a:lnL>
                      <a:noFill/>
                    </a:lnL>
                    <a:lnR>
                      <a:noFill/>
                    </a:lnR>
                    <a:lnT>
                      <a:noFill/>
                    </a:lnT>
                    <a:lnB>
                      <a:noFill/>
                    </a:lnB>
                    <a:noFill/>
                  </a:tcPr>
                </a:tc>
                <a:extLst>
                  <a:ext uri="{0D108BD9-81ED-4DB2-BD59-A6C34878D82A}">
                    <a16:rowId xmlns:a16="http://schemas.microsoft.com/office/drawing/2014/main" val="3485261431"/>
                  </a:ext>
                </a:extLst>
              </a:tr>
            </a:tbl>
          </a:graphicData>
        </a:graphic>
      </p:graphicFrame>
      <p:graphicFrame>
        <p:nvGraphicFramePr>
          <p:cNvPr id="10" name="Table 9">
            <a:extLst>
              <a:ext uri="{FF2B5EF4-FFF2-40B4-BE49-F238E27FC236}">
                <a16:creationId xmlns:a16="http://schemas.microsoft.com/office/drawing/2014/main" id="{49B770F5-FAC7-7CC3-9346-416F2A91D803}"/>
              </a:ext>
            </a:extLst>
          </p:cNvPr>
          <p:cNvGraphicFramePr>
            <a:graphicFrameLocks noGrp="1"/>
          </p:cNvGraphicFramePr>
          <p:nvPr>
            <p:extLst>
              <p:ext uri="{D42A27DB-BD31-4B8C-83A1-F6EECF244321}">
                <p14:modId xmlns:p14="http://schemas.microsoft.com/office/powerpoint/2010/main" val="1794348911"/>
              </p:ext>
            </p:extLst>
          </p:nvPr>
        </p:nvGraphicFramePr>
        <p:xfrm>
          <a:off x="2850356" y="2992015"/>
          <a:ext cx="2838449" cy="3252260"/>
        </p:xfrm>
        <a:graphic>
          <a:graphicData uri="http://schemas.openxmlformats.org/drawingml/2006/table">
            <a:tbl>
              <a:tblPr firstRow="1" bandRow="1">
                <a:tableStyleId>{5C22544A-7EE6-4342-B048-85BDC9FD1C3A}</a:tableStyleId>
              </a:tblPr>
              <a:tblGrid>
                <a:gridCol w="2838449">
                  <a:extLst>
                    <a:ext uri="{9D8B030D-6E8A-4147-A177-3AD203B41FA5}">
                      <a16:colId xmlns:a16="http://schemas.microsoft.com/office/drawing/2014/main" val="3570841774"/>
                    </a:ext>
                  </a:extLst>
                </a:gridCol>
              </a:tblGrid>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Bookman Old Style" panose="02050604050505020204" pitchFamily="18" charset="0"/>
                        </a:rPr>
                        <a:t>Opportunities</a:t>
                      </a:r>
                    </a:p>
                    <a:p>
                      <a:pPr algn="ctr"/>
                      <a:endParaRPr lang="en-IN" dirty="0">
                        <a:latin typeface="Bookman Old Style" panose="02050604050505020204" pitchFamily="18" charset="0"/>
                      </a:endParaRPr>
                    </a:p>
                  </a:txBody>
                  <a:tcPr/>
                </a:tc>
                <a:extLst>
                  <a:ext uri="{0D108BD9-81ED-4DB2-BD59-A6C34878D82A}">
                    <a16:rowId xmlns:a16="http://schemas.microsoft.com/office/drawing/2014/main" val="4003403815"/>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Improve mobile speed</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916521988"/>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AI personalization</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688261770"/>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Interactive demos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639549617"/>
                  </a:ext>
                </a:extLst>
              </a:tr>
            </a:tbl>
          </a:graphicData>
        </a:graphic>
      </p:graphicFrame>
      <p:graphicFrame>
        <p:nvGraphicFramePr>
          <p:cNvPr id="11" name="Table 10">
            <a:extLst>
              <a:ext uri="{FF2B5EF4-FFF2-40B4-BE49-F238E27FC236}">
                <a16:creationId xmlns:a16="http://schemas.microsoft.com/office/drawing/2014/main" id="{863F4205-0704-EE39-D9BD-4FBFD6E8913E}"/>
              </a:ext>
            </a:extLst>
          </p:cNvPr>
          <p:cNvGraphicFramePr>
            <a:graphicFrameLocks noGrp="1"/>
          </p:cNvGraphicFramePr>
          <p:nvPr>
            <p:extLst>
              <p:ext uri="{D42A27DB-BD31-4B8C-83A1-F6EECF244321}">
                <p14:modId xmlns:p14="http://schemas.microsoft.com/office/powerpoint/2010/main" val="2389557584"/>
              </p:ext>
            </p:extLst>
          </p:nvPr>
        </p:nvGraphicFramePr>
        <p:xfrm>
          <a:off x="9124954" y="3100913"/>
          <a:ext cx="2838449" cy="3252260"/>
        </p:xfrm>
        <a:graphic>
          <a:graphicData uri="http://schemas.openxmlformats.org/drawingml/2006/table">
            <a:tbl>
              <a:tblPr firstRow="1" bandRow="1">
                <a:tableStyleId>{5C22544A-7EE6-4342-B048-85BDC9FD1C3A}</a:tableStyleId>
              </a:tblPr>
              <a:tblGrid>
                <a:gridCol w="2838449">
                  <a:extLst>
                    <a:ext uri="{9D8B030D-6E8A-4147-A177-3AD203B41FA5}">
                      <a16:colId xmlns:a16="http://schemas.microsoft.com/office/drawing/2014/main" val="3570841774"/>
                    </a:ext>
                  </a:extLst>
                </a:gridCol>
              </a:tblGrid>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latin typeface="Bookman Old Style" panose="02050604050505020204" pitchFamily="18" charset="0"/>
                        </a:rPr>
                        <a:t>Threats</a:t>
                      </a:r>
                    </a:p>
                    <a:p>
                      <a:pPr algn="ctr"/>
                      <a:endParaRPr lang="en-IN" dirty="0">
                        <a:latin typeface="Bookman Old Style" panose="02050604050505020204" pitchFamily="18" charset="0"/>
                      </a:endParaRPr>
                    </a:p>
                  </a:txBody>
                  <a:tcPr/>
                </a:tc>
                <a:extLst>
                  <a:ext uri="{0D108BD9-81ED-4DB2-BD59-A6C34878D82A}">
                    <a16:rowId xmlns:a16="http://schemas.microsoft.com/office/drawing/2014/main" val="4003403815"/>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Competitors with faster websites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916521988"/>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400" dirty="0">
                          <a:latin typeface="Bookman Old Style" panose="02050604050505020204" pitchFamily="18" charset="0"/>
                        </a:rPr>
                        <a:t>Increasing user expectations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2688261770"/>
                  </a:ext>
                </a:extLst>
              </a:tr>
              <a:tr h="81306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latin typeface="Bookman Old Style" panose="02050604050505020204" pitchFamily="18" charset="0"/>
                        </a:rPr>
                        <a:t>Search ranking affected by slow pages</a:t>
                      </a:r>
                    </a:p>
                    <a:p>
                      <a:pPr algn="ctr"/>
                      <a:endParaRPr lang="en-IN" sz="1400" dirty="0">
                        <a:latin typeface="Bookman Old Style" panose="02050604050505020204" pitchFamily="18" charset="0"/>
                      </a:endParaRPr>
                    </a:p>
                  </a:txBody>
                  <a:tcPr/>
                </a:tc>
                <a:extLst>
                  <a:ext uri="{0D108BD9-81ED-4DB2-BD59-A6C34878D82A}">
                    <a16:rowId xmlns:a16="http://schemas.microsoft.com/office/drawing/2014/main" val="639549617"/>
                  </a:ext>
                </a:extLst>
              </a:tr>
            </a:tbl>
          </a:graphicData>
        </a:graphic>
      </p:graphicFrame>
      <p:sp>
        <p:nvSpPr>
          <p:cNvPr id="13" name="TextBox 12">
            <a:extLst>
              <a:ext uri="{FF2B5EF4-FFF2-40B4-BE49-F238E27FC236}">
                <a16:creationId xmlns:a16="http://schemas.microsoft.com/office/drawing/2014/main" id="{DF4480D1-4E26-F343-A10F-904C606435F0}"/>
              </a:ext>
            </a:extLst>
          </p:cNvPr>
          <p:cNvSpPr txBox="1"/>
          <p:nvPr/>
        </p:nvSpPr>
        <p:spPr>
          <a:xfrm>
            <a:off x="1485899" y="28950"/>
            <a:ext cx="9048753"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Website Strengths &amp; Weaknesses (SWOT)</a:t>
            </a:r>
          </a:p>
        </p:txBody>
      </p:sp>
    </p:spTree>
    <p:extLst>
      <p:ext uri="{BB962C8B-B14F-4D97-AF65-F5344CB8AC3E}">
        <p14:creationId xmlns:p14="http://schemas.microsoft.com/office/powerpoint/2010/main" val="239720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2581A1-85E0-385D-4715-B330D0C35CB6}"/>
              </a:ext>
            </a:extLst>
          </p:cNvPr>
          <p:cNvSpPr txBox="1"/>
          <p:nvPr/>
        </p:nvSpPr>
        <p:spPr>
          <a:xfrm>
            <a:off x="3181350" y="396359"/>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Digital Marketing Strategy</a:t>
            </a:r>
          </a:p>
        </p:txBody>
      </p:sp>
      <p:sp>
        <p:nvSpPr>
          <p:cNvPr id="5" name="TextBox 4">
            <a:extLst>
              <a:ext uri="{FF2B5EF4-FFF2-40B4-BE49-F238E27FC236}">
                <a16:creationId xmlns:a16="http://schemas.microsoft.com/office/drawing/2014/main" id="{88F1255C-A6C6-5503-FDED-0D3885805A6F}"/>
              </a:ext>
            </a:extLst>
          </p:cNvPr>
          <p:cNvSpPr txBox="1"/>
          <p:nvPr/>
        </p:nvSpPr>
        <p:spPr>
          <a:xfrm>
            <a:off x="1333500" y="1171486"/>
            <a:ext cx="9610725" cy="3412409"/>
          </a:xfrm>
          <a:prstGeom prst="rect">
            <a:avLst/>
          </a:prstGeom>
          <a:noFill/>
        </p:spPr>
        <p:txBody>
          <a:bodyPr wrap="square">
            <a:spAutoFit/>
          </a:bodyPr>
          <a:lstStyle/>
          <a:p>
            <a:pPr>
              <a:lnSpc>
                <a:spcPct val="200000"/>
              </a:lnSpc>
              <a:buNone/>
            </a:pPr>
            <a:r>
              <a:rPr lang="en-US" sz="2800" b="1" dirty="0">
                <a:solidFill>
                  <a:srgbClr val="0070C0"/>
                </a:solidFill>
                <a:latin typeface="Bookman Old Style" panose="02050604050505020204" pitchFamily="18" charset="0"/>
              </a:rPr>
              <a:t>Objective</a:t>
            </a:r>
            <a:endParaRPr lang="en-US" sz="2800" dirty="0">
              <a:solidFill>
                <a:srgbClr val="0070C0"/>
              </a:solidFill>
              <a:latin typeface="Bookman Old Style" panose="02050604050505020204" pitchFamily="18" charset="0"/>
            </a:endParaRPr>
          </a:p>
          <a:p>
            <a:pPr>
              <a:lnSpc>
                <a:spcPct val="200000"/>
              </a:lnSpc>
              <a:buNone/>
            </a:pPr>
            <a:r>
              <a:rPr lang="en-US" sz="2800" dirty="0">
                <a:latin typeface="Bookman Old Style" panose="02050604050505020204" pitchFamily="18" charset="0"/>
              </a:rPr>
              <a:t>Analyze Zoho's current marketing activities, evaluate its digital presence, and recommend strategies to improve brand awareness and lead generation.</a:t>
            </a:r>
          </a:p>
        </p:txBody>
      </p:sp>
    </p:spTree>
    <p:extLst>
      <p:ext uri="{BB962C8B-B14F-4D97-AF65-F5344CB8AC3E}">
        <p14:creationId xmlns:p14="http://schemas.microsoft.com/office/powerpoint/2010/main" val="782726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4B3719-A92C-1ECC-F4D6-B76F5674CC9D}"/>
              </a:ext>
            </a:extLst>
          </p:cNvPr>
          <p:cNvSpPr txBox="1"/>
          <p:nvPr/>
        </p:nvSpPr>
        <p:spPr>
          <a:xfrm>
            <a:off x="2154238" y="120134"/>
            <a:ext cx="794385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CURRENT MARKETING ACTIVITIES</a:t>
            </a:r>
          </a:p>
        </p:txBody>
      </p:sp>
      <p:graphicFrame>
        <p:nvGraphicFramePr>
          <p:cNvPr id="5" name="Table 4">
            <a:extLst>
              <a:ext uri="{FF2B5EF4-FFF2-40B4-BE49-F238E27FC236}">
                <a16:creationId xmlns:a16="http://schemas.microsoft.com/office/drawing/2014/main" id="{FDE7FEDD-A018-DBBD-B76B-78BFE04E1DCD}"/>
              </a:ext>
            </a:extLst>
          </p:cNvPr>
          <p:cNvGraphicFramePr>
            <a:graphicFrameLocks noGrp="1"/>
          </p:cNvGraphicFramePr>
          <p:nvPr>
            <p:extLst>
              <p:ext uri="{D42A27DB-BD31-4B8C-83A1-F6EECF244321}">
                <p14:modId xmlns:p14="http://schemas.microsoft.com/office/powerpoint/2010/main" val="851647764"/>
              </p:ext>
            </p:extLst>
          </p:nvPr>
        </p:nvGraphicFramePr>
        <p:xfrm>
          <a:off x="238121" y="816444"/>
          <a:ext cx="4406900" cy="5270063"/>
        </p:xfrm>
        <a:graphic>
          <a:graphicData uri="http://schemas.openxmlformats.org/drawingml/2006/table">
            <a:tbl>
              <a:tblPr firstRow="1" bandRow="1">
                <a:tableStyleId>{BC89EF96-8CEA-46FF-86C4-4CE0E7609802}</a:tableStyleId>
              </a:tblPr>
              <a:tblGrid>
                <a:gridCol w="4406900">
                  <a:extLst>
                    <a:ext uri="{9D8B030D-6E8A-4147-A177-3AD203B41FA5}">
                      <a16:colId xmlns:a16="http://schemas.microsoft.com/office/drawing/2014/main" val="2650806413"/>
                    </a:ext>
                  </a:extLst>
                </a:gridCol>
              </a:tblGrid>
              <a:tr h="6583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Bookman Old Style" panose="02050604050505020204" pitchFamily="18" charset="0"/>
                        </a:rPr>
                        <a:t>Traditional Marketing</a:t>
                      </a:r>
                      <a:endParaRPr lang="en-IN" sz="1600" dirty="0">
                        <a:latin typeface="Bookman Old Style" panose="02050604050505020204" pitchFamily="18" charset="0"/>
                      </a:endParaRP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484433489"/>
                  </a:ext>
                </a:extLst>
              </a:tr>
              <a:tr h="878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Bookman Old Style" panose="02050604050505020204" pitchFamily="18" charset="0"/>
                        </a:rPr>
                        <a:t>🏢 Technology Conferences &amp; Business Events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610479859"/>
                  </a:ext>
                </a:extLst>
              </a:tr>
              <a:tr h="6583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Partner &amp; Reseller Programs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2577177874"/>
                  </a:ext>
                </a:extLst>
              </a:tr>
              <a:tr h="6583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Product Demonstrations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464514898"/>
                  </a:ext>
                </a:extLst>
              </a:tr>
              <a:tr h="878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Bookman Old Style" panose="02050604050505020204" pitchFamily="18" charset="0"/>
                        </a:rPr>
                        <a:t>📄 Corporate Brochures &amp; Sales Materials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735427254"/>
                  </a:ext>
                </a:extLst>
              </a:tr>
              <a:tr h="87890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Bookman Old Style" panose="02050604050505020204" pitchFamily="18" charset="0"/>
                        </a:rPr>
                        <a:t>👥 Direct Sales &amp; Enterprise Meetings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57871098"/>
                  </a:ext>
                </a:extLst>
              </a:tr>
              <a:tr h="65833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Customer Training Programs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4060256377"/>
                  </a:ext>
                </a:extLst>
              </a:tr>
            </a:tbl>
          </a:graphicData>
        </a:graphic>
      </p:graphicFrame>
      <p:graphicFrame>
        <p:nvGraphicFramePr>
          <p:cNvPr id="6" name="Table 5">
            <a:extLst>
              <a:ext uri="{FF2B5EF4-FFF2-40B4-BE49-F238E27FC236}">
                <a16:creationId xmlns:a16="http://schemas.microsoft.com/office/drawing/2014/main" id="{AEF238BE-6DA7-C197-B6E7-1950D4681E48}"/>
              </a:ext>
            </a:extLst>
          </p:cNvPr>
          <p:cNvGraphicFramePr>
            <a:graphicFrameLocks noGrp="1"/>
          </p:cNvGraphicFramePr>
          <p:nvPr>
            <p:extLst>
              <p:ext uri="{D42A27DB-BD31-4B8C-83A1-F6EECF244321}">
                <p14:modId xmlns:p14="http://schemas.microsoft.com/office/powerpoint/2010/main" val="3242099075"/>
              </p:ext>
            </p:extLst>
          </p:nvPr>
        </p:nvGraphicFramePr>
        <p:xfrm>
          <a:off x="7546981" y="816444"/>
          <a:ext cx="4406900" cy="5245366"/>
        </p:xfrm>
        <a:graphic>
          <a:graphicData uri="http://schemas.openxmlformats.org/drawingml/2006/table">
            <a:tbl>
              <a:tblPr firstRow="1" bandRow="1">
                <a:tableStyleId>{BC89EF96-8CEA-46FF-86C4-4CE0E7609802}</a:tableStyleId>
              </a:tblPr>
              <a:tblGrid>
                <a:gridCol w="4406900">
                  <a:extLst>
                    <a:ext uri="{9D8B030D-6E8A-4147-A177-3AD203B41FA5}">
                      <a16:colId xmlns:a16="http://schemas.microsoft.com/office/drawing/2014/main" val="2650806413"/>
                    </a:ext>
                  </a:extLst>
                </a:gridCol>
              </a:tblGrid>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Bookman Old Style" panose="02050604050505020204" pitchFamily="18" charset="0"/>
                        </a:rPr>
                        <a:t>Digital Marketing</a:t>
                      </a:r>
                      <a:endParaRPr lang="en-IN" sz="1600" dirty="0">
                        <a:latin typeface="Bookman Old Style" panose="02050604050505020204" pitchFamily="18" charset="0"/>
                      </a:endParaRP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484433489"/>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latin typeface="Bookman Old Style" panose="02050604050505020204" pitchFamily="18" charset="0"/>
                        </a:rPr>
                        <a:t>🌐 Search Engine Optimization (SEO)</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610479859"/>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Social Media Marketing</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2577177874"/>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Content Marketing (Blogs &amp; Articles)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464514898"/>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Email Marketing</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3735427254"/>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Webinars &amp; YouTube Videos</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157871098"/>
                  </a:ext>
                </a:extLst>
              </a:tr>
              <a:tr h="7493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latin typeface="Bookman Old Style" panose="02050604050505020204" pitchFamily="18" charset="0"/>
                        </a:rPr>
                        <a:t>💼 LinkedIn Marketing</a:t>
                      </a:r>
                    </a:p>
                    <a:p>
                      <a:pPr algn="ctr"/>
                      <a:endParaRPr lang="en-IN" sz="1600" dirty="0">
                        <a:latin typeface="Bookman Old Style" panose="02050604050505020204" pitchFamily="18" charset="0"/>
                      </a:endParaRPr>
                    </a:p>
                  </a:txBody>
                  <a:tcPr/>
                </a:tc>
                <a:extLst>
                  <a:ext uri="{0D108BD9-81ED-4DB2-BD59-A6C34878D82A}">
                    <a16:rowId xmlns:a16="http://schemas.microsoft.com/office/drawing/2014/main" val="4006814508"/>
                  </a:ext>
                </a:extLst>
              </a:tr>
            </a:tbl>
          </a:graphicData>
        </a:graphic>
      </p:graphicFrame>
      <p:sp>
        <p:nvSpPr>
          <p:cNvPr id="9" name="Speech Bubble: Oval 8">
            <a:extLst>
              <a:ext uri="{FF2B5EF4-FFF2-40B4-BE49-F238E27FC236}">
                <a16:creationId xmlns:a16="http://schemas.microsoft.com/office/drawing/2014/main" id="{BDA7DF49-B19D-A6A1-29CA-6F3A3F50155B}"/>
              </a:ext>
            </a:extLst>
          </p:cNvPr>
          <p:cNvSpPr/>
          <p:nvPr/>
        </p:nvSpPr>
        <p:spPr>
          <a:xfrm>
            <a:off x="4703758" y="816444"/>
            <a:ext cx="2686054" cy="4705350"/>
          </a:xfrm>
          <a:prstGeom prst="wedgeEllipse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Bookman Old Style" panose="02050604050505020204" pitchFamily="18" charset="0"/>
              </a:rPr>
              <a:t>OBSERVATION</a:t>
            </a:r>
          </a:p>
          <a:p>
            <a:pPr algn="ctr"/>
            <a:endParaRPr lang="en-US" sz="1600" b="1" dirty="0">
              <a:solidFill>
                <a:schemeClr val="tx1"/>
              </a:solidFill>
              <a:latin typeface="Bookman Old Style" panose="02050604050505020204" pitchFamily="18" charset="0"/>
            </a:endParaRPr>
          </a:p>
          <a:p>
            <a:pPr algn="ctr"/>
            <a:r>
              <a:rPr lang="en-US" sz="1600" dirty="0">
                <a:solidFill>
                  <a:schemeClr val="tx1"/>
                </a:solidFill>
                <a:latin typeface="Bookman Old Style" panose="02050604050505020204" pitchFamily="18" charset="0"/>
              </a:rPr>
              <a:t>Zoho primarily focuses on digital marketing while using traditional marketing to strengthen enterprise relationships and brand credibility.</a:t>
            </a:r>
          </a:p>
        </p:txBody>
      </p:sp>
    </p:spTree>
    <p:extLst>
      <p:ext uri="{BB962C8B-B14F-4D97-AF65-F5344CB8AC3E}">
        <p14:creationId xmlns:p14="http://schemas.microsoft.com/office/powerpoint/2010/main" val="3408726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7FB4213D-43AC-C890-2B15-5C5DEDD193D8}"/>
              </a:ext>
            </a:extLst>
          </p:cNvPr>
          <p:cNvSpPr/>
          <p:nvPr/>
        </p:nvSpPr>
        <p:spPr>
          <a:xfrm>
            <a:off x="409575" y="707825"/>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solidFill>
                  <a:schemeClr val="tx1"/>
                </a:solidFill>
                <a:latin typeface="Bookman Old Style" panose="02050604050505020204" pitchFamily="18" charset="0"/>
              </a:rPr>
              <a:t>🌐 SEO</a:t>
            </a:r>
          </a:p>
          <a:p>
            <a:pPr algn="ctr"/>
            <a:r>
              <a:rPr lang="en-IN" sz="1600" dirty="0">
                <a:solidFill>
                  <a:schemeClr val="tx1"/>
                </a:solidFill>
                <a:latin typeface="Bookman Old Style" panose="02050604050505020204" pitchFamily="18" charset="0"/>
              </a:rPr>
              <a:t>SEO Score: 92/100</a:t>
            </a:r>
          </a:p>
        </p:txBody>
      </p:sp>
      <p:sp>
        <p:nvSpPr>
          <p:cNvPr id="3" name="Oval 2">
            <a:extLst>
              <a:ext uri="{FF2B5EF4-FFF2-40B4-BE49-F238E27FC236}">
                <a16:creationId xmlns:a16="http://schemas.microsoft.com/office/drawing/2014/main" id="{6878885C-8088-B7F6-C431-1A7C27297E44}"/>
              </a:ext>
            </a:extLst>
          </p:cNvPr>
          <p:cNvSpPr/>
          <p:nvPr/>
        </p:nvSpPr>
        <p:spPr>
          <a:xfrm>
            <a:off x="3267075" y="1682972"/>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solidFill>
                  <a:schemeClr val="tx1"/>
                </a:solidFill>
                <a:latin typeface="Bookman Old Style" panose="02050604050505020204" pitchFamily="18" charset="0"/>
              </a:rPr>
              <a:t>📱 Social Media</a:t>
            </a:r>
          </a:p>
          <a:p>
            <a:pPr algn="ctr"/>
            <a:r>
              <a:rPr lang="en-IN" sz="1600" dirty="0">
                <a:solidFill>
                  <a:schemeClr val="tx1"/>
                </a:solidFill>
                <a:latin typeface="Bookman Old Style" panose="02050604050505020204" pitchFamily="18" charset="0"/>
              </a:rPr>
              <a:t>LinkedIn, X, Facebook, YouTube</a:t>
            </a:r>
          </a:p>
        </p:txBody>
      </p:sp>
      <p:sp>
        <p:nvSpPr>
          <p:cNvPr id="4" name="Oval 3">
            <a:extLst>
              <a:ext uri="{FF2B5EF4-FFF2-40B4-BE49-F238E27FC236}">
                <a16:creationId xmlns:a16="http://schemas.microsoft.com/office/drawing/2014/main" id="{72C9D022-9EF3-2AF7-8D13-30EB862D3996}"/>
              </a:ext>
            </a:extLst>
          </p:cNvPr>
          <p:cNvSpPr/>
          <p:nvPr/>
        </p:nvSpPr>
        <p:spPr>
          <a:xfrm>
            <a:off x="6657975" y="863200"/>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solidFill>
                  <a:schemeClr val="tx1"/>
                </a:solidFill>
                <a:latin typeface="Bookman Old Style" panose="02050604050505020204" pitchFamily="18" charset="0"/>
              </a:rPr>
              <a:t>✍️ Content </a:t>
            </a:r>
            <a:r>
              <a:rPr lang="en-IN" sz="1600" dirty="0">
                <a:solidFill>
                  <a:schemeClr val="tx1"/>
                </a:solidFill>
                <a:latin typeface="Bookman Old Style" panose="02050604050505020204" pitchFamily="18" charset="0"/>
              </a:rPr>
              <a:t>Marketing</a:t>
            </a:r>
          </a:p>
          <a:p>
            <a:pPr algn="ctr"/>
            <a:r>
              <a:rPr lang="en-IN" sz="1600" dirty="0">
                <a:solidFill>
                  <a:schemeClr val="tx1"/>
                </a:solidFill>
                <a:latin typeface="Bookman Old Style" panose="02050604050505020204" pitchFamily="18" charset="0"/>
              </a:rPr>
              <a:t>Blogs, Guides &amp; Case Studies</a:t>
            </a:r>
          </a:p>
        </p:txBody>
      </p:sp>
      <p:sp>
        <p:nvSpPr>
          <p:cNvPr id="5" name="Oval 4">
            <a:extLst>
              <a:ext uri="{FF2B5EF4-FFF2-40B4-BE49-F238E27FC236}">
                <a16:creationId xmlns:a16="http://schemas.microsoft.com/office/drawing/2014/main" id="{02072B9B-6723-A79A-EE59-EC10374F967F}"/>
              </a:ext>
            </a:extLst>
          </p:cNvPr>
          <p:cNvSpPr/>
          <p:nvPr/>
        </p:nvSpPr>
        <p:spPr>
          <a:xfrm>
            <a:off x="1643063" y="3273626"/>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solidFill>
                  <a:schemeClr val="tx1"/>
                </a:solidFill>
                <a:latin typeface="Bookman Old Style" panose="02050604050505020204" pitchFamily="18" charset="0"/>
              </a:rPr>
              <a:t>📧 Email </a:t>
            </a:r>
            <a:r>
              <a:rPr lang="en-IN" sz="1600" dirty="0">
                <a:solidFill>
                  <a:schemeClr val="tx1"/>
                </a:solidFill>
                <a:latin typeface="Bookman Old Style" panose="02050604050505020204" pitchFamily="18" charset="0"/>
              </a:rPr>
              <a:t>Marketing</a:t>
            </a:r>
          </a:p>
          <a:p>
            <a:pPr algn="ctr"/>
            <a:r>
              <a:rPr lang="en-IN" sz="1600" dirty="0">
                <a:solidFill>
                  <a:schemeClr val="tx1"/>
                </a:solidFill>
                <a:latin typeface="Bookman Old Style" panose="02050604050505020204" pitchFamily="18" charset="0"/>
              </a:rPr>
              <a:t>Product updates, newsletters &amp; campaigns</a:t>
            </a:r>
          </a:p>
        </p:txBody>
      </p:sp>
      <p:sp>
        <p:nvSpPr>
          <p:cNvPr id="6" name="Oval 5">
            <a:extLst>
              <a:ext uri="{FF2B5EF4-FFF2-40B4-BE49-F238E27FC236}">
                <a16:creationId xmlns:a16="http://schemas.microsoft.com/office/drawing/2014/main" id="{10809FAA-E01C-82D2-D0DB-1A59843E9F5E}"/>
              </a:ext>
            </a:extLst>
          </p:cNvPr>
          <p:cNvSpPr/>
          <p:nvPr/>
        </p:nvSpPr>
        <p:spPr>
          <a:xfrm>
            <a:off x="6096000" y="3343688"/>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solidFill>
                  <a:schemeClr val="tx1"/>
                </a:solidFill>
                <a:latin typeface="Bookman Old Style" panose="02050604050505020204" pitchFamily="18" charset="0"/>
              </a:rPr>
              <a:t>🎥 Webinars</a:t>
            </a:r>
          </a:p>
          <a:p>
            <a:pPr algn="ctr"/>
            <a:r>
              <a:rPr lang="en-IN" sz="1600" dirty="0">
                <a:solidFill>
                  <a:schemeClr val="tx1"/>
                </a:solidFill>
                <a:latin typeface="Bookman Old Style" panose="02050604050505020204" pitchFamily="18" charset="0"/>
              </a:rPr>
              <a:t>Product demos &amp; training</a:t>
            </a:r>
          </a:p>
          <a:p>
            <a:pPr algn="ctr"/>
            <a:endParaRPr lang="en-IN" dirty="0"/>
          </a:p>
        </p:txBody>
      </p:sp>
      <p:sp>
        <p:nvSpPr>
          <p:cNvPr id="7" name="Oval 6">
            <a:extLst>
              <a:ext uri="{FF2B5EF4-FFF2-40B4-BE49-F238E27FC236}">
                <a16:creationId xmlns:a16="http://schemas.microsoft.com/office/drawing/2014/main" id="{C3F1E011-E3B4-8877-10B9-3D4652B37B9A}"/>
              </a:ext>
            </a:extLst>
          </p:cNvPr>
          <p:cNvSpPr/>
          <p:nvPr/>
        </p:nvSpPr>
        <p:spPr>
          <a:xfrm>
            <a:off x="9134475" y="2238005"/>
            <a:ext cx="2828925" cy="14382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600" b="1" u="sng" dirty="0">
                <a:latin typeface="Bookman Old Style" panose="02050604050505020204" pitchFamily="18" charset="0"/>
              </a:rPr>
              <a:t>🎯 </a:t>
            </a:r>
            <a:r>
              <a:rPr lang="en-IN" sz="1600" b="1" u="sng" dirty="0">
                <a:solidFill>
                  <a:schemeClr val="tx1"/>
                </a:solidFill>
                <a:latin typeface="Bookman Old Style" panose="02050604050505020204" pitchFamily="18" charset="0"/>
              </a:rPr>
              <a:t>Lead </a:t>
            </a:r>
            <a:r>
              <a:rPr lang="en-IN" sz="1600" dirty="0">
                <a:solidFill>
                  <a:schemeClr val="tx1"/>
                </a:solidFill>
                <a:latin typeface="Bookman Old Style" panose="02050604050505020204" pitchFamily="18" charset="0"/>
              </a:rPr>
              <a:t>Generation</a:t>
            </a:r>
          </a:p>
          <a:p>
            <a:pPr algn="ctr"/>
            <a:r>
              <a:rPr lang="en-US" sz="1600" dirty="0">
                <a:solidFill>
                  <a:schemeClr val="tx1"/>
                </a:solidFill>
                <a:latin typeface="Bookman Old Style" panose="02050604050505020204" pitchFamily="18" charset="0"/>
              </a:rPr>
              <a:t>Free Trial, Demo Requests &amp; Contact Forms</a:t>
            </a:r>
            <a:endParaRPr lang="en-IN" sz="1600" dirty="0">
              <a:solidFill>
                <a:schemeClr val="tx1"/>
              </a:solidFill>
              <a:latin typeface="Bookman Old Style" panose="02050604050505020204" pitchFamily="18" charset="0"/>
            </a:endParaRPr>
          </a:p>
        </p:txBody>
      </p:sp>
      <p:sp>
        <p:nvSpPr>
          <p:cNvPr id="12" name="TextBox 11">
            <a:extLst>
              <a:ext uri="{FF2B5EF4-FFF2-40B4-BE49-F238E27FC236}">
                <a16:creationId xmlns:a16="http://schemas.microsoft.com/office/drawing/2014/main" id="{DC3CD73B-BAA7-0FC1-7D84-0E3EC6BEC99D}"/>
              </a:ext>
            </a:extLst>
          </p:cNvPr>
          <p:cNvSpPr txBox="1"/>
          <p:nvPr/>
        </p:nvSpPr>
        <p:spPr>
          <a:xfrm>
            <a:off x="1390650" y="5327479"/>
            <a:ext cx="10153650" cy="923330"/>
          </a:xfrm>
          <a:prstGeom prst="rect">
            <a:avLst/>
          </a:prstGeom>
          <a:noFill/>
        </p:spPr>
        <p:txBody>
          <a:bodyPr wrap="square">
            <a:spAutoFit/>
          </a:bodyPr>
          <a:lstStyle/>
          <a:p>
            <a:pPr>
              <a:buNone/>
            </a:pPr>
            <a:r>
              <a:rPr lang="en-US" b="1" dirty="0">
                <a:solidFill>
                  <a:srgbClr val="0070C0"/>
                </a:solidFill>
                <a:latin typeface="Bookman Old Style" panose="02050604050505020204" pitchFamily="18" charset="0"/>
              </a:rPr>
              <a:t>Key Insight</a:t>
            </a:r>
            <a:endParaRPr lang="en-US" dirty="0">
              <a:solidFill>
                <a:srgbClr val="0070C0"/>
              </a:solidFill>
              <a:latin typeface="Bookman Old Style" panose="02050604050505020204" pitchFamily="18" charset="0"/>
            </a:endParaRPr>
          </a:p>
          <a:p>
            <a:pPr>
              <a:buNone/>
            </a:pPr>
            <a:r>
              <a:rPr lang="en-US" dirty="0">
                <a:latin typeface="Bookman Old Style" panose="02050604050505020204" pitchFamily="18" charset="0"/>
              </a:rPr>
              <a:t>Zoho integrates multiple digital channels to attract, engage, and convert customers throughout the buyer journey.</a:t>
            </a:r>
          </a:p>
        </p:txBody>
      </p:sp>
      <p:sp>
        <p:nvSpPr>
          <p:cNvPr id="14" name="TextBox 13">
            <a:extLst>
              <a:ext uri="{FF2B5EF4-FFF2-40B4-BE49-F238E27FC236}">
                <a16:creationId xmlns:a16="http://schemas.microsoft.com/office/drawing/2014/main" id="{470303D9-AFB6-6174-D939-16CB5529B845}"/>
              </a:ext>
            </a:extLst>
          </p:cNvPr>
          <p:cNvSpPr txBox="1"/>
          <p:nvPr/>
        </p:nvSpPr>
        <p:spPr>
          <a:xfrm>
            <a:off x="2100263" y="82509"/>
            <a:ext cx="7458075" cy="523220"/>
          </a:xfrm>
          <a:prstGeom prst="rect">
            <a:avLst/>
          </a:prstGeom>
          <a:noFill/>
        </p:spPr>
        <p:txBody>
          <a:bodyPr wrap="square">
            <a:spAutoFit/>
          </a:bodyPr>
          <a:lstStyle/>
          <a:p>
            <a:pPr algn="ctr"/>
            <a:r>
              <a:rPr lang="en-IN" sz="2800" b="1" u="sng" dirty="0">
                <a:solidFill>
                  <a:srgbClr val="0070C0"/>
                </a:solidFill>
                <a:latin typeface="Bookman Old Style" panose="02050604050505020204" pitchFamily="18" charset="0"/>
              </a:rPr>
              <a:t>DIGITAL MARKETING CHANNELS</a:t>
            </a:r>
          </a:p>
        </p:txBody>
      </p:sp>
    </p:spTree>
    <p:extLst>
      <p:ext uri="{BB962C8B-B14F-4D97-AF65-F5344CB8AC3E}">
        <p14:creationId xmlns:p14="http://schemas.microsoft.com/office/powerpoint/2010/main" val="2238491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7878185-9981-E392-8863-722C429D6C26}"/>
              </a:ext>
            </a:extLst>
          </p:cNvPr>
          <p:cNvSpPr txBox="1"/>
          <p:nvPr/>
        </p:nvSpPr>
        <p:spPr>
          <a:xfrm>
            <a:off x="3048000" y="215384"/>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RECOMMENDATIONS</a:t>
            </a:r>
          </a:p>
        </p:txBody>
      </p:sp>
      <p:sp>
        <p:nvSpPr>
          <p:cNvPr id="5" name="TextBox 4">
            <a:extLst>
              <a:ext uri="{FF2B5EF4-FFF2-40B4-BE49-F238E27FC236}">
                <a16:creationId xmlns:a16="http://schemas.microsoft.com/office/drawing/2014/main" id="{935234AA-1EAF-8CF9-D657-38F1C429F994}"/>
              </a:ext>
            </a:extLst>
          </p:cNvPr>
          <p:cNvSpPr txBox="1"/>
          <p:nvPr/>
        </p:nvSpPr>
        <p:spPr>
          <a:xfrm>
            <a:off x="290512" y="1065352"/>
            <a:ext cx="3143250" cy="2555315"/>
          </a:xfrm>
          <a:prstGeom prst="rect">
            <a:avLst/>
          </a:prstGeom>
          <a:noFill/>
        </p:spPr>
        <p:txBody>
          <a:bodyPr wrap="square">
            <a:spAutoFit/>
          </a:bodyPr>
          <a:lstStyle/>
          <a:p>
            <a:pPr>
              <a:buNone/>
            </a:pPr>
            <a:r>
              <a:rPr lang="en-US" sz="1600" b="1" dirty="0">
                <a:solidFill>
                  <a:srgbClr val="0070C0"/>
                </a:solidFill>
                <a:latin typeface="Bookman Old Style" panose="02050604050505020204" pitchFamily="18" charset="0"/>
              </a:rPr>
              <a:t>🚀 SEO</a:t>
            </a:r>
          </a:p>
          <a:p>
            <a:pPr marL="742950" lvl="1" indent="-285750">
              <a:lnSpc>
                <a:spcPct val="150000"/>
              </a:lnSpc>
              <a:buFont typeface="Wingdings" panose="05000000000000000000" pitchFamily="2" charset="2"/>
              <a:buChar char="Ø"/>
            </a:pPr>
            <a:r>
              <a:rPr lang="en-US" sz="1600" dirty="0">
                <a:latin typeface="Bookman Old Style" panose="02050604050505020204" pitchFamily="18" charset="0"/>
              </a:rPr>
              <a:t>Improve mobile page speed. </a:t>
            </a:r>
          </a:p>
          <a:p>
            <a:pPr marL="742950" lvl="1" indent="-285750">
              <a:lnSpc>
                <a:spcPct val="150000"/>
              </a:lnSpc>
              <a:buFont typeface="Wingdings" panose="05000000000000000000" pitchFamily="2" charset="2"/>
              <a:buChar char="Ø"/>
            </a:pPr>
            <a:r>
              <a:rPr lang="en-US" sz="1600" dirty="0">
                <a:latin typeface="Bookman Old Style" panose="02050604050505020204" pitchFamily="18" charset="0"/>
              </a:rPr>
              <a:t>Optimize images and page loading. </a:t>
            </a:r>
          </a:p>
          <a:p>
            <a:pPr marL="742950" lvl="1" indent="-285750">
              <a:lnSpc>
                <a:spcPct val="150000"/>
              </a:lnSpc>
              <a:buFont typeface="Wingdings" panose="05000000000000000000" pitchFamily="2" charset="2"/>
              <a:buChar char="Ø"/>
            </a:pPr>
            <a:r>
              <a:rPr lang="en-US" sz="1600" dirty="0">
                <a:latin typeface="Bookman Old Style" panose="02050604050505020204" pitchFamily="18" charset="0"/>
              </a:rPr>
              <a:t>Reduce render-blocking resources</a:t>
            </a:r>
            <a:r>
              <a:rPr lang="en-US" dirty="0"/>
              <a:t>.</a:t>
            </a:r>
          </a:p>
        </p:txBody>
      </p:sp>
      <p:sp>
        <p:nvSpPr>
          <p:cNvPr id="7" name="TextBox 6">
            <a:extLst>
              <a:ext uri="{FF2B5EF4-FFF2-40B4-BE49-F238E27FC236}">
                <a16:creationId xmlns:a16="http://schemas.microsoft.com/office/drawing/2014/main" id="{6F98A4A0-CFA4-3508-D170-3D379D35AF12}"/>
              </a:ext>
            </a:extLst>
          </p:cNvPr>
          <p:cNvSpPr txBox="1"/>
          <p:nvPr/>
        </p:nvSpPr>
        <p:spPr>
          <a:xfrm>
            <a:off x="4090989" y="1065352"/>
            <a:ext cx="3048000" cy="2143407"/>
          </a:xfrm>
          <a:prstGeom prst="rect">
            <a:avLst/>
          </a:prstGeom>
          <a:noFill/>
        </p:spPr>
        <p:txBody>
          <a:bodyPr wrap="square">
            <a:spAutoFit/>
          </a:bodyPr>
          <a:lstStyle/>
          <a:p>
            <a:pPr>
              <a:buNone/>
            </a:pPr>
            <a:r>
              <a:rPr lang="en-US" sz="1600" b="1" dirty="0">
                <a:latin typeface="Bookman Old Style" panose="02050604050505020204" pitchFamily="18" charset="0"/>
              </a:rPr>
              <a:t>📱 </a:t>
            </a:r>
            <a:r>
              <a:rPr lang="en-US" sz="1600" b="1" dirty="0">
                <a:solidFill>
                  <a:srgbClr val="0070C0"/>
                </a:solidFill>
                <a:latin typeface="Bookman Old Style" panose="02050604050505020204" pitchFamily="18" charset="0"/>
              </a:rPr>
              <a:t>Social Media</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Increase short-form educational videos. </a:t>
            </a:r>
          </a:p>
          <a:p>
            <a:pPr marL="742950" lvl="1" indent="-285750">
              <a:lnSpc>
                <a:spcPct val="150000"/>
              </a:lnSpc>
              <a:buFont typeface="Wingdings" panose="05000000000000000000" pitchFamily="2" charset="2"/>
              <a:buChar char="v"/>
            </a:pPr>
            <a:r>
              <a:rPr lang="en-US" sz="1600" dirty="0">
                <a:latin typeface="Bookman Old Style" panose="02050604050505020204" pitchFamily="18" charset="0"/>
              </a:rPr>
              <a:t>Share more customer success stories.</a:t>
            </a:r>
          </a:p>
        </p:txBody>
      </p:sp>
      <p:sp>
        <p:nvSpPr>
          <p:cNvPr id="9" name="TextBox 8">
            <a:extLst>
              <a:ext uri="{FF2B5EF4-FFF2-40B4-BE49-F238E27FC236}">
                <a16:creationId xmlns:a16="http://schemas.microsoft.com/office/drawing/2014/main" id="{52D91B8B-629B-44FC-8779-ABE35B0F7A32}"/>
              </a:ext>
            </a:extLst>
          </p:cNvPr>
          <p:cNvSpPr txBox="1"/>
          <p:nvPr/>
        </p:nvSpPr>
        <p:spPr>
          <a:xfrm>
            <a:off x="2124076" y="3885860"/>
            <a:ext cx="3143250" cy="2266518"/>
          </a:xfrm>
          <a:prstGeom prst="rect">
            <a:avLst/>
          </a:prstGeom>
          <a:noFill/>
        </p:spPr>
        <p:txBody>
          <a:bodyPr wrap="square">
            <a:spAutoFit/>
          </a:bodyPr>
          <a:lstStyle/>
          <a:p>
            <a:pPr>
              <a:lnSpc>
                <a:spcPct val="150000"/>
              </a:lnSpc>
            </a:pPr>
            <a:r>
              <a:rPr lang="en-US" sz="1600" b="1" dirty="0">
                <a:solidFill>
                  <a:srgbClr val="0070C0"/>
                </a:solidFill>
                <a:latin typeface="Bookman Old Style" panose="02050604050505020204" pitchFamily="18" charset="0"/>
              </a:rPr>
              <a:t>✍️ Content Marketing</a:t>
            </a:r>
          </a:p>
          <a:p>
            <a:pPr marL="742950" lvl="1" indent="-285750">
              <a:lnSpc>
                <a:spcPct val="150000"/>
              </a:lnSpc>
              <a:buFont typeface="Courier New" panose="02070309020205020404" pitchFamily="49" charset="0"/>
              <a:buChar char="o"/>
            </a:pPr>
            <a:r>
              <a:rPr lang="en-US" sz="1600" dirty="0">
                <a:latin typeface="Bookman Old Style" panose="02050604050505020204" pitchFamily="18" charset="0"/>
              </a:rPr>
              <a:t>Publish industry case studies. </a:t>
            </a:r>
          </a:p>
          <a:p>
            <a:pPr marL="742950" lvl="1" indent="-285750">
              <a:lnSpc>
                <a:spcPct val="150000"/>
              </a:lnSpc>
              <a:buFont typeface="Courier New" panose="02070309020205020404" pitchFamily="49" charset="0"/>
              <a:buChar char="o"/>
            </a:pPr>
            <a:r>
              <a:rPr lang="en-US" sz="1600" dirty="0">
                <a:latin typeface="Bookman Old Style" panose="02050604050505020204" pitchFamily="18" charset="0"/>
              </a:rPr>
              <a:t>Expand AI and automation-related blogs.</a:t>
            </a:r>
          </a:p>
        </p:txBody>
      </p:sp>
      <p:sp>
        <p:nvSpPr>
          <p:cNvPr id="11" name="TextBox 10">
            <a:extLst>
              <a:ext uri="{FF2B5EF4-FFF2-40B4-BE49-F238E27FC236}">
                <a16:creationId xmlns:a16="http://schemas.microsoft.com/office/drawing/2014/main" id="{111BE978-58DF-D5FB-527D-21A42ACDFDFC}"/>
              </a:ext>
            </a:extLst>
          </p:cNvPr>
          <p:cNvSpPr txBox="1"/>
          <p:nvPr/>
        </p:nvSpPr>
        <p:spPr>
          <a:xfrm>
            <a:off x="6438900" y="3986916"/>
            <a:ext cx="4210051" cy="1527854"/>
          </a:xfrm>
          <a:prstGeom prst="rect">
            <a:avLst/>
          </a:prstGeom>
          <a:noFill/>
        </p:spPr>
        <p:txBody>
          <a:bodyPr wrap="square">
            <a:spAutoFit/>
          </a:bodyPr>
          <a:lstStyle/>
          <a:p>
            <a:pPr>
              <a:lnSpc>
                <a:spcPct val="150000"/>
              </a:lnSpc>
              <a:buNone/>
            </a:pPr>
            <a:r>
              <a:rPr lang="en-US" sz="1600" b="1" dirty="0">
                <a:latin typeface="Bookman Old Style" panose="02050604050505020204" pitchFamily="18" charset="0"/>
              </a:rPr>
              <a:t>📧 </a:t>
            </a:r>
            <a:r>
              <a:rPr lang="en-US" sz="1600" b="1" dirty="0">
                <a:solidFill>
                  <a:srgbClr val="0070C0"/>
                </a:solidFill>
                <a:latin typeface="Bookman Old Style" panose="02050604050505020204" pitchFamily="18" charset="0"/>
              </a:rPr>
              <a:t>Email Marketing</a:t>
            </a:r>
          </a:p>
          <a:p>
            <a:pPr marL="742950" lvl="1" indent="-285750">
              <a:lnSpc>
                <a:spcPct val="150000"/>
              </a:lnSpc>
              <a:buFont typeface="Wingdings" panose="05000000000000000000" pitchFamily="2" charset="2"/>
              <a:buChar char="§"/>
            </a:pPr>
            <a:r>
              <a:rPr lang="en-US" sz="1600" dirty="0">
                <a:latin typeface="Bookman Old Style" panose="02050604050505020204" pitchFamily="18" charset="0"/>
              </a:rPr>
              <a:t>Personalize email campaigns. </a:t>
            </a:r>
          </a:p>
          <a:p>
            <a:pPr marL="742950" lvl="1" indent="-285750">
              <a:lnSpc>
                <a:spcPct val="150000"/>
              </a:lnSpc>
              <a:buFont typeface="Wingdings" panose="05000000000000000000" pitchFamily="2" charset="2"/>
              <a:buChar char="§"/>
            </a:pPr>
            <a:r>
              <a:rPr lang="en-US" sz="1600" dirty="0">
                <a:latin typeface="Bookman Old Style" panose="02050604050505020204" pitchFamily="18" charset="0"/>
              </a:rPr>
              <a:t>Improve lead nurturing workflows</a:t>
            </a:r>
          </a:p>
        </p:txBody>
      </p:sp>
      <p:sp>
        <p:nvSpPr>
          <p:cNvPr id="13" name="TextBox 12">
            <a:extLst>
              <a:ext uri="{FF2B5EF4-FFF2-40B4-BE49-F238E27FC236}">
                <a16:creationId xmlns:a16="http://schemas.microsoft.com/office/drawing/2014/main" id="{300462DB-892F-5DCE-6513-9A2BE5FAFD1E}"/>
              </a:ext>
            </a:extLst>
          </p:cNvPr>
          <p:cNvSpPr txBox="1"/>
          <p:nvPr/>
        </p:nvSpPr>
        <p:spPr>
          <a:xfrm>
            <a:off x="8172452" y="1065352"/>
            <a:ext cx="3619497" cy="2143407"/>
          </a:xfrm>
          <a:prstGeom prst="rect">
            <a:avLst/>
          </a:prstGeom>
          <a:noFill/>
        </p:spPr>
        <p:txBody>
          <a:bodyPr wrap="square">
            <a:spAutoFit/>
          </a:bodyPr>
          <a:lstStyle/>
          <a:p>
            <a:pPr>
              <a:buNone/>
            </a:pPr>
            <a:r>
              <a:rPr lang="en-US" sz="1600" b="1" dirty="0">
                <a:solidFill>
                  <a:srgbClr val="0070C0"/>
                </a:solidFill>
                <a:latin typeface="Bookman Old Style" panose="02050604050505020204" pitchFamily="18" charset="0"/>
              </a:rPr>
              <a:t>🎯 Lead Generation</a:t>
            </a:r>
          </a:p>
          <a:p>
            <a:pPr marL="742950" lvl="1" indent="-285750">
              <a:lnSpc>
                <a:spcPct val="150000"/>
              </a:lnSpc>
              <a:buFont typeface="Wingdings" panose="05000000000000000000" pitchFamily="2" charset="2"/>
              <a:buChar char="q"/>
            </a:pPr>
            <a:r>
              <a:rPr lang="en-US" sz="1600" dirty="0">
                <a:latin typeface="Bookman Old Style" panose="02050604050505020204" pitchFamily="18" charset="0"/>
              </a:rPr>
              <a:t>Add interactive product demos. </a:t>
            </a:r>
          </a:p>
          <a:p>
            <a:pPr marL="742950" lvl="1" indent="-285750">
              <a:lnSpc>
                <a:spcPct val="150000"/>
              </a:lnSpc>
              <a:buFont typeface="Wingdings" panose="05000000000000000000" pitchFamily="2" charset="2"/>
              <a:buChar char="q"/>
            </a:pPr>
            <a:r>
              <a:rPr lang="en-US" sz="1600" dirty="0">
                <a:latin typeface="Bookman Old Style" panose="02050604050505020204" pitchFamily="18" charset="0"/>
              </a:rPr>
              <a:t>Enhance chatbot support. </a:t>
            </a:r>
          </a:p>
          <a:p>
            <a:pPr marL="742950" lvl="1" indent="-285750">
              <a:lnSpc>
                <a:spcPct val="150000"/>
              </a:lnSpc>
              <a:buFont typeface="Wingdings" panose="05000000000000000000" pitchFamily="2" charset="2"/>
              <a:buChar char="q"/>
            </a:pPr>
            <a:r>
              <a:rPr lang="en-US" sz="1600" dirty="0">
                <a:latin typeface="Bookman Old Style" panose="02050604050505020204" pitchFamily="18" charset="0"/>
              </a:rPr>
              <a:t>Optimize landing page conversion rate.</a:t>
            </a:r>
          </a:p>
        </p:txBody>
      </p:sp>
    </p:spTree>
    <p:extLst>
      <p:ext uri="{BB962C8B-B14F-4D97-AF65-F5344CB8AC3E}">
        <p14:creationId xmlns:p14="http://schemas.microsoft.com/office/powerpoint/2010/main" val="3361287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18E572-BB3E-9A4B-8375-A721BBF3CF77}"/>
              </a:ext>
            </a:extLst>
          </p:cNvPr>
          <p:cNvSpPr txBox="1"/>
          <p:nvPr/>
        </p:nvSpPr>
        <p:spPr>
          <a:xfrm>
            <a:off x="3209925" y="215384"/>
            <a:ext cx="6096000" cy="584775"/>
          </a:xfrm>
          <a:prstGeom prst="rect">
            <a:avLst/>
          </a:prstGeom>
          <a:noFill/>
        </p:spPr>
        <p:txBody>
          <a:bodyPr wrap="square">
            <a:spAutoFit/>
          </a:bodyPr>
          <a:lstStyle/>
          <a:p>
            <a:pPr algn="ctr"/>
            <a:r>
              <a:rPr lang="en-IN" sz="3200" b="1" u="sng" dirty="0">
                <a:solidFill>
                  <a:srgbClr val="0070C0"/>
                </a:solidFill>
                <a:latin typeface="Bookman Old Style" panose="02050604050505020204" pitchFamily="18" charset="0"/>
              </a:rPr>
              <a:t>LANDING PAGE DESIGN</a:t>
            </a:r>
          </a:p>
        </p:txBody>
      </p:sp>
      <p:pic>
        <p:nvPicPr>
          <p:cNvPr id="17" name="Picture 16">
            <a:extLst>
              <a:ext uri="{FF2B5EF4-FFF2-40B4-BE49-F238E27FC236}">
                <a16:creationId xmlns:a16="http://schemas.microsoft.com/office/drawing/2014/main" id="{86759DFD-8A6F-1C1B-9C0A-A4A783E35EAA}"/>
              </a:ext>
            </a:extLst>
          </p:cNvPr>
          <p:cNvPicPr>
            <a:picLocks noChangeAspect="1"/>
          </p:cNvPicPr>
          <p:nvPr/>
        </p:nvPicPr>
        <p:blipFill>
          <a:blip r:embed="rId2"/>
          <a:stretch>
            <a:fillRect/>
          </a:stretch>
        </p:blipFill>
        <p:spPr>
          <a:xfrm>
            <a:off x="8524779" y="800159"/>
            <a:ext cx="2895696" cy="5562541"/>
          </a:xfrm>
          <a:prstGeom prst="rect">
            <a:avLst/>
          </a:prstGeom>
        </p:spPr>
      </p:pic>
      <p:sp>
        <p:nvSpPr>
          <p:cNvPr id="19" name="TextBox 18">
            <a:extLst>
              <a:ext uri="{FF2B5EF4-FFF2-40B4-BE49-F238E27FC236}">
                <a16:creationId xmlns:a16="http://schemas.microsoft.com/office/drawing/2014/main" id="{15D213A3-1D1D-536F-4390-50DD25BC52F9}"/>
              </a:ext>
            </a:extLst>
          </p:cNvPr>
          <p:cNvSpPr txBox="1"/>
          <p:nvPr/>
        </p:nvSpPr>
        <p:spPr>
          <a:xfrm>
            <a:off x="1142999" y="1433036"/>
            <a:ext cx="6810376" cy="3356432"/>
          </a:xfrm>
          <a:prstGeom prst="rect">
            <a:avLst/>
          </a:prstGeom>
          <a:noFill/>
        </p:spPr>
        <p:txBody>
          <a:bodyPr wrap="square">
            <a:spAutoFit/>
          </a:bodyPr>
          <a:lstStyle/>
          <a:p>
            <a:pPr>
              <a:buNone/>
            </a:pPr>
            <a:r>
              <a:rPr lang="en-US" dirty="0"/>
              <a:t> </a:t>
            </a:r>
          </a:p>
          <a:p>
            <a:pPr marL="342900" indent="-342900">
              <a:lnSpc>
                <a:spcPct val="200000"/>
              </a:lnSpc>
              <a:buFont typeface="Wingdings" panose="05000000000000000000" pitchFamily="2" charset="2"/>
              <a:buChar char="q"/>
            </a:pPr>
            <a:r>
              <a:rPr lang="en-US" sz="2000" dirty="0">
                <a:latin typeface="Bookman Old Style" panose="02050604050505020204" pitchFamily="18" charset="0"/>
              </a:rPr>
              <a:t>Designed using Canva for lead generation. </a:t>
            </a:r>
          </a:p>
          <a:p>
            <a:pPr marL="342900" indent="-342900">
              <a:lnSpc>
                <a:spcPct val="200000"/>
              </a:lnSpc>
              <a:buFont typeface="Wingdings" panose="05000000000000000000" pitchFamily="2" charset="2"/>
              <a:buChar char="q"/>
            </a:pPr>
            <a:r>
              <a:rPr lang="en-US" sz="2000" dirty="0">
                <a:latin typeface="Bookman Old Style" panose="02050604050505020204" pitchFamily="18" charset="0"/>
              </a:rPr>
              <a:t>Highlights Zoho CRM features and benefits. </a:t>
            </a:r>
          </a:p>
          <a:p>
            <a:pPr marL="342900" indent="-342900">
              <a:lnSpc>
                <a:spcPct val="200000"/>
              </a:lnSpc>
              <a:buFont typeface="Wingdings" panose="05000000000000000000" pitchFamily="2" charset="2"/>
              <a:buChar char="q"/>
            </a:pPr>
            <a:r>
              <a:rPr lang="en-US" sz="2000" dirty="0">
                <a:latin typeface="Bookman Old Style" panose="02050604050505020204" pitchFamily="18" charset="0"/>
              </a:rPr>
              <a:t>Includes clear call-to-action buttons. </a:t>
            </a:r>
          </a:p>
          <a:p>
            <a:pPr marL="342900" indent="-342900">
              <a:lnSpc>
                <a:spcPct val="200000"/>
              </a:lnSpc>
              <a:buFont typeface="Wingdings" panose="05000000000000000000" pitchFamily="2" charset="2"/>
              <a:buChar char="q"/>
            </a:pPr>
            <a:r>
              <a:rPr lang="en-US" sz="2000" dirty="0">
                <a:latin typeface="Bookman Old Style" panose="02050604050505020204" pitchFamily="18" charset="0"/>
              </a:rPr>
              <a:t>User-friendly layout with a clean and responsive design. </a:t>
            </a:r>
          </a:p>
        </p:txBody>
      </p:sp>
    </p:spTree>
    <p:extLst>
      <p:ext uri="{BB962C8B-B14F-4D97-AF65-F5344CB8AC3E}">
        <p14:creationId xmlns:p14="http://schemas.microsoft.com/office/powerpoint/2010/main" val="24983000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B2B00A-AFFD-0CBB-B62F-C19BB9FEC60C}"/>
              </a:ext>
            </a:extLst>
          </p:cNvPr>
          <p:cNvSpPr txBox="1"/>
          <p:nvPr/>
        </p:nvSpPr>
        <p:spPr>
          <a:xfrm>
            <a:off x="914400" y="800159"/>
            <a:ext cx="8191500" cy="3097515"/>
          </a:xfrm>
          <a:prstGeom prst="rect">
            <a:avLst/>
          </a:prstGeom>
          <a:noFill/>
        </p:spPr>
        <p:txBody>
          <a:bodyPr wrap="square">
            <a:spAutoFit/>
          </a:bodyPr>
          <a:lstStyle/>
          <a:p>
            <a:pPr>
              <a:lnSpc>
                <a:spcPct val="200000"/>
              </a:lnSpc>
              <a:buNone/>
            </a:pPr>
            <a:r>
              <a:rPr lang="en-IN" sz="2000" b="1" dirty="0">
                <a:solidFill>
                  <a:srgbClr val="0070C0"/>
                </a:solidFill>
                <a:latin typeface="Bookman Old Style" panose="02050604050505020204" pitchFamily="18" charset="0"/>
              </a:rPr>
              <a:t>Project Achievements</a:t>
            </a:r>
          </a:p>
          <a:p>
            <a:pPr marL="342900" indent="-342900">
              <a:lnSpc>
                <a:spcPct val="200000"/>
              </a:lnSpc>
              <a:buFont typeface="Wingdings" panose="05000000000000000000" pitchFamily="2" charset="2"/>
              <a:buChar char="Ø"/>
            </a:pPr>
            <a:r>
              <a:rPr lang="en-IN" sz="1600" dirty="0">
                <a:latin typeface="Bookman Old Style" panose="02050604050505020204" pitchFamily="18" charset="0"/>
              </a:rPr>
              <a:t>Evaluated Zoho's website design, UX, SEO, and performance.</a:t>
            </a:r>
          </a:p>
          <a:p>
            <a:pPr marL="342900" indent="-342900">
              <a:lnSpc>
                <a:spcPct val="200000"/>
              </a:lnSpc>
              <a:buFont typeface="Wingdings" panose="05000000000000000000" pitchFamily="2" charset="2"/>
              <a:buChar char="Ø"/>
            </a:pPr>
            <a:r>
              <a:rPr lang="en-IN" sz="1600" dirty="0">
                <a:latin typeface="Bookman Old Style" panose="02050604050505020204" pitchFamily="18" charset="0"/>
              </a:rPr>
              <a:t>Identified strengths and improvement opportunities through website audit.</a:t>
            </a:r>
          </a:p>
          <a:p>
            <a:pPr marL="342900" indent="-342900">
              <a:lnSpc>
                <a:spcPct val="200000"/>
              </a:lnSpc>
              <a:buFont typeface="Wingdings" panose="05000000000000000000" pitchFamily="2" charset="2"/>
              <a:buChar char="Ø"/>
            </a:pPr>
            <a:r>
              <a:rPr lang="en-IN" sz="1600" dirty="0" err="1">
                <a:latin typeface="Bookman Old Style" panose="02050604050505020204" pitchFamily="18" charset="0"/>
              </a:rPr>
              <a:t>Analyzed</a:t>
            </a:r>
            <a:r>
              <a:rPr lang="en-IN" sz="1600" dirty="0">
                <a:latin typeface="Bookman Old Style" panose="02050604050505020204" pitchFamily="18" charset="0"/>
              </a:rPr>
              <a:t> traditional and digital marketing strategies. Proposed practical recommendations to improve digital presence.</a:t>
            </a:r>
          </a:p>
          <a:p>
            <a:pPr marL="342900" indent="-342900">
              <a:lnSpc>
                <a:spcPct val="200000"/>
              </a:lnSpc>
              <a:buFont typeface="Wingdings" panose="05000000000000000000" pitchFamily="2" charset="2"/>
              <a:buChar char="Ø"/>
            </a:pPr>
            <a:r>
              <a:rPr lang="en-IN" sz="1600" dirty="0">
                <a:latin typeface="Bookman Old Style" panose="02050604050505020204" pitchFamily="18" charset="0"/>
              </a:rPr>
              <a:t>Designed a lead-generation-focused Zoho CRM landing page.</a:t>
            </a:r>
          </a:p>
        </p:txBody>
      </p:sp>
      <p:sp>
        <p:nvSpPr>
          <p:cNvPr id="5" name="TextBox 4">
            <a:extLst>
              <a:ext uri="{FF2B5EF4-FFF2-40B4-BE49-F238E27FC236}">
                <a16:creationId xmlns:a16="http://schemas.microsoft.com/office/drawing/2014/main" id="{97F3DB0A-D3BF-E0D1-40CF-FCDC360EFC57}"/>
              </a:ext>
            </a:extLst>
          </p:cNvPr>
          <p:cNvSpPr txBox="1"/>
          <p:nvPr/>
        </p:nvSpPr>
        <p:spPr>
          <a:xfrm>
            <a:off x="2790825" y="215384"/>
            <a:ext cx="6096000" cy="584775"/>
          </a:xfrm>
          <a:prstGeom prst="rect">
            <a:avLst/>
          </a:prstGeom>
          <a:noFill/>
        </p:spPr>
        <p:txBody>
          <a:bodyPr wrap="square">
            <a:spAutoFit/>
          </a:bodyPr>
          <a:lstStyle/>
          <a:p>
            <a:pPr algn="ctr"/>
            <a:r>
              <a:rPr lang="en-IN" sz="3200" b="1" dirty="0">
                <a:solidFill>
                  <a:srgbClr val="0070C0"/>
                </a:solidFill>
                <a:latin typeface="Bookman Old Style" panose="02050604050505020204" pitchFamily="18" charset="0"/>
              </a:rPr>
              <a:t>Conclusion</a:t>
            </a:r>
          </a:p>
        </p:txBody>
      </p:sp>
      <p:sp>
        <p:nvSpPr>
          <p:cNvPr id="7" name="TextBox 6">
            <a:extLst>
              <a:ext uri="{FF2B5EF4-FFF2-40B4-BE49-F238E27FC236}">
                <a16:creationId xmlns:a16="http://schemas.microsoft.com/office/drawing/2014/main" id="{69742B1C-1E72-9CC3-B7B8-091F103004F3}"/>
              </a:ext>
            </a:extLst>
          </p:cNvPr>
          <p:cNvSpPr txBox="1"/>
          <p:nvPr/>
        </p:nvSpPr>
        <p:spPr>
          <a:xfrm>
            <a:off x="914400" y="4482449"/>
            <a:ext cx="8677276" cy="830997"/>
          </a:xfrm>
          <a:prstGeom prst="rect">
            <a:avLst/>
          </a:prstGeom>
          <a:noFill/>
        </p:spPr>
        <p:txBody>
          <a:bodyPr wrap="square">
            <a:spAutoFit/>
          </a:bodyPr>
          <a:lstStyle/>
          <a:p>
            <a:r>
              <a:rPr lang="en-US" sz="1600" dirty="0">
                <a:latin typeface="Bookman Old Style" panose="02050604050505020204" pitchFamily="18" charset="0"/>
              </a:rPr>
              <a:t>This project demonstrates how a well-designed website, an effective digital marketing strategy, and an optimized landing page together contribute to improving user experience, customer engagement, and overall business growth.</a:t>
            </a:r>
            <a:endParaRPr lang="en-IN" sz="1600" dirty="0">
              <a:latin typeface="Bookman Old Style" panose="02050604050505020204" pitchFamily="18" charset="0"/>
            </a:endParaRPr>
          </a:p>
        </p:txBody>
      </p:sp>
    </p:spTree>
    <p:extLst>
      <p:ext uri="{BB962C8B-B14F-4D97-AF65-F5344CB8AC3E}">
        <p14:creationId xmlns:p14="http://schemas.microsoft.com/office/powerpoint/2010/main" val="2369482131"/>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2.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{1569019D-3EFF-4D05-8E60-AA9921871FD3}TF235124e3-e6db-4c6d-93c8-733f2fadbc609fb6f57c_win32-b1e91d96f19e</Template>
  <TotalTime>1137</TotalTime>
  <Words>967</Words>
  <Application>Microsoft Office PowerPoint</Application>
  <PresentationFormat>Widescreen</PresentationFormat>
  <Paragraphs>214</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Bookman Old Style</vt:lpstr>
      <vt:lpstr>Calibri</vt:lpstr>
      <vt:lpstr>Courier New</vt:lpstr>
      <vt:lpstr>Georgia Pro Cond Light</vt:lpstr>
      <vt:lpstr>Speak Pro</vt:lpstr>
      <vt:lpstr>Wingdings</vt:lpstr>
      <vt:lpstr>RetrospectVTI</vt:lpstr>
      <vt:lpstr>Comprehensive Audit and Analysis for Effective Digital Presence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Jayendran SUBRAMANIAN</dc:creator>
  <cp:lastModifiedBy>Jayendran SUBRAMANIAN</cp:lastModifiedBy>
  <cp:revision>6</cp:revision>
  <dcterms:created xsi:type="dcterms:W3CDTF">2026-07-17T11:01:09Z</dcterms:created>
  <dcterms:modified xsi:type="dcterms:W3CDTF">2026-07-19T12:15:59Z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