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6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DCDC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SEO%20Navigator_ppt.pptx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5" y="639098"/>
            <a:ext cx="6269346" cy="110005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/>
              <a:t>SEO Navigator: From Audit to Action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3594" y="4753932"/>
            <a:ext cx="2152651" cy="466720"/>
          </a:xfrm>
        </p:spPr>
        <p:txBody>
          <a:bodyPr>
            <a:normAutofit fontScale="775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10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By</a:t>
            </a:r>
          </a:p>
          <a:p>
            <a:pPr algn="ctr">
              <a:lnSpc>
                <a:spcPct val="100000"/>
              </a:lnSpc>
            </a:pPr>
            <a:r>
              <a:rPr lang="en-US" sz="10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T. Kavitha Jayendran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507D4D9-C3E7-2401-6E6D-EE8C93D833D5}"/>
              </a:ext>
            </a:extLst>
          </p:cNvPr>
          <p:cNvSpPr txBox="1"/>
          <p:nvPr/>
        </p:nvSpPr>
        <p:spPr>
          <a:xfrm>
            <a:off x="6329363" y="2565040"/>
            <a:ext cx="4168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+mj-lt"/>
              </a:rPr>
              <a:t>Zoho Corporation Pvt. Ltd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CB39AD-3682-4D67-FCC4-4627B0B968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641" y="3108185"/>
            <a:ext cx="731521" cy="3145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42F914-C1FF-0AD1-3F5E-D17926008D38}"/>
              </a:ext>
            </a:extLst>
          </p:cNvPr>
          <p:cNvSpPr txBox="1"/>
          <p:nvPr/>
        </p:nvSpPr>
        <p:spPr>
          <a:xfrm>
            <a:off x="9897875" y="6430878"/>
            <a:ext cx="21526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chemeClr val="accent1">
                    <a:lumMod val="50000"/>
                  </a:schemeClr>
                </a:solidFill>
              </a:rPr>
              <a:t>GUVI CAPSTONE PROJECT 2026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33600" y="758825"/>
            <a:ext cx="5143500" cy="1765300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358A6C-49F5-945E-4A4E-F897F89B9D79}"/>
              </a:ext>
            </a:extLst>
          </p:cNvPr>
          <p:cNvSpPr txBox="1"/>
          <p:nvPr/>
        </p:nvSpPr>
        <p:spPr>
          <a:xfrm>
            <a:off x="2800350" y="20918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Project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8663BB-8B57-B633-FE98-4E9361176FF5}"/>
              </a:ext>
            </a:extLst>
          </p:cNvPr>
          <p:cNvSpPr txBox="1"/>
          <p:nvPr/>
        </p:nvSpPr>
        <p:spPr>
          <a:xfrm>
            <a:off x="415738" y="1269092"/>
            <a:ext cx="6762750" cy="3331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Georgia" panose="02040502050405020303" pitchFamily="18" charset="0"/>
              </a:rPr>
              <a:t>Project Objective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Conduct a comprehensive SEO audit of Zoho's website. 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Evaluate Technical, On-Page and Off-Page SEO. 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Perform Keyword Research and Competitor Analysis. 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Develop Content Strategy. 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Recommend SEO improvements.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1788C1-E98D-1FCB-754F-A6A7CF6900B7}"/>
              </a:ext>
            </a:extLst>
          </p:cNvPr>
          <p:cNvSpPr txBox="1"/>
          <p:nvPr/>
        </p:nvSpPr>
        <p:spPr>
          <a:xfrm>
            <a:off x="8143316" y="1269092"/>
            <a:ext cx="3632946" cy="3885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Scope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Website Audit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SEO Analysis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Keyword Research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Competitor Analysis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Content Strategy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SEO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8C95A-590A-368C-D9AC-E4CC220F5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DF3165-FBEB-3942-BA26-2DCFF4DF0956}"/>
              </a:ext>
            </a:extLst>
          </p:cNvPr>
          <p:cNvSpPr txBox="1"/>
          <p:nvPr/>
        </p:nvSpPr>
        <p:spPr>
          <a:xfrm>
            <a:off x="2456329" y="6329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Company Profile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238DE7-DA7E-1B28-4619-A646EF28E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490669"/>
              </p:ext>
            </p:extLst>
          </p:nvPr>
        </p:nvGraphicFramePr>
        <p:xfrm>
          <a:off x="206188" y="873751"/>
          <a:ext cx="4285130" cy="315597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142565">
                  <a:extLst>
                    <a:ext uri="{9D8B030D-6E8A-4147-A177-3AD203B41FA5}">
                      <a16:colId xmlns:a16="http://schemas.microsoft.com/office/drawing/2014/main" val="2918037198"/>
                    </a:ext>
                  </a:extLst>
                </a:gridCol>
                <a:gridCol w="2142565">
                  <a:extLst>
                    <a:ext uri="{9D8B030D-6E8A-4147-A177-3AD203B41FA5}">
                      <a16:colId xmlns:a16="http://schemas.microsoft.com/office/drawing/2014/main" val="690750317"/>
                    </a:ext>
                  </a:extLst>
                </a:gridCol>
              </a:tblGrid>
              <a:tr h="416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Georgia" panose="02040502050405020303" pitchFamily="18" charset="0"/>
                        </a:rPr>
                        <a:t>Item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Georgia" panose="02040502050405020303" pitchFamily="18" charset="0"/>
                        </a:rPr>
                        <a:t>Details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250020"/>
                  </a:ext>
                </a:extLst>
              </a:tr>
              <a:tr h="658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Company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Zoho Corporation Pvt. Ltd.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848249"/>
                  </a:ext>
                </a:extLst>
              </a:tr>
              <a:tr h="381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Industry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SaaS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3141381"/>
                  </a:ext>
                </a:extLst>
              </a:tr>
              <a:tr h="381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Founded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1996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9438473"/>
                  </a:ext>
                </a:extLst>
              </a:tr>
              <a:tr h="381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Headquarters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Chennai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9755878"/>
                  </a:ext>
                </a:extLst>
              </a:tr>
              <a:tr h="936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CRM, Books, Mail, Projects, People, Desk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42521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D2A337-45CB-B43B-27E6-B173E8484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280" y="3231469"/>
            <a:ext cx="5504329" cy="2999002"/>
          </a:xfrm>
          <a:prstGeom prst="rect">
            <a:avLst/>
          </a:prstGeom>
        </p:spPr>
      </p:pic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AC95E647-C392-B4AD-D18C-AF12644F4ABB}"/>
              </a:ext>
            </a:extLst>
          </p:cNvPr>
          <p:cNvSpPr/>
          <p:nvPr/>
        </p:nvSpPr>
        <p:spPr>
          <a:xfrm>
            <a:off x="7087813" y="873751"/>
            <a:ext cx="3893951" cy="2026237"/>
          </a:xfrm>
          <a:prstGeom prst="wedgeRoundRectCallout">
            <a:avLst/>
          </a:prstGeom>
          <a:solidFill>
            <a:srgbClr val="DCDC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02060"/>
                </a:solidFill>
                <a:latin typeface="Georgia" panose="02040502050405020303" pitchFamily="18" charset="0"/>
              </a:rPr>
              <a:t>Why Zoho?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Global SaaS leader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Strong SEO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Excellent website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User-friendly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15A676-1A79-64B9-9AF5-785E89A35556}"/>
              </a:ext>
            </a:extLst>
          </p:cNvPr>
          <p:cNvSpPr txBox="1"/>
          <p:nvPr/>
        </p:nvSpPr>
        <p:spPr>
          <a:xfrm>
            <a:off x="206188" y="4070741"/>
            <a:ext cx="3209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latin typeface="Georgia" panose="02040502050405020303" pitchFamily="18" charset="0"/>
              </a:rPr>
              <a:t>Website:</a:t>
            </a:r>
            <a:r>
              <a:rPr lang="en-IN" sz="1400" dirty="0">
                <a:latin typeface="Georgia" panose="02040502050405020303" pitchFamily="18" charset="0"/>
              </a:rPr>
              <a:t> </a:t>
            </a:r>
            <a:r>
              <a:rPr lang="en-IN" sz="1400" dirty="0">
                <a:latin typeface="Georgia" panose="02040502050405020303" pitchFamily="18" charset="0"/>
                <a:hlinkClick r:id="rId3" action="ppaction://hlinkpres?slideindex=1&amp;slidetitle="/>
              </a:rPr>
              <a:t>www.zoho.com </a:t>
            </a:r>
            <a:endParaRPr lang="en-IN" sz="1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345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804FAA-9D18-5D12-98D7-2BA0F1119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0D5B0-140A-6BF3-9797-A0BA93AB8C4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33600" y="758825"/>
            <a:ext cx="5143500" cy="1765300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55E4C0-7DBB-E371-6E9C-CA66724FB5C9}"/>
              </a:ext>
            </a:extLst>
          </p:cNvPr>
          <p:cNvSpPr txBox="1"/>
          <p:nvPr/>
        </p:nvSpPr>
        <p:spPr>
          <a:xfrm>
            <a:off x="2922494" y="25908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Initial SEO Audit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D1611D-AC18-6158-872B-0D3E4608F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912814"/>
              </p:ext>
            </p:extLst>
          </p:nvPr>
        </p:nvGraphicFramePr>
        <p:xfrm>
          <a:off x="828022" y="1343600"/>
          <a:ext cx="4649412" cy="351749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549804">
                  <a:extLst>
                    <a:ext uri="{9D8B030D-6E8A-4147-A177-3AD203B41FA5}">
                      <a16:colId xmlns:a16="http://schemas.microsoft.com/office/drawing/2014/main" val="1951399763"/>
                    </a:ext>
                  </a:extLst>
                </a:gridCol>
                <a:gridCol w="1549804">
                  <a:extLst>
                    <a:ext uri="{9D8B030D-6E8A-4147-A177-3AD203B41FA5}">
                      <a16:colId xmlns:a16="http://schemas.microsoft.com/office/drawing/2014/main" val="3137902704"/>
                    </a:ext>
                  </a:extLst>
                </a:gridCol>
                <a:gridCol w="1549804">
                  <a:extLst>
                    <a:ext uri="{9D8B030D-6E8A-4147-A177-3AD203B41FA5}">
                      <a16:colId xmlns:a16="http://schemas.microsoft.com/office/drawing/2014/main" val="2310938396"/>
                    </a:ext>
                  </a:extLst>
                </a:gridCol>
              </a:tblGrid>
              <a:tr h="6999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</a:rPr>
                        <a:t>Metric</a:t>
                      </a:r>
                      <a:endParaRPr lang="en-IN" b="1" dirty="0">
                        <a:solidFill>
                          <a:srgbClr val="002060"/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002060"/>
                          </a:solidFill>
                        </a:rPr>
                        <a:t>Mobile</a:t>
                      </a:r>
                      <a:endParaRPr lang="en-IN" b="1">
                        <a:solidFill>
                          <a:srgbClr val="002060"/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</a:rPr>
                        <a:t>Desktop</a:t>
                      </a:r>
                      <a:endParaRPr lang="en-IN" b="1" dirty="0">
                        <a:solidFill>
                          <a:srgbClr val="002060"/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556515"/>
                  </a:ext>
                </a:extLst>
              </a:tr>
              <a:tr h="6999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Performance</a:t>
                      </a:r>
                      <a:endParaRPr lang="en-IN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71</a:t>
                      </a:r>
                      <a:endParaRPr lang="en-IN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66</a:t>
                      </a:r>
                      <a:endParaRPr lang="en-IN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4193463"/>
                  </a:ext>
                </a:extLst>
              </a:tr>
              <a:tr h="6999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Accessibility</a:t>
                      </a:r>
                      <a:endParaRPr lang="en-IN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96</a:t>
                      </a:r>
                      <a:endParaRPr lang="en-IN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100</a:t>
                      </a:r>
                      <a:endParaRPr lang="en-IN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350532"/>
                  </a:ext>
                </a:extLst>
              </a:tr>
              <a:tr h="717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Best Practices</a:t>
                      </a:r>
                      <a:endParaRPr lang="en-IN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73</a:t>
                      </a:r>
                      <a:endParaRPr lang="en-IN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73</a:t>
                      </a:r>
                      <a:endParaRPr lang="en-IN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582375"/>
                  </a:ext>
                </a:extLst>
              </a:tr>
              <a:tr h="6999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SEO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92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92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611984"/>
                  </a:ext>
                </a:extLst>
              </a:tr>
            </a:tbl>
          </a:graphicData>
        </a:graphic>
      </p:graphicFrame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EA775EF6-22B2-A584-846D-B7D095166EE2}"/>
              </a:ext>
            </a:extLst>
          </p:cNvPr>
          <p:cNvSpPr/>
          <p:nvPr/>
        </p:nvSpPr>
        <p:spPr>
          <a:xfrm>
            <a:off x="6714568" y="1155341"/>
            <a:ext cx="4769220" cy="4277271"/>
          </a:xfrm>
          <a:prstGeom prst="verticalScroll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002060"/>
                </a:solidFill>
                <a:latin typeface="Georgia" panose="02040502050405020303" pitchFamily="18" charset="0"/>
              </a:rPr>
              <a:t>  Key Findings</a:t>
            </a:r>
          </a:p>
          <a:p>
            <a:pPr marL="742950" lvl="1" indent="-28575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Excellent Accessibility </a:t>
            </a:r>
          </a:p>
          <a:p>
            <a:pPr marL="742950" lvl="1" indent="-28575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Strong SEO </a:t>
            </a:r>
          </a:p>
          <a:p>
            <a:pPr marL="742950" lvl="1" indent="-28575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Responsive Design </a:t>
            </a:r>
          </a:p>
          <a:p>
            <a:pPr marL="742950" lvl="1" indent="-28575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Desktop Core Web Vitals Passed </a:t>
            </a:r>
          </a:p>
          <a:p>
            <a:pPr marL="742950" lvl="1" indent="-28575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Mobile Performance can improve</a:t>
            </a:r>
          </a:p>
        </p:txBody>
      </p:sp>
    </p:spTree>
    <p:extLst>
      <p:ext uri="{BB962C8B-B14F-4D97-AF65-F5344CB8AC3E}">
        <p14:creationId xmlns:p14="http://schemas.microsoft.com/office/powerpoint/2010/main" val="3269587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518BBD-8084-E563-4201-03C2389D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CB60A-1BBA-E22E-98C0-D8DAE6FB608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33600" y="758825"/>
            <a:ext cx="5143500" cy="1765300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700384-5490-DA75-517D-D3F3D09153B3}"/>
              </a:ext>
            </a:extLst>
          </p:cNvPr>
          <p:cNvSpPr txBox="1"/>
          <p:nvPr/>
        </p:nvSpPr>
        <p:spPr>
          <a:xfrm>
            <a:off x="3048000" y="16944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Technical SEO Analysis</a:t>
            </a: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6252D7C5-8E2E-BF60-44FB-68C8AAC9F2A1}"/>
              </a:ext>
            </a:extLst>
          </p:cNvPr>
          <p:cNvSpPr/>
          <p:nvPr/>
        </p:nvSpPr>
        <p:spPr>
          <a:xfrm>
            <a:off x="438149" y="1362635"/>
            <a:ext cx="2967318" cy="3801036"/>
          </a:xfrm>
          <a:prstGeom prst="foldedCorner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IN" b="1" dirty="0">
                <a:solidFill>
                  <a:srgbClr val="002060"/>
                </a:solidFill>
                <a:latin typeface="Georgia" panose="02040502050405020303" pitchFamily="18" charset="0"/>
              </a:rPr>
              <a:t>Strengths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🔒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 HTTPS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🗺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 XML Sitemap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🤖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 Robots.txt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📱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 Mobile Friendly</a:t>
            </a:r>
          </a:p>
          <a:p>
            <a:pPr lvl="1">
              <a:lnSpc>
                <a:spcPct val="200000"/>
              </a:lnSpc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✅ Crawlability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34BC33D1-5F4D-9FDC-D9EA-9CC52ECAC738}"/>
              </a:ext>
            </a:extLst>
          </p:cNvPr>
          <p:cNvSpPr/>
          <p:nvPr/>
        </p:nvSpPr>
        <p:spPr>
          <a:xfrm>
            <a:off x="3858184" y="1362635"/>
            <a:ext cx="3116357" cy="3801036"/>
          </a:xfrm>
          <a:prstGeom prst="foldedCorner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IN" b="1" dirty="0">
                <a:solidFill>
                  <a:srgbClr val="002060"/>
                </a:solidFill>
                <a:latin typeface="Georgia" panose="02040502050405020303" pitchFamily="18" charset="0"/>
              </a:rPr>
              <a:t>Issues</a:t>
            </a:r>
          </a:p>
          <a:p>
            <a:pPr lvl="1">
              <a:lnSpc>
                <a:spcPct val="200000"/>
              </a:lnSpc>
            </a:pPr>
            <a:r>
              <a:rPr lang="en-IN" dirty="0">
                <a:latin typeface="Georgia" panose="02040502050405020303" pitchFamily="18" charset="0"/>
              </a:rPr>
              <a:t>⚠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 Large Images</a:t>
            </a:r>
          </a:p>
          <a:p>
            <a:pPr lvl="1">
              <a:lnSpc>
                <a:spcPct val="200000"/>
              </a:lnSpc>
            </a:pPr>
            <a:r>
              <a:rPr lang="en-IN" dirty="0">
                <a:latin typeface="Georgia" panose="02040502050405020303" pitchFamily="18" charset="0"/>
              </a:rPr>
              <a:t>⚠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 Heavy JavaScript</a:t>
            </a:r>
          </a:p>
          <a:p>
            <a:pPr lvl="1">
              <a:lnSpc>
                <a:spcPct val="200000"/>
              </a:lnSpc>
            </a:pPr>
            <a:r>
              <a:rPr lang="en-IN" dirty="0">
                <a:latin typeface="Georgia" panose="02040502050405020303" pitchFamily="18" charset="0"/>
              </a:rPr>
              <a:t>⚠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 Render Blocking Resources</a:t>
            </a:r>
          </a:p>
          <a:p>
            <a:pPr lvl="1">
              <a:lnSpc>
                <a:spcPct val="200000"/>
              </a:lnSpc>
            </a:pPr>
            <a:r>
              <a:rPr lang="en-IN" dirty="0">
                <a:latin typeface="Georgia" panose="02040502050405020303" pitchFamily="18" charset="0"/>
              </a:rPr>
              <a:t>⚠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 Mobile Performance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CFA8703-258C-713B-87C6-E7CC72711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24549"/>
              </p:ext>
            </p:extLst>
          </p:nvPr>
        </p:nvGraphicFramePr>
        <p:xfrm>
          <a:off x="7277100" y="1339525"/>
          <a:ext cx="4690782" cy="380103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345391">
                  <a:extLst>
                    <a:ext uri="{9D8B030D-6E8A-4147-A177-3AD203B41FA5}">
                      <a16:colId xmlns:a16="http://schemas.microsoft.com/office/drawing/2014/main" val="137241042"/>
                    </a:ext>
                  </a:extLst>
                </a:gridCol>
                <a:gridCol w="2345391">
                  <a:extLst>
                    <a:ext uri="{9D8B030D-6E8A-4147-A177-3AD203B41FA5}">
                      <a16:colId xmlns:a16="http://schemas.microsoft.com/office/drawing/2014/main" val="641536599"/>
                    </a:ext>
                  </a:extLst>
                </a:gridCol>
              </a:tblGrid>
              <a:tr h="760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Metric</a:t>
                      </a:r>
                      <a:endParaRPr lang="en-IN" b="1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Score</a:t>
                      </a:r>
                      <a:endParaRPr lang="en-IN" b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040912"/>
                  </a:ext>
                </a:extLst>
              </a:tr>
              <a:tr h="760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Performance</a:t>
                      </a:r>
                      <a:endParaRPr lang="en-IN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66</a:t>
                      </a:r>
                      <a:endParaRPr lang="en-IN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940490"/>
                  </a:ext>
                </a:extLst>
              </a:tr>
              <a:tr h="760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Accessibility</a:t>
                      </a:r>
                      <a:endParaRPr lang="en-IN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100</a:t>
                      </a:r>
                      <a:endParaRPr lang="en-IN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52901"/>
                  </a:ext>
                </a:extLst>
              </a:tr>
              <a:tr h="760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Best Practices</a:t>
                      </a:r>
                      <a:endParaRPr lang="en-IN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73</a:t>
                      </a:r>
                      <a:endParaRPr lang="en-IN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02849"/>
                  </a:ext>
                </a:extLst>
              </a:tr>
              <a:tr h="760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SEO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92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012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672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4785A-F7C4-7BA8-FE08-D81DC148B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19084-791F-6D25-1E45-F9BEB3D8D5B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33600" y="758825"/>
            <a:ext cx="5143500" cy="1765300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45241-F96A-A386-9841-DB795B86419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066800" y="2452688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EA5DA-862D-C014-7145-64860F507873}"/>
              </a:ext>
            </a:extLst>
          </p:cNvPr>
          <p:cNvSpPr txBox="1"/>
          <p:nvPr/>
        </p:nvSpPr>
        <p:spPr>
          <a:xfrm>
            <a:off x="2671482" y="25012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On-Page &amp; Off-Page SEO</a:t>
            </a:r>
          </a:p>
        </p:txBody>
      </p:sp>
      <p:sp>
        <p:nvSpPr>
          <p:cNvPr id="7" name="Flowchart: Multidocument 6">
            <a:extLst>
              <a:ext uri="{FF2B5EF4-FFF2-40B4-BE49-F238E27FC236}">
                <a16:creationId xmlns:a16="http://schemas.microsoft.com/office/drawing/2014/main" id="{FB050A19-54E3-297D-B7E0-13DABF1D98F1}"/>
              </a:ext>
            </a:extLst>
          </p:cNvPr>
          <p:cNvSpPr/>
          <p:nvPr/>
        </p:nvSpPr>
        <p:spPr>
          <a:xfrm>
            <a:off x="885265" y="1204446"/>
            <a:ext cx="4466664" cy="4894729"/>
          </a:xfrm>
          <a:prstGeom prst="flowChartMultidocumen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On-Page SEO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Optimized Titles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Meta Description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Heading Structure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Internal Linking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SEO Friendly URLs</a:t>
            </a:r>
          </a:p>
        </p:txBody>
      </p:sp>
      <p:sp>
        <p:nvSpPr>
          <p:cNvPr id="8" name="Flowchart: Multidocument 7">
            <a:extLst>
              <a:ext uri="{FF2B5EF4-FFF2-40B4-BE49-F238E27FC236}">
                <a16:creationId xmlns:a16="http://schemas.microsoft.com/office/drawing/2014/main" id="{429E407D-8568-6F8A-B591-6FA09CEEC736}"/>
              </a:ext>
            </a:extLst>
          </p:cNvPr>
          <p:cNvSpPr/>
          <p:nvPr/>
        </p:nvSpPr>
        <p:spPr>
          <a:xfrm>
            <a:off x="7277100" y="1204446"/>
            <a:ext cx="4242547" cy="4894729"/>
          </a:xfrm>
          <a:prstGeom prst="flowChartMultidocumen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Off-Page SEO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Strong Domain Authority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Quality Backlinks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Active Social Media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Excellent Brand Reputation</a:t>
            </a:r>
          </a:p>
        </p:txBody>
      </p:sp>
    </p:spTree>
    <p:extLst>
      <p:ext uri="{BB962C8B-B14F-4D97-AF65-F5344CB8AC3E}">
        <p14:creationId xmlns:p14="http://schemas.microsoft.com/office/powerpoint/2010/main" val="3058355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19861-85E9-0EFA-F88E-BB1FDAF2A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240D4-1E84-0AC8-A83A-41C9E4A7022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33600" y="758825"/>
            <a:ext cx="5143500" cy="1765300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985F2-69B9-0B1D-F961-C42070BC350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066800" y="2452688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B2728-5686-BB68-0357-8D109C859C80}"/>
              </a:ext>
            </a:extLst>
          </p:cNvPr>
          <p:cNvSpPr txBox="1"/>
          <p:nvPr/>
        </p:nvSpPr>
        <p:spPr>
          <a:xfrm>
            <a:off x="3048000" y="25012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SWOT Analysis</a:t>
            </a:r>
          </a:p>
        </p:txBody>
      </p:sp>
      <p:sp>
        <p:nvSpPr>
          <p:cNvPr id="9" name="Flowchart: Sequential Access Storage 8">
            <a:extLst>
              <a:ext uri="{FF2B5EF4-FFF2-40B4-BE49-F238E27FC236}">
                <a16:creationId xmlns:a16="http://schemas.microsoft.com/office/drawing/2014/main" id="{A4CC53C2-4990-F1EE-8B36-516993D247D5}"/>
              </a:ext>
            </a:extLst>
          </p:cNvPr>
          <p:cNvSpPr/>
          <p:nvPr/>
        </p:nvSpPr>
        <p:spPr>
          <a:xfrm>
            <a:off x="168084" y="1509993"/>
            <a:ext cx="2669240" cy="2823883"/>
          </a:xfrm>
          <a:prstGeom prst="flowChartMagneticTap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2060"/>
                </a:solidFill>
                <a:latin typeface="Georgia" panose="02040502050405020303" pitchFamily="18" charset="0"/>
              </a:rPr>
              <a:t>STRENGTHS</a:t>
            </a:r>
            <a:endParaRPr lang="en-US" sz="1600" dirty="0">
              <a:solidFill>
                <a:srgbClr val="002060"/>
              </a:solidFill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Strong SEO </a:t>
            </a:r>
          </a:p>
          <a:p>
            <a:pPr marL="285750" indent="-285750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Accessibility </a:t>
            </a:r>
          </a:p>
          <a:p>
            <a:pPr marL="285750" indent="-285750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HTTPS </a:t>
            </a:r>
          </a:p>
          <a:p>
            <a:pPr marL="285750" indent="-285750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Responsive Design</a:t>
            </a:r>
          </a:p>
        </p:txBody>
      </p:sp>
      <p:sp>
        <p:nvSpPr>
          <p:cNvPr id="10" name="Flowchart: Sequential Access Storage 9">
            <a:extLst>
              <a:ext uri="{FF2B5EF4-FFF2-40B4-BE49-F238E27FC236}">
                <a16:creationId xmlns:a16="http://schemas.microsoft.com/office/drawing/2014/main" id="{64067455-BAAB-ABCC-A878-6E705D1EBF74}"/>
              </a:ext>
            </a:extLst>
          </p:cNvPr>
          <p:cNvSpPr/>
          <p:nvPr/>
        </p:nvSpPr>
        <p:spPr>
          <a:xfrm>
            <a:off x="3190595" y="1509993"/>
            <a:ext cx="2740958" cy="2908488"/>
          </a:xfrm>
          <a:prstGeom prst="flowChartMagneticTap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WEAKNESSES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Mobile Speed </a:t>
            </a:r>
          </a:p>
          <a:p>
            <a:pPr marL="285750" indent="-285750">
              <a:lnSpc>
                <a:spcPct val="150000"/>
              </a:lnSpc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Heavy JS </a:t>
            </a:r>
          </a:p>
          <a:p>
            <a:pPr marL="285750" indent="-285750">
              <a:lnSpc>
                <a:spcPct val="150000"/>
              </a:lnSpc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Large Images</a:t>
            </a:r>
          </a:p>
        </p:txBody>
      </p:sp>
      <p:sp>
        <p:nvSpPr>
          <p:cNvPr id="11" name="Flowchart: Sequential Access Storage 10">
            <a:extLst>
              <a:ext uri="{FF2B5EF4-FFF2-40B4-BE49-F238E27FC236}">
                <a16:creationId xmlns:a16="http://schemas.microsoft.com/office/drawing/2014/main" id="{C84E7A64-76D0-E6CB-4061-800F2264FBBB}"/>
              </a:ext>
            </a:extLst>
          </p:cNvPr>
          <p:cNvSpPr/>
          <p:nvPr/>
        </p:nvSpPr>
        <p:spPr>
          <a:xfrm>
            <a:off x="6284824" y="1425388"/>
            <a:ext cx="2740958" cy="2950790"/>
          </a:xfrm>
          <a:prstGeom prst="flowChartMagneticTap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002060"/>
                </a:solidFill>
                <a:latin typeface="Georgia" panose="02040502050405020303" pitchFamily="18" charset="0"/>
              </a:rPr>
              <a:t>OPPORTUNITIES</a:t>
            </a:r>
            <a:endParaRPr lang="en-IN" sz="1500" dirty="0">
              <a:solidFill>
                <a:srgbClr val="002060"/>
              </a:solidFill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AI Content </a:t>
            </a:r>
          </a:p>
          <a:p>
            <a:pPr marL="285750" indent="-285750">
              <a:lnSpc>
                <a:spcPct val="1500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Long-tail Keywords </a:t>
            </a:r>
          </a:p>
          <a:p>
            <a:pPr marL="285750" indent="-285750">
              <a:lnSpc>
                <a:spcPct val="1500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Core Web Vitals</a:t>
            </a:r>
          </a:p>
        </p:txBody>
      </p:sp>
      <p:sp>
        <p:nvSpPr>
          <p:cNvPr id="12" name="Flowchart: Sequential Access Storage 11">
            <a:extLst>
              <a:ext uri="{FF2B5EF4-FFF2-40B4-BE49-F238E27FC236}">
                <a16:creationId xmlns:a16="http://schemas.microsoft.com/office/drawing/2014/main" id="{08A694B7-DD89-3983-D8B5-FFD9F3B52AEF}"/>
              </a:ext>
            </a:extLst>
          </p:cNvPr>
          <p:cNvSpPr/>
          <p:nvPr/>
        </p:nvSpPr>
        <p:spPr>
          <a:xfrm>
            <a:off x="9242616" y="1425388"/>
            <a:ext cx="2740958" cy="2908488"/>
          </a:xfrm>
          <a:prstGeom prst="flowChartMagneticTap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THREATS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Salesforce </a:t>
            </a:r>
          </a:p>
          <a:p>
            <a:pPr marL="285750" indent="-285750">
              <a:lnSpc>
                <a:spcPct val="150000"/>
              </a:lnSpc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HubSpot </a:t>
            </a:r>
          </a:p>
          <a:p>
            <a:pPr marL="285750" indent="-285750">
              <a:lnSpc>
                <a:spcPct val="150000"/>
              </a:lnSpc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</a:pPr>
            <a:r>
              <a:rPr lang="en-US" sz="15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Google Updates</a:t>
            </a:r>
          </a:p>
        </p:txBody>
      </p:sp>
    </p:spTree>
    <p:extLst>
      <p:ext uri="{BB962C8B-B14F-4D97-AF65-F5344CB8AC3E}">
        <p14:creationId xmlns:p14="http://schemas.microsoft.com/office/powerpoint/2010/main" val="141589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B7DF8-89E7-877A-7C43-D97111B2C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7E1EE1-503E-2506-C99B-6610954785F8}"/>
              </a:ext>
            </a:extLst>
          </p:cNvPr>
          <p:cNvSpPr txBox="1"/>
          <p:nvPr/>
        </p:nvSpPr>
        <p:spPr>
          <a:xfrm>
            <a:off x="3048000" y="26805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Keyword Research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ACAC7C-7AFE-30CC-33DB-361A86E43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69402"/>
              </p:ext>
            </p:extLst>
          </p:nvPr>
        </p:nvGraphicFramePr>
        <p:xfrm>
          <a:off x="7175034" y="3371394"/>
          <a:ext cx="4344614" cy="233690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72307">
                  <a:extLst>
                    <a:ext uri="{9D8B030D-6E8A-4147-A177-3AD203B41FA5}">
                      <a16:colId xmlns:a16="http://schemas.microsoft.com/office/drawing/2014/main" val="4192057911"/>
                    </a:ext>
                  </a:extLst>
                </a:gridCol>
                <a:gridCol w="2172307">
                  <a:extLst>
                    <a:ext uri="{9D8B030D-6E8A-4147-A177-3AD203B41FA5}">
                      <a16:colId xmlns:a16="http://schemas.microsoft.com/office/drawing/2014/main" val="2130265306"/>
                    </a:ext>
                  </a:extLst>
                </a:gridCol>
              </a:tblGrid>
              <a:tr h="5842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002060"/>
                          </a:solidFill>
                        </a:rPr>
                        <a:t>Intent</a:t>
                      </a:r>
                      <a:endParaRPr lang="en-IN" b="1">
                        <a:solidFill>
                          <a:srgbClr val="002060"/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</a:rPr>
                        <a:t>Count</a:t>
                      </a:r>
                      <a:endParaRPr lang="en-IN" b="1" dirty="0">
                        <a:solidFill>
                          <a:srgbClr val="002060"/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60946"/>
                  </a:ext>
                </a:extLst>
              </a:tr>
              <a:tr h="5842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Informational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7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205250"/>
                  </a:ext>
                </a:extLst>
              </a:tr>
              <a:tr h="5842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Navigational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IN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5563235"/>
                  </a:ext>
                </a:extLst>
              </a:tr>
              <a:tr h="5842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Transactional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11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0629226"/>
                  </a:ext>
                </a:extLst>
              </a:tr>
            </a:tbl>
          </a:graphicData>
        </a:graphic>
      </p:graphicFrame>
      <p:sp>
        <p:nvSpPr>
          <p:cNvPr id="7" name="Ribbon: Tilted Up 6">
            <a:extLst>
              <a:ext uri="{FF2B5EF4-FFF2-40B4-BE49-F238E27FC236}">
                <a16:creationId xmlns:a16="http://schemas.microsoft.com/office/drawing/2014/main" id="{A4527195-AFD7-6CA0-1504-E913706D2E34}"/>
              </a:ext>
            </a:extLst>
          </p:cNvPr>
          <p:cNvSpPr/>
          <p:nvPr/>
        </p:nvSpPr>
        <p:spPr>
          <a:xfrm>
            <a:off x="4388223" y="1138032"/>
            <a:ext cx="2891117" cy="1690997"/>
          </a:xfrm>
          <a:prstGeom prst="ribbon2">
            <a:avLst>
              <a:gd name="adj1" fmla="val 25149"/>
              <a:gd name="adj2" fmla="val 6984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2060"/>
                </a:solidFill>
                <a:latin typeface="Georgia" panose="02040502050405020303" pitchFamily="18" charset="0"/>
              </a:rPr>
              <a:t>Products</a:t>
            </a:r>
          </a:p>
          <a:p>
            <a:pPr marL="742950" lvl="1" indent="-285750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Zoho CRM </a:t>
            </a:r>
          </a:p>
          <a:p>
            <a:pPr marL="742950" lvl="1" indent="-285750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Zoho Books</a:t>
            </a: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95144822-784C-8A6E-237A-2C0E20271BDF}"/>
              </a:ext>
            </a:extLst>
          </p:cNvPr>
          <p:cNvSpPr/>
          <p:nvPr/>
        </p:nvSpPr>
        <p:spPr>
          <a:xfrm>
            <a:off x="293593" y="3828415"/>
            <a:ext cx="5540188" cy="1891553"/>
          </a:xfrm>
          <a:prstGeom prst="flowChartTerminator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Key Observation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Balanced keyword strategy covering all stages of the customer journey.</a:t>
            </a:r>
          </a:p>
        </p:txBody>
      </p:sp>
    </p:spTree>
    <p:extLst>
      <p:ext uri="{BB962C8B-B14F-4D97-AF65-F5344CB8AC3E}">
        <p14:creationId xmlns:p14="http://schemas.microsoft.com/office/powerpoint/2010/main" val="161708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70BEF6-75B9-031E-FC53-288DD4B7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EAF9B2-850C-8228-85D0-DFF0F555DC49}"/>
              </a:ext>
            </a:extLst>
          </p:cNvPr>
          <p:cNvSpPr txBox="1"/>
          <p:nvPr/>
        </p:nvSpPr>
        <p:spPr>
          <a:xfrm>
            <a:off x="2922495" y="17074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Competitor Analysis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EC45AA-C65B-0C21-4F1C-993105ED5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637137"/>
              </p:ext>
            </p:extLst>
          </p:nvPr>
        </p:nvGraphicFramePr>
        <p:xfrm>
          <a:off x="672352" y="1201270"/>
          <a:ext cx="6167716" cy="380999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41929">
                  <a:extLst>
                    <a:ext uri="{9D8B030D-6E8A-4147-A177-3AD203B41FA5}">
                      <a16:colId xmlns:a16="http://schemas.microsoft.com/office/drawing/2014/main" val="3904187473"/>
                    </a:ext>
                  </a:extLst>
                </a:gridCol>
                <a:gridCol w="1541929">
                  <a:extLst>
                    <a:ext uri="{9D8B030D-6E8A-4147-A177-3AD203B41FA5}">
                      <a16:colId xmlns:a16="http://schemas.microsoft.com/office/drawing/2014/main" val="3049949356"/>
                    </a:ext>
                  </a:extLst>
                </a:gridCol>
                <a:gridCol w="1541929">
                  <a:extLst>
                    <a:ext uri="{9D8B030D-6E8A-4147-A177-3AD203B41FA5}">
                      <a16:colId xmlns:a16="http://schemas.microsoft.com/office/drawing/2014/main" val="3701544456"/>
                    </a:ext>
                  </a:extLst>
                </a:gridCol>
                <a:gridCol w="1541929">
                  <a:extLst>
                    <a:ext uri="{9D8B030D-6E8A-4147-A177-3AD203B41FA5}">
                      <a16:colId xmlns:a16="http://schemas.microsoft.com/office/drawing/2014/main" val="3426234083"/>
                    </a:ext>
                  </a:extLst>
                </a:gridCol>
              </a:tblGrid>
              <a:tr h="9001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002060"/>
                          </a:solidFill>
                          <a:latin typeface="Georgia" panose="02040502050405020303" pitchFamily="18" charset="0"/>
                        </a:rPr>
                        <a:t>Zoho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Georgia" panose="02040502050405020303" pitchFamily="18" charset="0"/>
                        </a:rPr>
                        <a:t>Salesforce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002060"/>
                          </a:solidFill>
                          <a:latin typeface="Georgia" panose="02040502050405020303" pitchFamily="18" charset="0"/>
                        </a:rPr>
                        <a:t>HubSpot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dirty="0">
                          <a:solidFill>
                            <a:srgbClr val="002060"/>
                          </a:solidFill>
                          <a:latin typeface="Georgia" panose="02040502050405020303" pitchFamily="18" charset="0"/>
                        </a:rPr>
                        <a:t>QuickBooks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549383"/>
                  </a:ext>
                </a:extLst>
              </a:tr>
              <a:tr h="9001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SEO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Excellent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012840"/>
                  </a:ext>
                </a:extLst>
              </a:tr>
              <a:tr h="11096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Blog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Extensive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Extensive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Very Extensive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005340"/>
                  </a:ext>
                </a:extLst>
              </a:tr>
              <a:tr h="9001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Free Trial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Georgia" panose="02040502050405020303" pitchFamily="18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8176324"/>
                  </a:ext>
                </a:extLst>
              </a:tr>
            </a:tbl>
          </a:graphicData>
        </a:graphic>
      </p:graphicFrame>
      <p:sp>
        <p:nvSpPr>
          <p:cNvPr id="9" name="Double Wave 8">
            <a:extLst>
              <a:ext uri="{FF2B5EF4-FFF2-40B4-BE49-F238E27FC236}">
                <a16:creationId xmlns:a16="http://schemas.microsoft.com/office/drawing/2014/main" id="{B35B3723-8ABB-3DEB-E197-4485392A9559}"/>
              </a:ext>
            </a:extLst>
          </p:cNvPr>
          <p:cNvSpPr/>
          <p:nvPr/>
        </p:nvSpPr>
        <p:spPr>
          <a:xfrm>
            <a:off x="7368989" y="1201270"/>
            <a:ext cx="4536140" cy="3998259"/>
          </a:xfrm>
          <a:prstGeom prst="doubleWave">
            <a:avLst>
              <a:gd name="adj1" fmla="val 6250"/>
              <a:gd name="adj2" fmla="val -6588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  <a:buNone/>
            </a:pPr>
            <a:r>
              <a:rPr lang="en-IN" b="1">
                <a:solidFill>
                  <a:srgbClr val="002060"/>
                </a:solidFill>
                <a:latin typeface="Georgia" panose="02040502050405020303" pitchFamily="18" charset="0"/>
              </a:rPr>
              <a:t>Major Competitors</a:t>
            </a:r>
            <a:endParaRPr lang="en-IN" b="1" dirty="0">
              <a:solidFill>
                <a:srgbClr val="002060"/>
              </a:solidFill>
              <a:latin typeface="Georgia" panose="02040502050405020303" pitchFamily="18" charset="0"/>
            </a:endParaRPr>
          </a:p>
          <a:p>
            <a:pPr marL="742950" lvl="1" indent="-285750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Salesforce </a:t>
            </a:r>
          </a:p>
          <a:p>
            <a:pPr marL="742950" lvl="1" indent="-285750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HubSpot </a:t>
            </a:r>
          </a:p>
          <a:p>
            <a:pPr marL="742950" lvl="1" indent="-285750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Microsoft Dynamics 365 </a:t>
            </a:r>
          </a:p>
          <a:p>
            <a:pPr marL="742950" lvl="1" indent="-285750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QuickBooks </a:t>
            </a:r>
          </a:p>
          <a:p>
            <a:pPr marL="742950" lvl="1" indent="-285750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Xero </a:t>
            </a:r>
          </a:p>
          <a:p>
            <a:pPr marL="742950" lvl="1" indent="-285750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FreshBooks</a:t>
            </a:r>
          </a:p>
        </p:txBody>
      </p:sp>
    </p:spTree>
    <p:extLst>
      <p:ext uri="{BB962C8B-B14F-4D97-AF65-F5344CB8AC3E}">
        <p14:creationId xmlns:p14="http://schemas.microsoft.com/office/powerpoint/2010/main" val="3122651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10178F-DF39-2483-389D-8C7C0B3F3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C469E7-10B5-745B-B14F-1D07B4806B16}"/>
              </a:ext>
            </a:extLst>
          </p:cNvPr>
          <p:cNvSpPr txBox="1"/>
          <p:nvPr/>
        </p:nvSpPr>
        <p:spPr>
          <a:xfrm>
            <a:off x="2635624" y="17405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Content Strategy</a:t>
            </a:r>
          </a:p>
        </p:txBody>
      </p:sp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4D852D7A-F4C7-2224-170A-9D3A07BD11D9}"/>
              </a:ext>
            </a:extLst>
          </p:cNvPr>
          <p:cNvSpPr/>
          <p:nvPr/>
        </p:nvSpPr>
        <p:spPr>
          <a:xfrm>
            <a:off x="788894" y="995080"/>
            <a:ext cx="4966446" cy="4329954"/>
          </a:xfrm>
          <a:prstGeom prst="cloudCallout">
            <a:avLst>
              <a:gd name="adj1" fmla="val -50701"/>
              <a:gd name="adj2" fmla="val 62914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Content Plan</a:t>
            </a:r>
          </a:p>
          <a:p>
            <a:pPr marL="742950" lvl="1" indent="-28575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Weekly Blogs </a:t>
            </a:r>
          </a:p>
          <a:p>
            <a:pPr marL="742950" lvl="1" indent="-28575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Product Tutorials </a:t>
            </a:r>
          </a:p>
          <a:p>
            <a:pPr marL="742950" lvl="1" indent="-28575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Case Studies </a:t>
            </a:r>
          </a:p>
          <a:p>
            <a:pPr marL="742950" lvl="1" indent="-28575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Webinars </a:t>
            </a:r>
          </a:p>
          <a:p>
            <a:pPr marL="742950" lvl="1" indent="-28575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Comparison Articles</a:t>
            </a:r>
          </a:p>
        </p:txBody>
      </p:sp>
      <p:sp>
        <p:nvSpPr>
          <p:cNvPr id="10" name="Thought Bubble: Cloud 9">
            <a:extLst>
              <a:ext uri="{FF2B5EF4-FFF2-40B4-BE49-F238E27FC236}">
                <a16:creationId xmlns:a16="http://schemas.microsoft.com/office/drawing/2014/main" id="{42E75DE1-6CBD-61F5-24F0-6D512C2617BE}"/>
              </a:ext>
            </a:extLst>
          </p:cNvPr>
          <p:cNvSpPr/>
          <p:nvPr/>
        </p:nvSpPr>
        <p:spPr>
          <a:xfrm>
            <a:off x="6248401" y="995080"/>
            <a:ext cx="4966446" cy="4329954"/>
          </a:xfrm>
          <a:prstGeom prst="cloudCallout">
            <a:avLst>
              <a:gd name="adj1" fmla="val -50701"/>
              <a:gd name="adj2" fmla="val 62914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Target Audience</a:t>
            </a:r>
          </a:p>
          <a:p>
            <a:pPr marL="285750" indent="-285750">
              <a:lnSpc>
                <a:spcPct val="200000"/>
              </a:lnSpc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Small Businesses </a:t>
            </a:r>
          </a:p>
          <a:p>
            <a:pPr marL="285750" indent="-285750">
              <a:lnSpc>
                <a:spcPct val="200000"/>
              </a:lnSpc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Startups </a:t>
            </a:r>
          </a:p>
          <a:p>
            <a:pPr marL="285750" indent="-285750">
              <a:lnSpc>
                <a:spcPct val="200000"/>
              </a:lnSpc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Sales Teams </a:t>
            </a:r>
          </a:p>
          <a:p>
            <a:pPr marL="285750" indent="-285750">
              <a:lnSpc>
                <a:spcPct val="200000"/>
              </a:lnSpc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Finance Professionals</a:t>
            </a:r>
          </a:p>
        </p:txBody>
      </p:sp>
    </p:spTree>
    <p:extLst>
      <p:ext uri="{BB962C8B-B14F-4D97-AF65-F5344CB8AC3E}">
        <p14:creationId xmlns:p14="http://schemas.microsoft.com/office/powerpoint/2010/main" val="508244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E19483-926B-E8D2-49D9-4EE9E7398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5B54A4-F879-CD87-10E4-AE116398D5D6}"/>
              </a:ext>
            </a:extLst>
          </p:cNvPr>
          <p:cNvSpPr txBox="1"/>
          <p:nvPr/>
        </p:nvSpPr>
        <p:spPr>
          <a:xfrm>
            <a:off x="2247900" y="174050"/>
            <a:ext cx="807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Georgia" panose="02040502050405020303" pitchFamily="18" charset="0"/>
              </a:rPr>
              <a:t>SEO Strategy &amp; Recommendations</a:t>
            </a:r>
          </a:p>
        </p:txBody>
      </p:sp>
      <p:sp>
        <p:nvSpPr>
          <p:cNvPr id="6" name="Arrow: Up-Down 5">
            <a:extLst>
              <a:ext uri="{FF2B5EF4-FFF2-40B4-BE49-F238E27FC236}">
                <a16:creationId xmlns:a16="http://schemas.microsoft.com/office/drawing/2014/main" id="{874A3CC2-77DE-580B-DED8-15AF23508542}"/>
              </a:ext>
            </a:extLst>
          </p:cNvPr>
          <p:cNvSpPr/>
          <p:nvPr/>
        </p:nvSpPr>
        <p:spPr>
          <a:xfrm>
            <a:off x="233080" y="1506067"/>
            <a:ext cx="2931460" cy="4267199"/>
          </a:xfrm>
          <a:prstGeom prst="upDownArrow">
            <a:avLst>
              <a:gd name="adj1" fmla="val 83333"/>
              <a:gd name="adj2" fmla="val 25449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IN" sz="1600" b="1" dirty="0">
                <a:solidFill>
                  <a:srgbClr val="002060"/>
                </a:solidFill>
                <a:latin typeface="Georgia" panose="02040502050405020303" pitchFamily="18" charset="0"/>
              </a:rPr>
              <a:t>Technical</a:t>
            </a:r>
          </a:p>
          <a:p>
            <a:pPr marL="285750" indent="-28575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Compress Images </a:t>
            </a:r>
          </a:p>
          <a:p>
            <a:pPr marL="285750" indent="-28575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Reduce JS </a:t>
            </a:r>
          </a:p>
          <a:p>
            <a:pPr marL="285750" indent="-28575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Improve Core Web Vitals</a:t>
            </a:r>
          </a:p>
        </p:txBody>
      </p:sp>
      <p:sp>
        <p:nvSpPr>
          <p:cNvPr id="7" name="Arrow: Up-Down 6">
            <a:extLst>
              <a:ext uri="{FF2B5EF4-FFF2-40B4-BE49-F238E27FC236}">
                <a16:creationId xmlns:a16="http://schemas.microsoft.com/office/drawing/2014/main" id="{427C58C3-7F1A-3F67-E834-52121F6A7618}"/>
              </a:ext>
            </a:extLst>
          </p:cNvPr>
          <p:cNvSpPr/>
          <p:nvPr/>
        </p:nvSpPr>
        <p:spPr>
          <a:xfrm>
            <a:off x="3164540" y="959222"/>
            <a:ext cx="2931460" cy="4267199"/>
          </a:xfrm>
          <a:prstGeom prst="upDownArrow">
            <a:avLst>
              <a:gd name="adj1" fmla="val 83333"/>
              <a:gd name="adj2" fmla="val 25449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250000"/>
              </a:lnSpc>
            </a:pPr>
            <a:r>
              <a:rPr lang="en-IN" b="1" dirty="0">
                <a:solidFill>
                  <a:srgbClr val="002060"/>
                </a:solidFill>
                <a:latin typeface="Georgia" panose="02040502050405020303" pitchFamily="18" charset="0"/>
              </a:rPr>
              <a:t>On-Page</a:t>
            </a:r>
          </a:p>
          <a:p>
            <a:pPr marL="285750" indent="-285750">
              <a:lnSpc>
                <a:spcPct val="250000"/>
              </a:lnSpc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Improve Meta Tags </a:t>
            </a:r>
          </a:p>
          <a:p>
            <a:pPr marL="285750" indent="-285750">
              <a:lnSpc>
                <a:spcPct val="250000"/>
              </a:lnSpc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Better Internal Links</a:t>
            </a:r>
          </a:p>
        </p:txBody>
      </p:sp>
      <p:sp>
        <p:nvSpPr>
          <p:cNvPr id="8" name="Arrow: Up-Down 7">
            <a:extLst>
              <a:ext uri="{FF2B5EF4-FFF2-40B4-BE49-F238E27FC236}">
                <a16:creationId xmlns:a16="http://schemas.microsoft.com/office/drawing/2014/main" id="{CE9AD4BF-D9AF-B097-89A4-1FB2CB640DC7}"/>
              </a:ext>
            </a:extLst>
          </p:cNvPr>
          <p:cNvSpPr/>
          <p:nvPr/>
        </p:nvSpPr>
        <p:spPr>
          <a:xfrm>
            <a:off x="6035487" y="1506067"/>
            <a:ext cx="2931460" cy="4267199"/>
          </a:xfrm>
          <a:prstGeom prst="upDownArrow">
            <a:avLst>
              <a:gd name="adj1" fmla="val 83333"/>
              <a:gd name="adj2" fmla="val 25449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Off-Page</a:t>
            </a:r>
          </a:p>
          <a:p>
            <a:pPr marL="285750" indent="-285750">
              <a:lnSpc>
                <a:spcPct val="2000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Backlinks </a:t>
            </a:r>
          </a:p>
          <a:p>
            <a:pPr marL="285750" indent="-285750">
              <a:lnSpc>
                <a:spcPct val="2000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Guest Posting </a:t>
            </a:r>
          </a:p>
          <a:p>
            <a:pPr marL="285750" indent="-285750">
              <a:lnSpc>
                <a:spcPct val="2000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Social Media</a:t>
            </a:r>
          </a:p>
        </p:txBody>
      </p:sp>
      <p:sp>
        <p:nvSpPr>
          <p:cNvPr id="9" name="Arrow: Up-Down 8">
            <a:extLst>
              <a:ext uri="{FF2B5EF4-FFF2-40B4-BE49-F238E27FC236}">
                <a16:creationId xmlns:a16="http://schemas.microsoft.com/office/drawing/2014/main" id="{94314CF8-7398-5F24-E998-5D7CEED612F0}"/>
              </a:ext>
            </a:extLst>
          </p:cNvPr>
          <p:cNvSpPr/>
          <p:nvPr/>
        </p:nvSpPr>
        <p:spPr>
          <a:xfrm>
            <a:off x="8966947" y="959223"/>
            <a:ext cx="2931460" cy="4267199"/>
          </a:xfrm>
          <a:prstGeom prst="upDownArrow">
            <a:avLst>
              <a:gd name="adj1" fmla="val 83333"/>
              <a:gd name="adj2" fmla="val 25449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250000"/>
              </a:lnSpc>
            </a:pPr>
            <a:r>
              <a:rPr lang="en-IN" b="1" dirty="0">
                <a:solidFill>
                  <a:srgbClr val="002060"/>
                </a:solidFill>
                <a:latin typeface="Georgia" panose="02040502050405020303" pitchFamily="18" charset="0"/>
              </a:rPr>
              <a:t>Content</a:t>
            </a:r>
          </a:p>
          <a:p>
            <a:pPr marL="285750" indent="-285750">
              <a:lnSpc>
                <a:spcPct val="200000"/>
              </a:lnSpc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</a:pPr>
            <a:r>
              <a:rPr lang="en-IN" sz="17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Long-tail Keywords </a:t>
            </a:r>
          </a:p>
          <a:p>
            <a:pPr marL="285750" indent="-285750">
              <a:lnSpc>
                <a:spcPct val="200000"/>
              </a:lnSpc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</a:pPr>
            <a:r>
              <a:rPr lang="en-IN" sz="17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Product Comparisons </a:t>
            </a:r>
          </a:p>
          <a:p>
            <a:pPr marL="285750" indent="-285750">
              <a:lnSpc>
                <a:spcPct val="200000"/>
              </a:lnSpc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</a:pPr>
            <a:r>
              <a:rPr lang="en-IN" sz="17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Tutorials</a:t>
            </a:r>
          </a:p>
        </p:txBody>
      </p:sp>
    </p:spTree>
    <p:extLst>
      <p:ext uri="{BB962C8B-B14F-4D97-AF65-F5344CB8AC3E}">
        <p14:creationId xmlns:p14="http://schemas.microsoft.com/office/powerpoint/2010/main" val="2707184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C929C-E36D-C5BA-A746-8E7A910DB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A3DA43-8D77-8CE8-5B88-566844FFE240}"/>
              </a:ext>
            </a:extLst>
          </p:cNvPr>
          <p:cNvSpPr txBox="1"/>
          <p:nvPr/>
        </p:nvSpPr>
        <p:spPr>
          <a:xfrm>
            <a:off x="3048000" y="196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Conclusion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BCC95-F088-51A9-5A0D-163F60A00D7E}"/>
              </a:ext>
            </a:extLst>
          </p:cNvPr>
          <p:cNvSpPr txBox="1"/>
          <p:nvPr/>
        </p:nvSpPr>
        <p:spPr>
          <a:xfrm>
            <a:off x="1695449" y="1037531"/>
            <a:ext cx="9305926" cy="4306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2000" b="1" dirty="0">
                <a:solidFill>
                  <a:srgbClr val="002060"/>
                </a:solidFill>
                <a:latin typeface="Georgia" panose="02040502050405020303" pitchFamily="18" charset="0"/>
              </a:rPr>
              <a:t>Key Takeaways</a:t>
            </a:r>
          </a:p>
          <a:p>
            <a:pPr marL="800100" lvl="1" indent="-34290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Strong SEO foundation </a:t>
            </a:r>
          </a:p>
          <a:p>
            <a:pPr marL="800100" lvl="1" indent="-34290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Excellent accessibility </a:t>
            </a:r>
          </a:p>
          <a:p>
            <a:pPr marL="800100" lvl="1" indent="-34290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Good website architecture </a:t>
            </a:r>
          </a:p>
          <a:p>
            <a:pPr marL="800100" lvl="1" indent="-34290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Opportunities to improve mobile performance </a:t>
            </a:r>
          </a:p>
          <a:p>
            <a:pPr marL="800100" lvl="1" indent="-34290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Effective keyword and content strategy </a:t>
            </a:r>
          </a:p>
          <a:p>
            <a:pPr marL="800100" lvl="1" indent="-34290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Continuous SEO optimization will improve rankings and organic traffic</a:t>
            </a:r>
          </a:p>
        </p:txBody>
      </p:sp>
    </p:spTree>
    <p:extLst>
      <p:ext uri="{BB962C8B-B14F-4D97-AF65-F5344CB8AC3E}">
        <p14:creationId xmlns:p14="http://schemas.microsoft.com/office/powerpoint/2010/main" val="211726078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{F4D6C009-7358-4889-8EA5-DCA0A95C791B}TFf0a5ceae-4542-492d-822e-d65a94fb0e1e3b562c5a_win32-009a0557e699</Template>
  <TotalTime>125</TotalTime>
  <Words>407</Words>
  <Application>Microsoft Office PowerPoint</Application>
  <PresentationFormat>Widescreen</PresentationFormat>
  <Paragraphs>193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Bookman Old Style</vt:lpstr>
      <vt:lpstr>Calibri</vt:lpstr>
      <vt:lpstr>Franklin Gothic Book</vt:lpstr>
      <vt:lpstr>Georgia</vt:lpstr>
      <vt:lpstr>Wingdings</vt:lpstr>
      <vt:lpstr>Custom</vt:lpstr>
      <vt:lpstr>SEO Navigator: From Audit to Action</vt:lpstr>
      <vt:lpstr> </vt:lpstr>
      <vt:lpstr>PowerPoint Presentation</vt:lpstr>
      <vt:lpstr> </vt:lpstr>
      <vt:lpstr> 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Jayendran SUBRAMANIAN</dc:creator>
  <cp:lastModifiedBy>Jayendran SUBRAMANIAN</cp:lastModifiedBy>
  <cp:revision>7</cp:revision>
  <dcterms:created xsi:type="dcterms:W3CDTF">2026-07-19T19:25:23Z</dcterms:created>
  <dcterms:modified xsi:type="dcterms:W3CDTF">2026-07-19T21:34:22Z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