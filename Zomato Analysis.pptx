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28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83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26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50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2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14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61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31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54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4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271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006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85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774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49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59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346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F5C8FE6-5CDF-4BBA-B09C-FFD878577AE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673D46-F58B-4104-8156-F4FDC0CFD3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51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7E7B-E48A-349D-6B7E-106214896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600" b="1" dirty="0"/>
              <a:t>ZOMATO RESTAURANT &amp; ORDER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EDAFF-9390-9BFB-E315-10324B2C9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Using MySQL Workbench 8.0 </a:t>
            </a:r>
          </a:p>
          <a:p>
            <a:r>
              <a:rPr lang="en-US" b="1" dirty="0"/>
              <a:t> Microsoft Power BI </a:t>
            </a:r>
          </a:p>
          <a:p>
            <a:endParaRPr lang="en-US" b="1" dirty="0"/>
          </a:p>
          <a:p>
            <a:r>
              <a:rPr lang="en-IN" dirty="0"/>
              <a:t>BY</a:t>
            </a:r>
          </a:p>
          <a:p>
            <a:r>
              <a:rPr lang="en-IN" dirty="0"/>
              <a:t>T. KAVITHA JAYENDRAN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73CE5-203B-B5B8-63F8-C6A5A04479A1}"/>
              </a:ext>
            </a:extLst>
          </p:cNvPr>
          <p:cNvSpPr txBox="1"/>
          <p:nvPr/>
        </p:nvSpPr>
        <p:spPr>
          <a:xfrm>
            <a:off x="8997884" y="6292391"/>
            <a:ext cx="2870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GUVI Capstone Project 2026</a:t>
            </a:r>
          </a:p>
        </p:txBody>
      </p:sp>
    </p:spTree>
    <p:extLst>
      <p:ext uri="{BB962C8B-B14F-4D97-AF65-F5344CB8AC3E}">
        <p14:creationId xmlns:p14="http://schemas.microsoft.com/office/powerpoint/2010/main" val="185655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32C9-C677-137E-427C-EE950DBBF5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2169" y="975510"/>
            <a:ext cx="9593262" cy="1392237"/>
          </a:xfrm>
        </p:spPr>
        <p:txBody>
          <a:bodyPr>
            <a:normAutofit fontScale="90000"/>
          </a:bodyPr>
          <a:lstStyle/>
          <a:p>
            <a:r>
              <a:rPr lang="en-IN" sz="3600" b="1" u="sng" dirty="0">
                <a:solidFill>
                  <a:srgbClr val="C00000"/>
                </a:solidFill>
              </a:rPr>
              <a:t>PROJECT OVERVIEW</a:t>
            </a:r>
            <a:br>
              <a:rPr lang="en-IN" dirty="0"/>
            </a:br>
            <a:r>
              <a:rPr lang="en-US" sz="2800" dirty="0"/>
              <a:t>Analyzes Zomato restaurant and order data using MySQL and Power BI to generate business insights.</a:t>
            </a:r>
            <a:endParaRPr lang="en-IN" sz="27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6206D-C2A3-CD47-0A87-436B536E2DA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08288" y="2516956"/>
            <a:ext cx="8227849" cy="335838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sz="3500" b="1" u="sng" dirty="0">
                <a:solidFill>
                  <a:srgbClr val="C00000"/>
                </a:solidFill>
              </a:rPr>
              <a:t>Objectives</a:t>
            </a:r>
          </a:p>
          <a:p>
            <a:pPr marL="0" indent="0" algn="l">
              <a:buNone/>
            </a:pPr>
            <a:r>
              <a:rPr lang="en-IN" dirty="0"/>
              <a:t>📥 Import datasets into MySQL</a:t>
            </a:r>
          </a:p>
          <a:p>
            <a:pPr marL="0" indent="0" algn="l">
              <a:buNone/>
            </a:pPr>
            <a:r>
              <a:rPr lang="en-IN" dirty="0"/>
              <a:t>✔ Validate duplicate &amp; NULL values</a:t>
            </a:r>
          </a:p>
          <a:p>
            <a:pPr marL="0" indent="0" algn="l">
              <a:buNone/>
            </a:pPr>
            <a:r>
              <a:rPr lang="en-IN" dirty="0"/>
              <a:t>🗄 Perform SQL analysis</a:t>
            </a:r>
          </a:p>
          <a:p>
            <a:pPr marL="0" indent="0" algn="l">
              <a:buNone/>
            </a:pPr>
            <a:r>
              <a:rPr lang="en-IN" dirty="0"/>
              <a:t>📈 </a:t>
            </a:r>
            <a:r>
              <a:rPr lang="en-IN" dirty="0" err="1"/>
              <a:t>Analyze</a:t>
            </a:r>
            <a:r>
              <a:rPr lang="en-IN" dirty="0"/>
              <a:t> customer ordering trends</a:t>
            </a:r>
          </a:p>
          <a:p>
            <a:pPr marL="0" indent="0" algn="l">
              <a:buNone/>
            </a:pPr>
            <a:r>
              <a:rPr lang="en-IN" dirty="0"/>
              <a:t>📊 Build an interactive Power BI dashboard</a:t>
            </a:r>
          </a:p>
          <a:p>
            <a:pPr marL="0" indent="0" algn="l">
              <a:buNone/>
            </a:pPr>
            <a:r>
              <a:rPr lang="en-IN" dirty="0"/>
              <a:t>💡 Generate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1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1FC28F-9288-4F22-BE98-A547033D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45" r="26180"/>
          <a:stretch>
            <a:fillRect/>
          </a:stretch>
        </p:blipFill>
        <p:spPr>
          <a:xfrm>
            <a:off x="8170606" y="1410816"/>
            <a:ext cx="3226399" cy="47544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C5A157-A700-AAF0-2899-39AA21337B08}"/>
              </a:ext>
            </a:extLst>
          </p:cNvPr>
          <p:cNvSpPr txBox="1"/>
          <p:nvPr/>
        </p:nvSpPr>
        <p:spPr>
          <a:xfrm>
            <a:off x="1116290" y="833427"/>
            <a:ext cx="9959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C00000"/>
                </a:solidFill>
              </a:rPr>
              <a:t>Project Description &amp; Database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44F2B-0FB1-56AA-8151-19962842852E}"/>
              </a:ext>
            </a:extLst>
          </p:cNvPr>
          <p:cNvSpPr txBox="1"/>
          <p:nvPr/>
        </p:nvSpPr>
        <p:spPr>
          <a:xfrm>
            <a:off x="919113" y="1545995"/>
            <a:ext cx="7131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project uses </a:t>
            </a:r>
            <a:r>
              <a:rPr lang="en-US" sz="2400" dirty="0">
                <a:solidFill>
                  <a:srgbClr val="C00000"/>
                </a:solidFill>
              </a:rPr>
              <a:t>MySQL</a:t>
            </a:r>
            <a:r>
              <a:rPr lang="en-US" sz="2400" dirty="0"/>
              <a:t> to store and analyze Zomato restaurant and order data. </a:t>
            </a:r>
            <a:r>
              <a:rPr lang="en-US" sz="2400" dirty="0">
                <a:solidFill>
                  <a:srgbClr val="C00000"/>
                </a:solidFill>
              </a:rPr>
              <a:t>SQL analysis </a:t>
            </a:r>
            <a:r>
              <a:rPr lang="en-US" sz="2400" dirty="0"/>
              <a:t>is performed to generate insights, which are visualized using Po</a:t>
            </a:r>
            <a:r>
              <a:rPr lang="en-US" sz="2400" dirty="0">
                <a:solidFill>
                  <a:srgbClr val="C00000"/>
                </a:solidFill>
              </a:rPr>
              <a:t>wer BI</a:t>
            </a:r>
            <a:r>
              <a:rPr lang="en-US" sz="2400" dirty="0"/>
              <a:t>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BC484EB-9D67-540F-5A78-00420B3B7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69559"/>
              </p:ext>
            </p:extLst>
          </p:nvPr>
        </p:nvGraphicFramePr>
        <p:xfrm>
          <a:off x="919113" y="2874117"/>
          <a:ext cx="7131378" cy="2249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689">
                  <a:extLst>
                    <a:ext uri="{9D8B030D-6E8A-4147-A177-3AD203B41FA5}">
                      <a16:colId xmlns:a16="http://schemas.microsoft.com/office/drawing/2014/main" val="2056110803"/>
                    </a:ext>
                  </a:extLst>
                </a:gridCol>
                <a:gridCol w="3565689">
                  <a:extLst>
                    <a:ext uri="{9D8B030D-6E8A-4147-A177-3AD203B41FA5}">
                      <a16:colId xmlns:a16="http://schemas.microsoft.com/office/drawing/2014/main" val="1505983978"/>
                    </a:ext>
                  </a:extLst>
                </a:gridCol>
              </a:tblGrid>
              <a:tr h="4209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40930"/>
                  </a:ext>
                </a:extLst>
              </a:tr>
              <a:tr h="75621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Zomato Restaurants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restaurant details such as name, city, cuisine, rating, and price range.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5811"/>
                  </a:ext>
                </a:extLst>
              </a:tr>
              <a:tr h="75621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Zomato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order details including date, cost, payment method, and customer rating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7415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3D40F22-22B5-3FBA-D42C-DC49E8CE29B2}"/>
              </a:ext>
            </a:extLst>
          </p:cNvPr>
          <p:cNvSpPr txBox="1"/>
          <p:nvPr/>
        </p:nvSpPr>
        <p:spPr>
          <a:xfrm>
            <a:off x="794994" y="5433921"/>
            <a:ext cx="7255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Relationship:</a:t>
            </a:r>
            <a:r>
              <a:rPr lang="en-US" sz="1400" dirty="0"/>
              <a:t> One Restaurant can have Multiple Orders (One-to-Many relationship using </a:t>
            </a:r>
            <a:r>
              <a:rPr lang="en-US" sz="1400" b="1" dirty="0" err="1"/>
              <a:t>restaurant_id</a:t>
            </a:r>
            <a:r>
              <a:rPr lang="en-US" sz="1400" dirty="0"/>
              <a:t>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4607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20B92-C0DF-247F-CB6B-D665A39A2E27}"/>
              </a:ext>
            </a:extLst>
          </p:cNvPr>
          <p:cNvSpPr txBox="1"/>
          <p:nvPr/>
        </p:nvSpPr>
        <p:spPr>
          <a:xfrm>
            <a:off x="3037002" y="833428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Data Import &amp;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D6972-A5EA-87FD-8558-610FE1BFD257}"/>
              </a:ext>
            </a:extLst>
          </p:cNvPr>
          <p:cNvSpPr txBox="1"/>
          <p:nvPr/>
        </p:nvSpPr>
        <p:spPr>
          <a:xfrm>
            <a:off x="985100" y="1569564"/>
            <a:ext cx="4886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Data Import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Imported restaurant and order datasets into MySQL.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Loaded both CSV files into separate tables.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successful import.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9C914-1377-A699-5691-5D2BCE9FC51C}"/>
              </a:ext>
            </a:extLst>
          </p:cNvPr>
          <p:cNvSpPr txBox="1"/>
          <p:nvPr/>
        </p:nvSpPr>
        <p:spPr>
          <a:xfrm>
            <a:off x="985100" y="3776997"/>
            <a:ext cx="46867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Data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for NULL values.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duplicate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data types.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Ensured referential integrity.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B9A35-0C86-2DDE-064D-FA06C7E2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751" y="1317266"/>
            <a:ext cx="4686706" cy="701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3C4FEE-20F9-1FE8-D42C-9C64CC30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233" y="1968176"/>
            <a:ext cx="4625741" cy="5486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479DC9-5278-AB6A-853B-E32EBA5E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03" y="2496350"/>
            <a:ext cx="4503810" cy="701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F90628-F8A1-A8FA-4216-6AD72F633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716" y="3222390"/>
            <a:ext cx="4686707" cy="701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D54CFD-D589-6EE2-6C03-81F0E744C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751" y="3902977"/>
            <a:ext cx="4359380" cy="11134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3B7094-6FB7-0626-5A67-CBC089CE4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715" y="5127515"/>
            <a:ext cx="4972169" cy="103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71EC3-3CF3-0E75-1DE6-F5381C28BE98}"/>
              </a:ext>
            </a:extLst>
          </p:cNvPr>
          <p:cNvSpPr txBox="1"/>
          <p:nvPr/>
        </p:nvSpPr>
        <p:spPr>
          <a:xfrm>
            <a:off x="1003955" y="1437057"/>
            <a:ext cx="4161934" cy="310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SQL Analysis &amp; Business Queries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/>
              <a:t>Include: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Total Revenue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Average Rating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Top Restaurants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Orders by City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Revenue by 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35DD0-315F-92D5-C2D6-239FDBEB4F54}"/>
              </a:ext>
            </a:extLst>
          </p:cNvPr>
          <p:cNvSpPr txBox="1"/>
          <p:nvPr/>
        </p:nvSpPr>
        <p:spPr>
          <a:xfrm>
            <a:off x="2540524" y="852282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SQL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37AD3B-EB07-4012-075A-74CA88972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03" y="1437057"/>
            <a:ext cx="6498019" cy="1108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48278-4771-B8E8-8F87-33649467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903" y="2655503"/>
            <a:ext cx="4161934" cy="1108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9D64E9-2B0E-98C9-DE91-388B59BA6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880" y="3763684"/>
            <a:ext cx="4937966" cy="11948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A70CE4-EA9A-8F94-49BE-27A39B1A3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880" y="5122039"/>
            <a:ext cx="4810621" cy="9682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D1198-0B2E-F2A4-F5C6-BE1738C90572}"/>
              </a:ext>
            </a:extLst>
          </p:cNvPr>
          <p:cNvSpPr txBox="1"/>
          <p:nvPr/>
        </p:nvSpPr>
        <p:spPr>
          <a:xfrm>
            <a:off x="1003956" y="4573836"/>
            <a:ext cx="3388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Key Outcome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SQL queries helped identify revenue trends, customer preferences, and top-performing restaurants</a:t>
            </a:r>
          </a:p>
        </p:txBody>
      </p:sp>
    </p:spTree>
    <p:extLst>
      <p:ext uri="{BB962C8B-B14F-4D97-AF65-F5344CB8AC3E}">
        <p14:creationId xmlns:p14="http://schemas.microsoft.com/office/powerpoint/2010/main" val="2766521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B5DB0-5317-CD36-E747-FF03F969020B}"/>
              </a:ext>
            </a:extLst>
          </p:cNvPr>
          <p:cNvSpPr txBox="1"/>
          <p:nvPr/>
        </p:nvSpPr>
        <p:spPr>
          <a:xfrm>
            <a:off x="3037002" y="644892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887EE-FA77-8FEF-F840-FBC742E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66" y="1229667"/>
            <a:ext cx="7899661" cy="4869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4EDF61-D7A2-77FC-F807-B8200A0CEACF}"/>
              </a:ext>
            </a:extLst>
          </p:cNvPr>
          <p:cNvSpPr txBox="1"/>
          <p:nvPr/>
        </p:nvSpPr>
        <p:spPr>
          <a:xfrm>
            <a:off x="777711" y="1474763"/>
            <a:ext cx="2531098" cy="310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Dashboard Highlights</a:t>
            </a:r>
          </a:p>
          <a:p>
            <a:pPr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KPI Cards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Revenue Analysis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Restaurant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Ratings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Payment Analysis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Interactive Filters </a:t>
            </a:r>
          </a:p>
        </p:txBody>
      </p:sp>
    </p:spTree>
    <p:extLst>
      <p:ext uri="{BB962C8B-B14F-4D97-AF65-F5344CB8AC3E}">
        <p14:creationId xmlns:p14="http://schemas.microsoft.com/office/powerpoint/2010/main" val="287976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53A40-219E-8C28-A481-EFAB4695EA42}"/>
              </a:ext>
            </a:extLst>
          </p:cNvPr>
          <p:cNvSpPr txBox="1"/>
          <p:nvPr/>
        </p:nvSpPr>
        <p:spPr>
          <a:xfrm>
            <a:off x="1428160" y="1245317"/>
            <a:ext cx="9101579" cy="432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Business Insights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dirty="0"/>
              <a:t>📈 Mumbai generated the highest revenue.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🏪 Mumbai has the highest number of restaurants (115).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💰 Total Revenue: </a:t>
            </a:r>
            <a:r>
              <a:rPr lang="en-US" sz="2000" b="1" dirty="0"/>
              <a:t>₹15.57M</a:t>
            </a:r>
            <a:r>
              <a:rPr lang="en-US" sz="2000" dirty="0"/>
              <a:t> from </a:t>
            </a:r>
            <a:r>
              <a:rPr lang="en-US" sz="2000" b="1" dirty="0"/>
              <a:t>15K orders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⭐ Average customer rating: </a:t>
            </a:r>
            <a:r>
              <a:rPr lang="en-US" sz="2000" b="1" dirty="0"/>
              <a:t>3.76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💳 Credit Card, UPI &amp; Wallet are the most preferred payment methods.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🍽️ Top 5 restaurants contribute the highest sales.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🛒 Average Order Value: </a:t>
            </a:r>
            <a:r>
              <a:rPr lang="en-US" sz="2000" b="1" dirty="0"/>
              <a:t>₹1.04K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📍 Revenue is concentrated in a few major cities.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6C31A-AAC1-9E98-0A62-ADB39BFC84EB}"/>
              </a:ext>
            </a:extLst>
          </p:cNvPr>
          <p:cNvSpPr txBox="1"/>
          <p:nvPr/>
        </p:nvSpPr>
        <p:spPr>
          <a:xfrm>
            <a:off x="2829612" y="824000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+mj-lt"/>
              </a:rPr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120841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73D2B-9E22-F312-7096-B437C28F250F}"/>
              </a:ext>
            </a:extLst>
          </p:cNvPr>
          <p:cNvSpPr txBox="1"/>
          <p:nvPr/>
        </p:nvSpPr>
        <p:spPr>
          <a:xfrm>
            <a:off x="1305611" y="1560756"/>
            <a:ext cx="9318397" cy="369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C00000"/>
                </a:solidFill>
              </a:rPr>
              <a:t>Recommendations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🚀 Expand in high-revenue cities (Mumbai &amp; Bangalore).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📢 Increase promotions in Delhi, Kolkata &amp; Chennai.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⭐ Improve service quality to increase customer ratings.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⚡ Reduce delivery time for better customer satisfaction.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🎁 Introduce loyalty programs and special offers.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💳 Continue supporting multiple digital payment options.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📊 Use the dashboard for regular business monitoring.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89CC3-33AF-DB7C-2F13-F6C11CA67C04}"/>
              </a:ext>
            </a:extLst>
          </p:cNvPr>
          <p:cNvSpPr txBox="1"/>
          <p:nvPr/>
        </p:nvSpPr>
        <p:spPr>
          <a:xfrm>
            <a:off x="2525597" y="739161"/>
            <a:ext cx="7140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1226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33CB7-59C0-A343-3428-90D132676E31}"/>
              </a:ext>
            </a:extLst>
          </p:cNvPr>
          <p:cNvSpPr txBox="1"/>
          <p:nvPr/>
        </p:nvSpPr>
        <p:spPr>
          <a:xfrm>
            <a:off x="2782479" y="814575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CONCLUSION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5B885-E54F-B97B-00D3-B45258EC34D5}"/>
              </a:ext>
            </a:extLst>
          </p:cNvPr>
          <p:cNvSpPr txBox="1"/>
          <p:nvPr/>
        </p:nvSpPr>
        <p:spPr>
          <a:xfrm>
            <a:off x="1494149" y="1978880"/>
            <a:ext cx="8149472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Successfully analyzed restaurant and order data using MySQL.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Built an interactive Power BI dashboard.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Identified customer behavior and revenue trends.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Dashboard enables data-driven decision-making.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Insights can help improve restaurant performance and customer satisfaction. </a:t>
            </a:r>
          </a:p>
        </p:txBody>
      </p:sp>
    </p:spTree>
    <p:extLst>
      <p:ext uri="{BB962C8B-B14F-4D97-AF65-F5344CB8AC3E}">
        <p14:creationId xmlns:p14="http://schemas.microsoft.com/office/powerpoint/2010/main" val="2993056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647</TotalTime>
  <Words>444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Garamond</vt:lpstr>
      <vt:lpstr>Wingdings</vt:lpstr>
      <vt:lpstr>Organic</vt:lpstr>
      <vt:lpstr>ZOMATO RESTAURANT &amp; ORDER ANALYSIS </vt:lpstr>
      <vt:lpstr>PROJECT OVERVIEW Analyzes Zomato restaurant and order data using MySQL and Power BI to generate business insights.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5</cp:revision>
  <dcterms:created xsi:type="dcterms:W3CDTF">2026-06-16T07:28:42Z</dcterms:created>
  <dcterms:modified xsi:type="dcterms:W3CDTF">2026-07-16T17:40:20Z</dcterms:modified>
</cp:coreProperties>
</file>